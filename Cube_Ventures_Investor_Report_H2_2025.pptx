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F3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17920"/>
            <a:ext cx="12188952" cy="6400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0" y="274320"/>
            <a:ext cx="3200400" cy="457200"/>
          </a:xfrm>
          <a:prstGeom prst="rect">
            <a:avLst/>
          </a:prstGeom>
          <a:noFill/>
        </p:spPr>
        <p:txBody>
          <a:bodyPr wrap="square">
            <a:spAutoFit/>
          </a:bodyPr>
          <a:lstStyle/>
          <a:p>
            <a:pPr algn="r"/>
            <a:r>
              <a:rPr sz="1100" b="1" i="0">
                <a:solidFill>
                  <a:srgbClr val="FFFFFF"/>
                </a:solidFill>
                <a:latin typeface="Montserrat"/>
              </a:rPr>
              <a:t>CUBE VENTURES</a:t>
            </a:r>
          </a:p>
        </p:txBody>
      </p:sp>
      <p:sp>
        <p:nvSpPr>
          <p:cNvPr id="5" name="TextBox 4"/>
          <p:cNvSpPr txBox="1"/>
          <p:nvPr/>
        </p:nvSpPr>
        <p:spPr>
          <a:xfrm>
            <a:off x="914400" y="1463040"/>
            <a:ext cx="8229600" cy="1645920"/>
          </a:xfrm>
          <a:prstGeom prst="rect">
            <a:avLst/>
          </a:prstGeom>
          <a:noFill/>
        </p:spPr>
        <p:txBody>
          <a:bodyPr wrap="square">
            <a:spAutoFit/>
          </a:bodyPr>
          <a:lstStyle/>
          <a:p>
            <a:pPr algn="l"/>
            <a:r>
              <a:rPr sz="5200" b="1" i="0">
                <a:solidFill>
                  <a:srgbClr val="FFFFFF"/>
                </a:solidFill>
                <a:latin typeface="Montserrat"/>
              </a:rPr>
              <a:t>REPORTE DE
INVERSIONISTAS</a:t>
            </a:r>
          </a:p>
        </p:txBody>
      </p:sp>
      <p:sp>
        <p:nvSpPr>
          <p:cNvPr id="6" name="TextBox 5"/>
          <p:cNvSpPr txBox="1"/>
          <p:nvPr/>
        </p:nvSpPr>
        <p:spPr>
          <a:xfrm>
            <a:off x="914400" y="3291840"/>
            <a:ext cx="8229600" cy="457200"/>
          </a:xfrm>
          <a:prstGeom prst="rect">
            <a:avLst/>
          </a:prstGeom>
          <a:noFill/>
        </p:spPr>
        <p:txBody>
          <a:bodyPr wrap="square">
            <a:spAutoFit/>
          </a:bodyPr>
          <a:lstStyle/>
          <a:p>
            <a:pPr algn="l"/>
            <a:r>
              <a:rPr sz="1800" b="0" i="0">
                <a:solidFill>
                  <a:srgbClr val="00B38A"/>
                </a:solidFill>
                <a:latin typeface="Montserrat"/>
              </a:rPr>
              <a:t>SEGUNDO SEMESTRE 2025</a:t>
            </a:r>
          </a:p>
        </p:txBody>
      </p:sp>
      <p:cxnSp>
        <p:nvCxnSpPr>
          <p:cNvPr id="7" name="Connector 6"/>
          <p:cNvCxnSpPr/>
          <p:nvPr/>
        </p:nvCxnSpPr>
        <p:spPr>
          <a:xfrm>
            <a:off x="914400" y="3858768"/>
            <a:ext cx="7315200" cy="0"/>
          </a:xfrm>
          <a:prstGeom prst="line">
            <a:avLst/>
          </a:prstGeom>
          <a:ln w="19050">
            <a:solidFill>
              <a:srgbClr val="00B38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3977639"/>
            <a:ext cx="10058400" cy="365760"/>
          </a:xfrm>
          <a:prstGeom prst="rect">
            <a:avLst/>
          </a:prstGeom>
          <a:noFill/>
        </p:spPr>
        <p:txBody>
          <a:bodyPr wrap="square">
            <a:spAutoFit/>
          </a:bodyPr>
          <a:lstStyle/>
          <a:p>
            <a:pPr algn="l"/>
            <a:r>
              <a:rPr sz="1000" b="0" i="0">
                <a:solidFill>
                  <a:srgbClr val="A0AABB"/>
                </a:solidFill>
                <a:latin typeface="Montserrat"/>
              </a:rPr>
              <a:t>Portafolio activo · Valoración potencial 2026 · Primer Exit · Estrategia de liquidez</a:t>
            </a:r>
          </a:p>
        </p:txBody>
      </p:sp>
      <p:sp>
        <p:nvSpPr>
          <p:cNvPr id="9" name="TextBox 8"/>
          <p:cNvSpPr txBox="1"/>
          <p:nvPr/>
        </p:nvSpPr>
        <p:spPr>
          <a:xfrm>
            <a:off x="914400" y="4663440"/>
            <a:ext cx="3657600" cy="320040"/>
          </a:xfrm>
          <a:prstGeom prst="rect">
            <a:avLst/>
          </a:prstGeom>
          <a:noFill/>
        </p:spPr>
        <p:txBody>
          <a:bodyPr wrap="square">
            <a:spAutoFit/>
          </a:bodyPr>
          <a:lstStyle/>
          <a:p>
            <a:pPr algn="l"/>
            <a:r>
              <a:rPr sz="1200" b="0" i="0">
                <a:solidFill>
                  <a:srgbClr val="FFFFFF"/>
                </a:solidFill>
                <a:latin typeface="Montserrat"/>
              </a:rPr>
              <a:t>Mayo 2026</a:t>
            </a:r>
          </a:p>
        </p:txBody>
      </p:sp>
      <p:sp>
        <p:nvSpPr>
          <p:cNvPr id="10" name="TextBox 9"/>
          <p:cNvSpPr txBox="1"/>
          <p:nvPr/>
        </p:nvSpPr>
        <p:spPr>
          <a:xfrm>
            <a:off x="7772400" y="4663440"/>
            <a:ext cx="4114800" cy="320040"/>
          </a:xfrm>
          <a:prstGeom prst="rect">
            <a:avLst/>
          </a:prstGeom>
          <a:noFill/>
        </p:spPr>
        <p:txBody>
          <a:bodyPr wrap="square">
            <a:spAutoFit/>
          </a:bodyPr>
          <a:lstStyle/>
          <a:p>
            <a:pPr algn="r"/>
            <a:r>
              <a:rPr sz="1100" b="1" i="0">
                <a:solidFill>
                  <a:srgbClr val="F5A623"/>
                </a:solidFill>
                <a:latin typeface="Montserrat"/>
              </a:rPr>
              <a:t>CONFIDENCIAL</a:t>
            </a:r>
          </a:p>
        </p:txBody>
      </p:sp>
      <p:sp>
        <p:nvSpPr>
          <p:cNvPr id="11" name="TextBox 10"/>
          <p:cNvSpPr txBox="1"/>
          <p:nvPr/>
        </p:nvSpPr>
        <p:spPr>
          <a:xfrm>
            <a:off x="457200" y="6291072"/>
            <a:ext cx="11274552" cy="365760"/>
          </a:xfrm>
          <a:prstGeom prst="rect">
            <a:avLst/>
          </a:prstGeom>
          <a:noFill/>
        </p:spPr>
        <p:txBody>
          <a:bodyPr wrap="square">
            <a:spAutoFit/>
          </a:bodyPr>
          <a:lstStyle/>
          <a:p>
            <a:pPr algn="ctr"/>
            <a:r>
              <a:rPr sz="900" b="0" i="0">
                <a:solidFill>
                  <a:srgbClr val="0D1F3C"/>
                </a:solidFill>
                <a:latin typeface="Montserrat"/>
              </a:rPr>
              <a:t>Meridian 75  ·  Exit Accelerator  ·  Cube Academy  ·  Aceleradora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640080"/>
          </a:xfrm>
          <a:prstGeom prst="rect">
            <a:avLst/>
          </a:prstGeom>
          <a:noFill/>
        </p:spPr>
        <p:txBody>
          <a:bodyPr wrap="square">
            <a:spAutoFit/>
          </a:bodyPr>
          <a:lstStyle/>
          <a:p>
            <a:pPr algn="l"/>
            <a:r>
              <a:rPr sz="2800" b="1" i="0">
                <a:solidFill>
                  <a:srgbClr val="FFFFFF"/>
                </a:solidFill>
                <a:latin typeface="Montserrat"/>
              </a:rPr>
              <a:t>Agenda</a:t>
            </a:r>
          </a:p>
        </p:txBody>
      </p:sp>
      <p:sp>
        <p:nvSpPr>
          <p:cNvPr id="4" name="Rectangle 3"/>
          <p:cNvSpPr/>
          <p:nvPr/>
        </p:nvSpPr>
        <p:spPr>
          <a:xfrm>
            <a:off x="457200" y="1234440"/>
            <a:ext cx="5577840" cy="10972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34440"/>
            <a:ext cx="502920" cy="109728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1508760"/>
            <a:ext cx="502920" cy="502920"/>
          </a:xfrm>
          <a:prstGeom prst="rect">
            <a:avLst/>
          </a:prstGeom>
          <a:noFill/>
        </p:spPr>
        <p:txBody>
          <a:bodyPr wrap="square">
            <a:spAutoFit/>
          </a:bodyPr>
          <a:lstStyle/>
          <a:p>
            <a:pPr algn="ctr"/>
            <a:r>
              <a:rPr sz="1600" b="1" i="0">
                <a:solidFill>
                  <a:srgbClr val="FFFFFF"/>
                </a:solidFill>
                <a:latin typeface="Montserrat"/>
              </a:rPr>
              <a:t>01</a:t>
            </a:r>
          </a:p>
        </p:txBody>
      </p:sp>
      <p:sp>
        <p:nvSpPr>
          <p:cNvPr id="7" name="TextBox 6"/>
          <p:cNvSpPr txBox="1"/>
          <p:nvPr/>
        </p:nvSpPr>
        <p:spPr>
          <a:xfrm>
            <a:off x="1051560" y="1490472"/>
            <a:ext cx="4846320" cy="594360"/>
          </a:xfrm>
          <a:prstGeom prst="rect">
            <a:avLst/>
          </a:prstGeom>
          <a:noFill/>
        </p:spPr>
        <p:txBody>
          <a:bodyPr wrap="square">
            <a:spAutoFit/>
          </a:bodyPr>
          <a:lstStyle/>
          <a:p>
            <a:pPr algn="l"/>
            <a:r>
              <a:rPr sz="1200" b="0" i="0">
                <a:solidFill>
                  <a:srgbClr val="1A2844"/>
                </a:solidFill>
                <a:latin typeface="Montserrat"/>
              </a:rPr>
              <a:t>Contexto Global de Venture Capital 2025</a:t>
            </a:r>
          </a:p>
        </p:txBody>
      </p:sp>
      <p:sp>
        <p:nvSpPr>
          <p:cNvPr id="8" name="Rectangle 7"/>
          <p:cNvSpPr/>
          <p:nvPr/>
        </p:nvSpPr>
        <p:spPr>
          <a:xfrm>
            <a:off x="457200" y="2560320"/>
            <a:ext cx="5577840" cy="10972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560320"/>
            <a:ext cx="502920" cy="109728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2834639"/>
            <a:ext cx="502920" cy="502920"/>
          </a:xfrm>
          <a:prstGeom prst="rect">
            <a:avLst/>
          </a:prstGeom>
          <a:noFill/>
        </p:spPr>
        <p:txBody>
          <a:bodyPr wrap="square">
            <a:spAutoFit/>
          </a:bodyPr>
          <a:lstStyle/>
          <a:p>
            <a:pPr algn="ctr"/>
            <a:r>
              <a:rPr sz="1600" b="1" i="0">
                <a:solidFill>
                  <a:srgbClr val="FFFFFF"/>
                </a:solidFill>
                <a:latin typeface="Montserrat"/>
              </a:rPr>
              <a:t>02</a:t>
            </a:r>
          </a:p>
        </p:txBody>
      </p:sp>
      <p:sp>
        <p:nvSpPr>
          <p:cNvPr id="11" name="TextBox 10"/>
          <p:cNvSpPr txBox="1"/>
          <p:nvPr/>
        </p:nvSpPr>
        <p:spPr>
          <a:xfrm>
            <a:off x="1051560" y="2816352"/>
            <a:ext cx="4846320" cy="594360"/>
          </a:xfrm>
          <a:prstGeom prst="rect">
            <a:avLst/>
          </a:prstGeom>
          <a:noFill/>
        </p:spPr>
        <p:txBody>
          <a:bodyPr wrap="square">
            <a:spAutoFit/>
          </a:bodyPr>
          <a:lstStyle/>
          <a:p>
            <a:pPr algn="l"/>
            <a:r>
              <a:rPr sz="1200" b="0" i="0">
                <a:solidFill>
                  <a:srgbClr val="1A2844"/>
                </a:solidFill>
                <a:latin typeface="Montserrat"/>
              </a:rPr>
              <a:t>Evolución y Valoración del Portafolio</a:t>
            </a:r>
          </a:p>
        </p:txBody>
      </p:sp>
      <p:sp>
        <p:nvSpPr>
          <p:cNvPr id="12" name="Rectangle 11"/>
          <p:cNvSpPr/>
          <p:nvPr/>
        </p:nvSpPr>
        <p:spPr>
          <a:xfrm>
            <a:off x="457200" y="3886200"/>
            <a:ext cx="5577840" cy="10972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886200"/>
            <a:ext cx="502920" cy="109728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4160520"/>
            <a:ext cx="502920" cy="502920"/>
          </a:xfrm>
          <a:prstGeom prst="rect">
            <a:avLst/>
          </a:prstGeom>
          <a:noFill/>
        </p:spPr>
        <p:txBody>
          <a:bodyPr wrap="square">
            <a:spAutoFit/>
          </a:bodyPr>
          <a:lstStyle/>
          <a:p>
            <a:pPr algn="ctr"/>
            <a:r>
              <a:rPr sz="1600" b="1" i="0">
                <a:solidFill>
                  <a:srgbClr val="FFFFFF"/>
                </a:solidFill>
                <a:latin typeface="Montserrat"/>
              </a:rPr>
              <a:t>03</a:t>
            </a:r>
          </a:p>
        </p:txBody>
      </p:sp>
      <p:sp>
        <p:nvSpPr>
          <p:cNvPr id="15" name="TextBox 14"/>
          <p:cNvSpPr txBox="1"/>
          <p:nvPr/>
        </p:nvSpPr>
        <p:spPr>
          <a:xfrm>
            <a:off x="1051560" y="4142232"/>
            <a:ext cx="4846320" cy="594360"/>
          </a:xfrm>
          <a:prstGeom prst="rect">
            <a:avLst/>
          </a:prstGeom>
          <a:noFill/>
        </p:spPr>
        <p:txBody>
          <a:bodyPr wrap="square">
            <a:spAutoFit/>
          </a:bodyPr>
          <a:lstStyle/>
          <a:p>
            <a:pPr algn="l"/>
            <a:r>
              <a:rPr sz="1200" b="0" i="0">
                <a:solidFill>
                  <a:srgbClr val="1A2844"/>
                </a:solidFill>
                <a:latin typeface="Montserrat"/>
              </a:rPr>
              <a:t>Primer Exit del Portafolio: Patiya</a:t>
            </a:r>
          </a:p>
        </p:txBody>
      </p:sp>
      <p:sp>
        <p:nvSpPr>
          <p:cNvPr id="16" name="Rectangle 15"/>
          <p:cNvSpPr/>
          <p:nvPr/>
        </p:nvSpPr>
        <p:spPr>
          <a:xfrm>
            <a:off x="457200" y="5212079"/>
            <a:ext cx="5577840" cy="10972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5212079"/>
            <a:ext cx="502920" cy="109728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 y="5486399"/>
            <a:ext cx="502920" cy="502920"/>
          </a:xfrm>
          <a:prstGeom prst="rect">
            <a:avLst/>
          </a:prstGeom>
          <a:noFill/>
        </p:spPr>
        <p:txBody>
          <a:bodyPr wrap="square">
            <a:spAutoFit/>
          </a:bodyPr>
          <a:lstStyle/>
          <a:p>
            <a:pPr algn="ctr"/>
            <a:r>
              <a:rPr sz="1600" b="1" i="0">
                <a:solidFill>
                  <a:srgbClr val="FFFFFF"/>
                </a:solidFill>
                <a:latin typeface="Montserrat"/>
              </a:rPr>
              <a:t>04</a:t>
            </a:r>
          </a:p>
        </p:txBody>
      </p:sp>
      <p:sp>
        <p:nvSpPr>
          <p:cNvPr id="19" name="TextBox 18"/>
          <p:cNvSpPr txBox="1"/>
          <p:nvPr/>
        </p:nvSpPr>
        <p:spPr>
          <a:xfrm>
            <a:off x="1051560" y="5468112"/>
            <a:ext cx="4846320" cy="594360"/>
          </a:xfrm>
          <a:prstGeom prst="rect">
            <a:avLst/>
          </a:prstGeom>
          <a:noFill/>
        </p:spPr>
        <p:txBody>
          <a:bodyPr wrap="square">
            <a:spAutoFit/>
          </a:bodyPr>
          <a:lstStyle/>
          <a:p>
            <a:pPr algn="l"/>
            <a:r>
              <a:rPr sz="1200" b="0" i="0">
                <a:solidFill>
                  <a:srgbClr val="1A2844"/>
                </a:solidFill>
                <a:latin typeface="Montserrat"/>
              </a:rPr>
              <a:t>Empresas Destacadas: Trii · Geacco · Comanager</a:t>
            </a:r>
          </a:p>
        </p:txBody>
      </p:sp>
      <p:sp>
        <p:nvSpPr>
          <p:cNvPr id="20" name="Rectangle 19"/>
          <p:cNvSpPr/>
          <p:nvPr/>
        </p:nvSpPr>
        <p:spPr>
          <a:xfrm>
            <a:off x="6400800" y="1234440"/>
            <a:ext cx="5577840" cy="10972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0" y="1234440"/>
            <a:ext cx="502920" cy="109728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508760"/>
            <a:ext cx="502920" cy="502920"/>
          </a:xfrm>
          <a:prstGeom prst="rect">
            <a:avLst/>
          </a:prstGeom>
          <a:noFill/>
        </p:spPr>
        <p:txBody>
          <a:bodyPr wrap="square">
            <a:spAutoFit/>
          </a:bodyPr>
          <a:lstStyle/>
          <a:p>
            <a:pPr algn="ctr"/>
            <a:r>
              <a:rPr sz="1600" b="1" i="0">
                <a:solidFill>
                  <a:srgbClr val="FFFFFF"/>
                </a:solidFill>
                <a:latin typeface="Montserrat"/>
              </a:rPr>
              <a:t>05</a:t>
            </a:r>
          </a:p>
        </p:txBody>
      </p:sp>
      <p:sp>
        <p:nvSpPr>
          <p:cNvPr id="23" name="TextBox 22"/>
          <p:cNvSpPr txBox="1"/>
          <p:nvPr/>
        </p:nvSpPr>
        <p:spPr>
          <a:xfrm>
            <a:off x="6995160" y="1490472"/>
            <a:ext cx="4846320" cy="594360"/>
          </a:xfrm>
          <a:prstGeom prst="rect">
            <a:avLst/>
          </a:prstGeom>
          <a:noFill/>
        </p:spPr>
        <p:txBody>
          <a:bodyPr wrap="square">
            <a:spAutoFit/>
          </a:bodyPr>
          <a:lstStyle/>
          <a:p>
            <a:pPr algn="l"/>
            <a:r>
              <a:rPr sz="1200" b="0" i="0">
                <a:solidFill>
                  <a:srgbClr val="1A2844"/>
                </a:solidFill>
                <a:latin typeface="Montserrat"/>
              </a:rPr>
              <a:t>Estrategia de Liquidez y Exits 2026</a:t>
            </a:r>
          </a:p>
        </p:txBody>
      </p:sp>
      <p:sp>
        <p:nvSpPr>
          <p:cNvPr id="24" name="Rectangle 23"/>
          <p:cNvSpPr/>
          <p:nvPr/>
        </p:nvSpPr>
        <p:spPr>
          <a:xfrm>
            <a:off x="6400800" y="2560320"/>
            <a:ext cx="5577840" cy="10972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0" y="2560320"/>
            <a:ext cx="502920" cy="109728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34639"/>
            <a:ext cx="502920" cy="502920"/>
          </a:xfrm>
          <a:prstGeom prst="rect">
            <a:avLst/>
          </a:prstGeom>
          <a:noFill/>
        </p:spPr>
        <p:txBody>
          <a:bodyPr wrap="square">
            <a:spAutoFit/>
          </a:bodyPr>
          <a:lstStyle/>
          <a:p>
            <a:pPr algn="ctr"/>
            <a:r>
              <a:rPr sz="1600" b="1" i="0">
                <a:solidFill>
                  <a:srgbClr val="FFFFFF"/>
                </a:solidFill>
                <a:latin typeface="Montserrat"/>
              </a:rPr>
              <a:t>06</a:t>
            </a:r>
          </a:p>
        </p:txBody>
      </p:sp>
      <p:sp>
        <p:nvSpPr>
          <p:cNvPr id="27" name="TextBox 26"/>
          <p:cNvSpPr txBox="1"/>
          <p:nvPr/>
        </p:nvSpPr>
        <p:spPr>
          <a:xfrm>
            <a:off x="6995160" y="2816352"/>
            <a:ext cx="4846320" cy="594360"/>
          </a:xfrm>
          <a:prstGeom prst="rect">
            <a:avLst/>
          </a:prstGeom>
          <a:noFill/>
        </p:spPr>
        <p:txBody>
          <a:bodyPr wrap="square">
            <a:spAutoFit/>
          </a:bodyPr>
          <a:lstStyle/>
          <a:p>
            <a:pPr algn="l"/>
            <a:r>
              <a:rPr sz="1200" b="0" i="0">
                <a:solidFill>
                  <a:srgbClr val="1A2844"/>
                </a:solidFill>
                <a:latin typeface="Montserrat"/>
              </a:rPr>
              <a:t>Análisis Integral del Portafolio</a:t>
            </a:r>
          </a:p>
        </p:txBody>
      </p:sp>
      <p:sp>
        <p:nvSpPr>
          <p:cNvPr id="28" name="Rectangle 27"/>
          <p:cNvSpPr/>
          <p:nvPr/>
        </p:nvSpPr>
        <p:spPr>
          <a:xfrm>
            <a:off x="6400800" y="3886200"/>
            <a:ext cx="5577840" cy="10972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0" y="3886200"/>
            <a:ext cx="502920" cy="109728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160520"/>
            <a:ext cx="502920" cy="502920"/>
          </a:xfrm>
          <a:prstGeom prst="rect">
            <a:avLst/>
          </a:prstGeom>
          <a:noFill/>
        </p:spPr>
        <p:txBody>
          <a:bodyPr wrap="square">
            <a:spAutoFit/>
          </a:bodyPr>
          <a:lstStyle/>
          <a:p>
            <a:pPr algn="ctr"/>
            <a:r>
              <a:rPr sz="1600" b="1" i="0">
                <a:solidFill>
                  <a:srgbClr val="FFFFFF"/>
                </a:solidFill>
                <a:latin typeface="Montserrat"/>
              </a:rPr>
              <a:t>07</a:t>
            </a:r>
          </a:p>
        </p:txBody>
      </p:sp>
      <p:sp>
        <p:nvSpPr>
          <p:cNvPr id="31" name="TextBox 30"/>
          <p:cNvSpPr txBox="1"/>
          <p:nvPr/>
        </p:nvSpPr>
        <p:spPr>
          <a:xfrm>
            <a:off x="6995160" y="4142232"/>
            <a:ext cx="4846320" cy="594360"/>
          </a:xfrm>
          <a:prstGeom prst="rect">
            <a:avLst/>
          </a:prstGeom>
          <a:noFill/>
        </p:spPr>
        <p:txBody>
          <a:bodyPr wrap="square">
            <a:spAutoFit/>
          </a:bodyPr>
          <a:lstStyle/>
          <a:p>
            <a:pPr algn="l"/>
            <a:r>
              <a:rPr sz="1200" b="0" i="0">
                <a:solidFill>
                  <a:srgbClr val="1A2844"/>
                </a:solidFill>
                <a:latin typeface="Montserrat"/>
              </a:rPr>
              <a:t>Ecosistema y Tendencias Sectoriales</a:t>
            </a:r>
          </a:p>
        </p:txBody>
      </p:sp>
      <p:sp>
        <p:nvSpPr>
          <p:cNvPr id="32" name="Rectangle 31"/>
          <p:cNvSpPr/>
          <p:nvPr/>
        </p:nvSpPr>
        <p:spPr>
          <a:xfrm>
            <a:off x="6400800" y="5212079"/>
            <a:ext cx="5577840" cy="10972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0" y="5212079"/>
            <a:ext cx="502920" cy="109728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5486399"/>
            <a:ext cx="502920" cy="502920"/>
          </a:xfrm>
          <a:prstGeom prst="rect">
            <a:avLst/>
          </a:prstGeom>
          <a:noFill/>
        </p:spPr>
        <p:txBody>
          <a:bodyPr wrap="square">
            <a:spAutoFit/>
          </a:bodyPr>
          <a:lstStyle/>
          <a:p>
            <a:pPr algn="ctr"/>
            <a:r>
              <a:rPr sz="1600" b="1" i="0">
                <a:solidFill>
                  <a:srgbClr val="FFFFFF"/>
                </a:solidFill>
                <a:latin typeface="Montserrat"/>
              </a:rPr>
              <a:t>08</a:t>
            </a:r>
          </a:p>
        </p:txBody>
      </p:sp>
      <p:sp>
        <p:nvSpPr>
          <p:cNvPr id="35" name="TextBox 34"/>
          <p:cNvSpPr txBox="1"/>
          <p:nvPr/>
        </p:nvSpPr>
        <p:spPr>
          <a:xfrm>
            <a:off x="6995160" y="5468112"/>
            <a:ext cx="4846320" cy="594360"/>
          </a:xfrm>
          <a:prstGeom prst="rect">
            <a:avLst/>
          </a:prstGeom>
          <a:noFill/>
        </p:spPr>
        <p:txBody>
          <a:bodyPr wrap="square">
            <a:spAutoFit/>
          </a:bodyPr>
          <a:lstStyle/>
          <a:p>
            <a:pPr algn="l"/>
            <a:r>
              <a:rPr sz="1200" b="0" i="0">
                <a:solidFill>
                  <a:srgbClr val="1A2844"/>
                </a:solidFill>
                <a:latin typeface="Montserrat"/>
              </a:rPr>
              <a:t>Perspectivas y Compromisos 2026</a:t>
            </a:r>
          </a:p>
        </p:txBody>
      </p:sp>
      <p:sp>
        <p:nvSpPr>
          <p:cNvPr id="36" name="TextBox 35"/>
          <p:cNvSpPr txBox="1"/>
          <p:nvPr/>
        </p:nvSpPr>
        <p:spPr>
          <a:xfrm>
            <a:off x="365760" y="6583680"/>
            <a:ext cx="11430000" cy="228600"/>
          </a:xfrm>
          <a:prstGeom prst="rect">
            <a:avLst/>
          </a:prstGeom>
          <a:noFill/>
        </p:spPr>
        <p:txBody>
          <a:bodyPr wrap="square">
            <a:spAutoFit/>
          </a:bodyPr>
          <a:lstStyle/>
          <a:p>
            <a:pPr algn="l"/>
            <a:r>
              <a:rPr sz="700" b="0" i="0">
                <a:solidFill>
                  <a:srgbClr val="A0AABB"/>
                </a:solidFill>
                <a:latin typeface="Montserrat"/>
              </a:rPr>
              <a:t>Cube Ventures · Reporte de Inversionistas H2 2025 · Confidencial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502920"/>
          </a:xfrm>
          <a:prstGeom prst="rect">
            <a:avLst/>
          </a:prstGeom>
          <a:noFill/>
        </p:spPr>
        <p:txBody>
          <a:bodyPr wrap="square">
            <a:spAutoFit/>
          </a:bodyPr>
          <a:lstStyle/>
          <a:p>
            <a:pPr algn="l"/>
            <a:r>
              <a:rPr sz="2200" b="1" i="0">
                <a:solidFill>
                  <a:srgbClr val="FFFFFF"/>
                </a:solidFill>
                <a:latin typeface="Montserrat"/>
              </a:rPr>
              <a:t>Mensaje del Managing Director</a:t>
            </a:r>
          </a:p>
        </p:txBody>
      </p:sp>
      <p:sp>
        <p:nvSpPr>
          <p:cNvPr id="4" name="TextBox 3"/>
          <p:cNvSpPr txBox="1"/>
          <p:nvPr/>
        </p:nvSpPr>
        <p:spPr>
          <a:xfrm>
            <a:off x="457200" y="566928"/>
            <a:ext cx="10058400" cy="384048"/>
          </a:xfrm>
          <a:prstGeom prst="rect">
            <a:avLst/>
          </a:prstGeom>
          <a:noFill/>
        </p:spPr>
        <p:txBody>
          <a:bodyPr wrap="square">
            <a:spAutoFit/>
          </a:bodyPr>
          <a:lstStyle/>
          <a:p>
            <a:pPr algn="l"/>
            <a:r>
              <a:rPr sz="1100" b="0" i="0">
                <a:solidFill>
                  <a:srgbClr val="00B38A"/>
                </a:solidFill>
                <a:latin typeface="Montserrat"/>
              </a:rPr>
              <a:t>Visión estratégica · Cierre 2025</a:t>
            </a:r>
          </a:p>
        </p:txBody>
      </p:sp>
      <p:sp>
        <p:nvSpPr>
          <p:cNvPr id="5" name="Rectangle 4"/>
          <p:cNvSpPr/>
          <p:nvPr/>
        </p:nvSpPr>
        <p:spPr>
          <a:xfrm>
            <a:off x="457200" y="1188720"/>
            <a:ext cx="73152" cy="512064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234440"/>
            <a:ext cx="6858000" cy="1371600"/>
          </a:xfrm>
          <a:prstGeom prst="rect">
            <a:avLst/>
          </a:prstGeom>
          <a:noFill/>
        </p:spPr>
        <p:txBody>
          <a:bodyPr wrap="square">
            <a:spAutoFit/>
          </a:bodyPr>
          <a:lstStyle/>
          <a:p>
            <a:pPr algn="l"/>
            <a:r>
              <a:rPr sz="1200" b="0" i="1">
                <a:solidFill>
                  <a:srgbClr val="1A2844"/>
                </a:solidFill>
                <a:latin typeface="Montserrat"/>
              </a:rPr>
              <a:t>"En un ciclo exigente para el Venture Capital, los mejores retornos se construyen con disciplina, foco y capacidad de adaptación. Nuestro compromiso es seguir trabajando con transparencia, rigor y ambición para proteger y maximizar el valor del portafolio."</a:t>
            </a:r>
          </a:p>
        </p:txBody>
      </p:sp>
      <p:sp>
        <p:nvSpPr>
          <p:cNvPr id="7" name="TextBox 6"/>
          <p:cNvSpPr txBox="1"/>
          <p:nvPr/>
        </p:nvSpPr>
        <p:spPr>
          <a:xfrm>
            <a:off x="731520" y="2560320"/>
            <a:ext cx="6858000" cy="320040"/>
          </a:xfrm>
          <a:prstGeom prst="rect">
            <a:avLst/>
          </a:prstGeom>
          <a:noFill/>
        </p:spPr>
        <p:txBody>
          <a:bodyPr wrap="square">
            <a:spAutoFit/>
          </a:bodyPr>
          <a:lstStyle/>
          <a:p>
            <a:pPr algn="l"/>
            <a:r>
              <a:rPr sz="1000" b="1" i="0">
                <a:solidFill>
                  <a:srgbClr val="00B38A"/>
                </a:solidFill>
                <a:latin typeface="Montserrat"/>
              </a:rPr>
              <a:t>Santiago Rojas Montoya · Managing Director &amp; Cofundador</a:t>
            </a:r>
          </a:p>
        </p:txBody>
      </p:sp>
      <p:cxnSp>
        <p:nvCxnSpPr>
          <p:cNvPr id="8" name="Connector 7"/>
          <p:cNvCxnSpPr/>
          <p:nvPr/>
        </p:nvCxnSpPr>
        <p:spPr>
          <a:xfrm>
            <a:off x="457200" y="3017520"/>
            <a:ext cx="11247120" cy="0"/>
          </a:xfrm>
          <a:prstGeom prst="line">
            <a:avLst/>
          </a:prstGeom>
          <a:ln w="19050">
            <a:solidFill>
              <a:srgbClr val="F4F6F9"/>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57200" y="3246120"/>
            <a:ext cx="2743200" cy="219456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3337560"/>
            <a:ext cx="2468880" cy="411480"/>
          </a:xfrm>
          <a:prstGeom prst="rect">
            <a:avLst/>
          </a:prstGeom>
          <a:noFill/>
        </p:spPr>
        <p:txBody>
          <a:bodyPr wrap="square">
            <a:spAutoFit/>
          </a:bodyPr>
          <a:lstStyle/>
          <a:p>
            <a:pPr algn="l"/>
            <a:r>
              <a:rPr sz="1100" b="1" i="0">
                <a:solidFill>
                  <a:srgbClr val="FFFFFF"/>
                </a:solidFill>
                <a:latin typeface="Montserrat"/>
              </a:rPr>
              <a:t>PRIMER EXIT</a:t>
            </a:r>
          </a:p>
        </p:txBody>
      </p:sp>
      <p:sp>
        <p:nvSpPr>
          <p:cNvPr id="11" name="TextBox 10"/>
          <p:cNvSpPr txBox="1"/>
          <p:nvPr/>
        </p:nvSpPr>
        <p:spPr>
          <a:xfrm>
            <a:off x="594360" y="3840480"/>
            <a:ext cx="2468880" cy="1463040"/>
          </a:xfrm>
          <a:prstGeom prst="rect">
            <a:avLst/>
          </a:prstGeom>
          <a:noFill/>
        </p:spPr>
        <p:txBody>
          <a:bodyPr wrap="square">
            <a:spAutoFit/>
          </a:bodyPr>
          <a:lstStyle/>
          <a:p>
            <a:pPr algn="l"/>
            <a:r>
              <a:rPr sz="950" b="0" i="0">
                <a:solidFill>
                  <a:srgbClr val="FFFFFF"/>
                </a:solidFill>
                <a:latin typeface="Montserrat"/>
              </a:rPr>
              <a:t>Patiya: primera validación de liquidez del portafolio</a:t>
            </a:r>
          </a:p>
        </p:txBody>
      </p:sp>
      <p:sp>
        <p:nvSpPr>
          <p:cNvPr id="12" name="Rectangle 11"/>
          <p:cNvSpPr/>
          <p:nvPr/>
        </p:nvSpPr>
        <p:spPr>
          <a:xfrm>
            <a:off x="3364992" y="3246120"/>
            <a:ext cx="2743200" cy="21945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2152" y="3337560"/>
            <a:ext cx="2468880" cy="411480"/>
          </a:xfrm>
          <a:prstGeom prst="rect">
            <a:avLst/>
          </a:prstGeom>
          <a:noFill/>
        </p:spPr>
        <p:txBody>
          <a:bodyPr wrap="square">
            <a:spAutoFit/>
          </a:bodyPr>
          <a:lstStyle/>
          <a:p>
            <a:pPr algn="l"/>
            <a:r>
              <a:rPr sz="1100" b="1" i="0">
                <a:solidFill>
                  <a:srgbClr val="FFFFFF"/>
                </a:solidFill>
                <a:latin typeface="Montserrat"/>
              </a:rPr>
              <a:t>TRII</a:t>
            </a:r>
          </a:p>
        </p:txBody>
      </p:sp>
      <p:sp>
        <p:nvSpPr>
          <p:cNvPr id="14" name="TextBox 13"/>
          <p:cNvSpPr txBox="1"/>
          <p:nvPr/>
        </p:nvSpPr>
        <p:spPr>
          <a:xfrm>
            <a:off x="3502152" y="3840480"/>
            <a:ext cx="2468880" cy="1463040"/>
          </a:xfrm>
          <a:prstGeom prst="rect">
            <a:avLst/>
          </a:prstGeom>
          <a:noFill/>
        </p:spPr>
        <p:txBody>
          <a:bodyPr wrap="square">
            <a:spAutoFit/>
          </a:bodyPr>
          <a:lstStyle/>
          <a:p>
            <a:pPr algn="l"/>
            <a:r>
              <a:rPr sz="950" b="0" i="0">
                <a:solidFill>
                  <a:srgbClr val="FFFFFF"/>
                </a:solidFill>
                <a:latin typeface="Montserrat"/>
              </a:rPr>
              <a:t>US$567M en AUM · EBITDA positivo · Expansión a México</a:t>
            </a:r>
          </a:p>
        </p:txBody>
      </p:sp>
      <p:sp>
        <p:nvSpPr>
          <p:cNvPr id="15" name="Rectangle 14"/>
          <p:cNvSpPr/>
          <p:nvPr/>
        </p:nvSpPr>
        <p:spPr>
          <a:xfrm>
            <a:off x="6272784" y="3246120"/>
            <a:ext cx="2743200" cy="219456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3337560"/>
            <a:ext cx="2468880" cy="411480"/>
          </a:xfrm>
          <a:prstGeom prst="rect">
            <a:avLst/>
          </a:prstGeom>
          <a:noFill/>
        </p:spPr>
        <p:txBody>
          <a:bodyPr wrap="square">
            <a:spAutoFit/>
          </a:bodyPr>
          <a:lstStyle/>
          <a:p>
            <a:pPr algn="l"/>
            <a:r>
              <a:rPr sz="1100" b="1" i="0">
                <a:solidFill>
                  <a:srgbClr val="FFFFFF"/>
                </a:solidFill>
                <a:latin typeface="Montserrat"/>
              </a:rPr>
              <a:t>GEACCO</a:t>
            </a:r>
          </a:p>
        </p:txBody>
      </p:sp>
      <p:sp>
        <p:nvSpPr>
          <p:cNvPr id="17" name="TextBox 16"/>
          <p:cNvSpPr txBox="1"/>
          <p:nvPr/>
        </p:nvSpPr>
        <p:spPr>
          <a:xfrm>
            <a:off x="6409944" y="3840480"/>
            <a:ext cx="2468880" cy="1463040"/>
          </a:xfrm>
          <a:prstGeom prst="rect">
            <a:avLst/>
          </a:prstGeom>
          <a:noFill/>
        </p:spPr>
        <p:txBody>
          <a:bodyPr wrap="square">
            <a:spAutoFit/>
          </a:bodyPr>
          <a:lstStyle/>
          <a:p>
            <a:pPr algn="l"/>
            <a:r>
              <a:rPr sz="950" b="0" i="0">
                <a:solidFill>
                  <a:srgbClr val="FFFFFF"/>
                </a:solidFill>
                <a:latin typeface="Montserrat"/>
              </a:rPr>
              <a:t>89% de crecimiento · US$1.17M · Cruce de umbral US$1M ARR</a:t>
            </a:r>
          </a:p>
        </p:txBody>
      </p:sp>
      <p:sp>
        <p:nvSpPr>
          <p:cNvPr id="18" name="Rectangle 17"/>
          <p:cNvSpPr/>
          <p:nvPr/>
        </p:nvSpPr>
        <p:spPr>
          <a:xfrm>
            <a:off x="9180576" y="3246120"/>
            <a:ext cx="2743200" cy="219456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17736" y="3337560"/>
            <a:ext cx="2468880" cy="411480"/>
          </a:xfrm>
          <a:prstGeom prst="rect">
            <a:avLst/>
          </a:prstGeom>
          <a:noFill/>
        </p:spPr>
        <p:txBody>
          <a:bodyPr wrap="square">
            <a:spAutoFit/>
          </a:bodyPr>
          <a:lstStyle/>
          <a:p>
            <a:pPr algn="l"/>
            <a:r>
              <a:rPr sz="1100" b="1" i="0">
                <a:solidFill>
                  <a:srgbClr val="FFFFFF"/>
                </a:solidFill>
                <a:latin typeface="Montserrat"/>
              </a:rPr>
              <a:t>ESTRATEGIA</a:t>
            </a:r>
          </a:p>
        </p:txBody>
      </p:sp>
      <p:sp>
        <p:nvSpPr>
          <p:cNvPr id="20" name="TextBox 19"/>
          <p:cNvSpPr txBox="1"/>
          <p:nvPr/>
        </p:nvSpPr>
        <p:spPr>
          <a:xfrm>
            <a:off x="9317736" y="3840480"/>
            <a:ext cx="2468880" cy="1463040"/>
          </a:xfrm>
          <a:prstGeom prst="rect">
            <a:avLst/>
          </a:prstGeom>
          <a:noFill/>
        </p:spPr>
        <p:txBody>
          <a:bodyPr wrap="square">
            <a:spAutoFit/>
          </a:bodyPr>
          <a:lstStyle/>
          <a:p>
            <a:pPr algn="l"/>
            <a:r>
              <a:rPr sz="950" b="0" i="0">
                <a:solidFill>
                  <a:srgbClr val="FFFFFF"/>
                </a:solidFill>
                <a:latin typeface="Montserrat"/>
              </a:rPr>
              <a:t>Exit Accelerator activo · 5 exits priorizados</a:t>
            </a:r>
          </a:p>
        </p:txBody>
      </p:sp>
      <p:sp>
        <p:nvSpPr>
          <p:cNvPr id="21" name="TextBox 20"/>
          <p:cNvSpPr txBox="1"/>
          <p:nvPr/>
        </p:nvSpPr>
        <p:spPr>
          <a:xfrm>
            <a:off x="365760" y="6583680"/>
            <a:ext cx="11430000" cy="228600"/>
          </a:xfrm>
          <a:prstGeom prst="rect">
            <a:avLst/>
          </a:prstGeom>
          <a:noFill/>
        </p:spPr>
        <p:txBody>
          <a:bodyPr wrap="square">
            <a:spAutoFit/>
          </a:bodyPr>
          <a:lstStyle/>
          <a:p>
            <a:pPr algn="l"/>
            <a:r>
              <a:rPr sz="700" b="0" i="0">
                <a:solidFill>
                  <a:srgbClr val="A0AABB"/>
                </a:solidFill>
                <a:latin typeface="Montserrat"/>
              </a:rPr>
              <a:t>Cube Ventures · Reporte de Inversionistas H2 2025 · Confidencial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502920"/>
          </a:xfrm>
          <a:prstGeom prst="rect">
            <a:avLst/>
          </a:prstGeom>
          <a:noFill/>
        </p:spPr>
        <p:txBody>
          <a:bodyPr wrap="square">
            <a:spAutoFit/>
          </a:bodyPr>
          <a:lstStyle/>
          <a:p>
            <a:pPr algn="l"/>
            <a:r>
              <a:rPr sz="2200" b="1" i="0">
                <a:solidFill>
                  <a:srgbClr val="FFFFFF"/>
                </a:solidFill>
                <a:latin typeface="Montserrat"/>
              </a:rPr>
              <a:t>Contexto Global de Venture Capital 2025</a:t>
            </a:r>
          </a:p>
        </p:txBody>
      </p:sp>
      <p:sp>
        <p:nvSpPr>
          <p:cNvPr id="4" name="TextBox 3"/>
          <p:cNvSpPr txBox="1"/>
          <p:nvPr/>
        </p:nvSpPr>
        <p:spPr>
          <a:xfrm>
            <a:off x="457200" y="566928"/>
            <a:ext cx="10058400" cy="384048"/>
          </a:xfrm>
          <a:prstGeom prst="rect">
            <a:avLst/>
          </a:prstGeom>
          <a:noFill/>
        </p:spPr>
        <p:txBody>
          <a:bodyPr wrap="square">
            <a:spAutoFit/>
          </a:bodyPr>
          <a:lstStyle/>
          <a:p>
            <a:pPr algn="l"/>
            <a:r>
              <a:rPr sz="1100" b="0" i="0">
                <a:solidFill>
                  <a:srgbClr val="00B38A"/>
                </a:solidFill>
                <a:latin typeface="Montserrat"/>
              </a:rPr>
              <a:t>El capital global se concentra · América Latina madura · Colombia redefine su base</a:t>
            </a:r>
          </a:p>
        </p:txBody>
      </p:sp>
      <p:sp>
        <p:nvSpPr>
          <p:cNvPr id="5" name="Rectangle 4"/>
          <p:cNvSpPr/>
          <p:nvPr/>
        </p:nvSpPr>
        <p:spPr>
          <a:xfrm>
            <a:off x="320040" y="1143000"/>
            <a:ext cx="3657600" cy="2103120"/>
          </a:xfrm>
          <a:prstGeom prst="rect">
            <a:avLst/>
          </a:prstGeom>
          <a:solidFill>
            <a:srgbClr val="E0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234440"/>
            <a:ext cx="3657600" cy="1156716"/>
          </a:xfrm>
          <a:prstGeom prst="rect">
            <a:avLst/>
          </a:prstGeom>
          <a:noFill/>
        </p:spPr>
        <p:txBody>
          <a:bodyPr wrap="square">
            <a:spAutoFit/>
          </a:bodyPr>
          <a:lstStyle/>
          <a:p>
            <a:pPr algn="ctr"/>
            <a:r>
              <a:rPr sz="3000" b="1" i="0">
                <a:solidFill>
                  <a:srgbClr val="00B38A"/>
                </a:solidFill>
                <a:latin typeface="Montserrat"/>
              </a:rPr>
              <a:t>US$425B</a:t>
            </a:r>
          </a:p>
        </p:txBody>
      </p:sp>
      <p:sp>
        <p:nvSpPr>
          <p:cNvPr id="7" name="TextBox 6"/>
          <p:cNvSpPr txBox="1"/>
          <p:nvPr/>
        </p:nvSpPr>
        <p:spPr>
          <a:xfrm>
            <a:off x="320040" y="2236622"/>
            <a:ext cx="3657600" cy="946403"/>
          </a:xfrm>
          <a:prstGeom prst="rect">
            <a:avLst/>
          </a:prstGeom>
          <a:noFill/>
        </p:spPr>
        <p:txBody>
          <a:bodyPr wrap="square">
            <a:spAutoFit/>
          </a:bodyPr>
          <a:lstStyle/>
          <a:p>
            <a:pPr algn="ctr"/>
            <a:r>
              <a:rPr sz="900" b="0" i="0">
                <a:solidFill>
                  <a:srgbClr val="1A2844"/>
                </a:solidFill>
                <a:latin typeface="Montserrat"/>
              </a:rPr>
              <a:t>Inversión VC Global 2025
(Crunchbase)</a:t>
            </a:r>
          </a:p>
        </p:txBody>
      </p:sp>
      <p:sp>
        <p:nvSpPr>
          <p:cNvPr id="8" name="Rectangle 7"/>
          <p:cNvSpPr/>
          <p:nvPr/>
        </p:nvSpPr>
        <p:spPr>
          <a:xfrm>
            <a:off x="4270248" y="1143000"/>
            <a:ext cx="3657600" cy="2103120"/>
          </a:xfrm>
          <a:prstGeom prst="rect">
            <a:avLst/>
          </a:prstGeom>
          <a:solidFill>
            <a:srgbClr val="E0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70248" y="1234440"/>
            <a:ext cx="3657600" cy="1156716"/>
          </a:xfrm>
          <a:prstGeom prst="rect">
            <a:avLst/>
          </a:prstGeom>
          <a:noFill/>
        </p:spPr>
        <p:txBody>
          <a:bodyPr wrap="square">
            <a:spAutoFit/>
          </a:bodyPr>
          <a:lstStyle/>
          <a:p>
            <a:pPr algn="ctr"/>
            <a:r>
              <a:rPr sz="3000" b="1" i="0">
                <a:solidFill>
                  <a:srgbClr val="00B38A"/>
                </a:solidFill>
                <a:latin typeface="Montserrat"/>
              </a:rPr>
              <a:t>+63%</a:t>
            </a:r>
          </a:p>
        </p:txBody>
      </p:sp>
      <p:sp>
        <p:nvSpPr>
          <p:cNvPr id="10" name="TextBox 9"/>
          <p:cNvSpPr txBox="1"/>
          <p:nvPr/>
        </p:nvSpPr>
        <p:spPr>
          <a:xfrm>
            <a:off x="4270248" y="2236622"/>
            <a:ext cx="3657600" cy="946403"/>
          </a:xfrm>
          <a:prstGeom prst="rect">
            <a:avLst/>
          </a:prstGeom>
          <a:noFill/>
        </p:spPr>
        <p:txBody>
          <a:bodyPr wrap="square">
            <a:spAutoFit/>
          </a:bodyPr>
          <a:lstStyle/>
          <a:p>
            <a:pPr algn="ctr"/>
            <a:r>
              <a:rPr sz="900" b="0" i="0">
                <a:solidFill>
                  <a:srgbClr val="1A2844"/>
                </a:solidFill>
                <a:latin typeface="Montserrat"/>
              </a:rPr>
              <a:t>Crecimiento EE.UU.
vs. 2024</a:t>
            </a:r>
          </a:p>
        </p:txBody>
      </p:sp>
      <p:sp>
        <p:nvSpPr>
          <p:cNvPr id="11" name="Rectangle 10"/>
          <p:cNvSpPr/>
          <p:nvPr/>
        </p:nvSpPr>
        <p:spPr>
          <a:xfrm>
            <a:off x="8220456" y="1143000"/>
            <a:ext cx="3657600" cy="2103120"/>
          </a:xfrm>
          <a:prstGeom prst="rect">
            <a:avLst/>
          </a:prstGeom>
          <a:solidFill>
            <a:srgbClr val="E0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1234440"/>
            <a:ext cx="3657600" cy="1156716"/>
          </a:xfrm>
          <a:prstGeom prst="rect">
            <a:avLst/>
          </a:prstGeom>
          <a:noFill/>
        </p:spPr>
        <p:txBody>
          <a:bodyPr wrap="square">
            <a:spAutoFit/>
          </a:bodyPr>
          <a:lstStyle/>
          <a:p>
            <a:pPr algn="ctr"/>
            <a:r>
              <a:rPr sz="3000" b="1" i="0">
                <a:solidFill>
                  <a:srgbClr val="00B38A"/>
                </a:solidFill>
                <a:latin typeface="Montserrat"/>
              </a:rPr>
              <a:t>40–50%</a:t>
            </a:r>
          </a:p>
        </p:txBody>
      </p:sp>
      <p:sp>
        <p:nvSpPr>
          <p:cNvPr id="13" name="TextBox 12"/>
          <p:cNvSpPr txBox="1"/>
          <p:nvPr/>
        </p:nvSpPr>
        <p:spPr>
          <a:xfrm>
            <a:off x="8220456" y="2236622"/>
            <a:ext cx="3657600" cy="946403"/>
          </a:xfrm>
          <a:prstGeom prst="rect">
            <a:avLst/>
          </a:prstGeom>
          <a:noFill/>
        </p:spPr>
        <p:txBody>
          <a:bodyPr wrap="square">
            <a:spAutoFit/>
          </a:bodyPr>
          <a:lstStyle/>
          <a:p>
            <a:pPr algn="ctr"/>
            <a:r>
              <a:rPr sz="900" b="0" i="0">
                <a:solidFill>
                  <a:srgbClr val="1A2844"/>
                </a:solidFill>
                <a:latin typeface="Montserrat"/>
              </a:rPr>
              <a:t>Capital global
capturado por IA</a:t>
            </a:r>
          </a:p>
        </p:txBody>
      </p:sp>
      <p:sp>
        <p:nvSpPr>
          <p:cNvPr id="14" name="Rectangle 13"/>
          <p:cNvSpPr/>
          <p:nvPr/>
        </p:nvSpPr>
        <p:spPr>
          <a:xfrm>
            <a:off x="320040" y="3566160"/>
            <a:ext cx="3657600" cy="21031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3657600"/>
            <a:ext cx="3657600" cy="1156716"/>
          </a:xfrm>
          <a:prstGeom prst="rect">
            <a:avLst/>
          </a:prstGeom>
          <a:noFill/>
        </p:spPr>
        <p:txBody>
          <a:bodyPr wrap="square">
            <a:spAutoFit/>
          </a:bodyPr>
          <a:lstStyle/>
          <a:p>
            <a:pPr algn="ctr"/>
            <a:r>
              <a:rPr sz="3000" b="1" i="0">
                <a:solidFill>
                  <a:srgbClr val="0D1F3C"/>
                </a:solidFill>
                <a:latin typeface="Montserrat"/>
              </a:rPr>
              <a:t>US$4.1B</a:t>
            </a:r>
          </a:p>
        </p:txBody>
      </p:sp>
      <p:sp>
        <p:nvSpPr>
          <p:cNvPr id="16" name="TextBox 15"/>
          <p:cNvSpPr txBox="1"/>
          <p:nvPr/>
        </p:nvSpPr>
        <p:spPr>
          <a:xfrm>
            <a:off x="320040" y="4659782"/>
            <a:ext cx="3657600" cy="946403"/>
          </a:xfrm>
          <a:prstGeom prst="rect">
            <a:avLst/>
          </a:prstGeom>
          <a:noFill/>
        </p:spPr>
        <p:txBody>
          <a:bodyPr wrap="square">
            <a:spAutoFit/>
          </a:bodyPr>
          <a:lstStyle/>
          <a:p>
            <a:pPr algn="ctr"/>
            <a:r>
              <a:rPr sz="900" b="0" i="0">
                <a:solidFill>
                  <a:srgbClr val="1A2844"/>
                </a:solidFill>
                <a:latin typeface="Montserrat"/>
              </a:rPr>
              <a:t>Inversión VC
América Latina 2025</a:t>
            </a:r>
          </a:p>
        </p:txBody>
      </p:sp>
      <p:sp>
        <p:nvSpPr>
          <p:cNvPr id="17" name="Rectangle 16"/>
          <p:cNvSpPr/>
          <p:nvPr/>
        </p:nvSpPr>
        <p:spPr>
          <a:xfrm>
            <a:off x="4270248" y="3566160"/>
            <a:ext cx="3657600" cy="21031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70248" y="3657600"/>
            <a:ext cx="3657600" cy="1156716"/>
          </a:xfrm>
          <a:prstGeom prst="rect">
            <a:avLst/>
          </a:prstGeom>
          <a:noFill/>
        </p:spPr>
        <p:txBody>
          <a:bodyPr wrap="square">
            <a:spAutoFit/>
          </a:bodyPr>
          <a:lstStyle/>
          <a:p>
            <a:pPr algn="ctr"/>
            <a:r>
              <a:rPr sz="3000" b="1" i="0">
                <a:solidFill>
                  <a:srgbClr val="0D1F3C"/>
                </a:solidFill>
                <a:latin typeface="Montserrat"/>
              </a:rPr>
              <a:t>+13.8%</a:t>
            </a:r>
          </a:p>
        </p:txBody>
      </p:sp>
      <p:sp>
        <p:nvSpPr>
          <p:cNvPr id="19" name="TextBox 18"/>
          <p:cNvSpPr txBox="1"/>
          <p:nvPr/>
        </p:nvSpPr>
        <p:spPr>
          <a:xfrm>
            <a:off x="4270248" y="4659782"/>
            <a:ext cx="3657600" cy="946403"/>
          </a:xfrm>
          <a:prstGeom prst="rect">
            <a:avLst/>
          </a:prstGeom>
          <a:noFill/>
        </p:spPr>
        <p:txBody>
          <a:bodyPr wrap="square">
            <a:spAutoFit/>
          </a:bodyPr>
          <a:lstStyle/>
          <a:p>
            <a:pPr algn="ctr"/>
            <a:r>
              <a:rPr sz="900" b="0" i="0">
                <a:solidFill>
                  <a:srgbClr val="1A2844"/>
                </a:solidFill>
                <a:latin typeface="Montserrat"/>
              </a:rPr>
              <a:t>Crecimiento LatAm
vs. 2024</a:t>
            </a:r>
          </a:p>
        </p:txBody>
      </p:sp>
      <p:sp>
        <p:nvSpPr>
          <p:cNvPr id="20" name="Rectangle 19"/>
          <p:cNvSpPr/>
          <p:nvPr/>
        </p:nvSpPr>
        <p:spPr>
          <a:xfrm>
            <a:off x="8220456" y="3566160"/>
            <a:ext cx="3657600" cy="21031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0456" y="3657600"/>
            <a:ext cx="3657600" cy="1156716"/>
          </a:xfrm>
          <a:prstGeom prst="rect">
            <a:avLst/>
          </a:prstGeom>
          <a:noFill/>
        </p:spPr>
        <p:txBody>
          <a:bodyPr wrap="square">
            <a:spAutoFit/>
          </a:bodyPr>
          <a:lstStyle/>
          <a:p>
            <a:pPr algn="ctr"/>
            <a:r>
              <a:rPr sz="3000" b="1" i="0">
                <a:solidFill>
                  <a:srgbClr val="0D1F3C"/>
                </a:solidFill>
                <a:latin typeface="Montserrat"/>
              </a:rPr>
              <a:t>US$224M</a:t>
            </a:r>
          </a:p>
        </p:txBody>
      </p:sp>
      <p:sp>
        <p:nvSpPr>
          <p:cNvPr id="22" name="TextBox 21"/>
          <p:cNvSpPr txBox="1"/>
          <p:nvPr/>
        </p:nvSpPr>
        <p:spPr>
          <a:xfrm>
            <a:off x="8220456" y="4659782"/>
            <a:ext cx="3657600" cy="946403"/>
          </a:xfrm>
          <a:prstGeom prst="rect">
            <a:avLst/>
          </a:prstGeom>
          <a:noFill/>
        </p:spPr>
        <p:txBody>
          <a:bodyPr wrap="square">
            <a:spAutoFit/>
          </a:bodyPr>
          <a:lstStyle/>
          <a:p>
            <a:pPr algn="ctr"/>
            <a:r>
              <a:rPr sz="900" b="0" i="0">
                <a:solidFill>
                  <a:srgbClr val="1A2844"/>
                </a:solidFill>
                <a:latin typeface="Montserrat"/>
              </a:rPr>
              <a:t>Colombia 2025
(62 rondas)</a:t>
            </a:r>
          </a:p>
        </p:txBody>
      </p:sp>
      <p:sp>
        <p:nvSpPr>
          <p:cNvPr id="23" name="Rectangle 22"/>
          <p:cNvSpPr/>
          <p:nvPr/>
        </p:nvSpPr>
        <p:spPr>
          <a:xfrm>
            <a:off x="320040" y="5989320"/>
            <a:ext cx="11430000" cy="64008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035040"/>
            <a:ext cx="11064240" cy="530352"/>
          </a:xfrm>
          <a:prstGeom prst="rect">
            <a:avLst/>
          </a:prstGeom>
          <a:noFill/>
        </p:spPr>
        <p:txBody>
          <a:bodyPr wrap="square">
            <a:spAutoFit/>
          </a:bodyPr>
          <a:lstStyle/>
          <a:p>
            <a:pPr algn="l"/>
            <a:r>
              <a:rPr sz="900" b="0" i="0">
                <a:solidFill>
                  <a:srgbClr val="FFFFFF"/>
                </a:solidFill>
                <a:latin typeface="Montserrat"/>
              </a:rPr>
              <a:t>INSIGHT: El capital global se polarizó — EE.UU. concentró megamegarondas en IA mientras LatAm mostró madurez sin profundidad. Colombia contrajo por ausencia de megarondas, no por deterioro estructural del ecosistema.</a:t>
            </a:r>
          </a:p>
        </p:txBody>
      </p:sp>
      <p:sp>
        <p:nvSpPr>
          <p:cNvPr id="25" name="TextBox 24"/>
          <p:cNvSpPr txBox="1"/>
          <p:nvPr/>
        </p:nvSpPr>
        <p:spPr>
          <a:xfrm>
            <a:off x="365760" y="6583680"/>
            <a:ext cx="11430000" cy="228600"/>
          </a:xfrm>
          <a:prstGeom prst="rect">
            <a:avLst/>
          </a:prstGeom>
          <a:noFill/>
        </p:spPr>
        <p:txBody>
          <a:bodyPr wrap="square">
            <a:spAutoFit/>
          </a:bodyPr>
          <a:lstStyle/>
          <a:p>
            <a:pPr algn="l"/>
            <a:r>
              <a:rPr sz="700" b="0" i="0">
                <a:solidFill>
                  <a:srgbClr val="A0AABB"/>
                </a:solidFill>
                <a:latin typeface="Montserrat"/>
              </a:rPr>
              <a:t>Fuentes: Crunchbase 2026 · KPMG Colombia Tech Report 2026 · Cuántico VP – Startuplinks LatAm VC Report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502920"/>
          </a:xfrm>
          <a:prstGeom prst="rect">
            <a:avLst/>
          </a:prstGeom>
          <a:noFill/>
        </p:spPr>
        <p:txBody>
          <a:bodyPr wrap="square">
            <a:spAutoFit/>
          </a:bodyPr>
          <a:lstStyle/>
          <a:p>
            <a:pPr algn="l"/>
            <a:r>
              <a:rPr sz="2200" b="1" i="0">
                <a:solidFill>
                  <a:srgbClr val="FFFFFF"/>
                </a:solidFill>
                <a:latin typeface="Montserrat"/>
              </a:rPr>
              <a:t>América Latina: Mapa de Inversión 2025</a:t>
            </a:r>
          </a:p>
        </p:txBody>
      </p:sp>
      <p:sp>
        <p:nvSpPr>
          <p:cNvPr id="4" name="TextBox 3"/>
          <p:cNvSpPr txBox="1"/>
          <p:nvPr/>
        </p:nvSpPr>
        <p:spPr>
          <a:xfrm>
            <a:off x="457200" y="566928"/>
            <a:ext cx="10058400" cy="384048"/>
          </a:xfrm>
          <a:prstGeom prst="rect">
            <a:avLst/>
          </a:prstGeom>
          <a:noFill/>
        </p:spPr>
        <p:txBody>
          <a:bodyPr wrap="square">
            <a:spAutoFit/>
          </a:bodyPr>
          <a:lstStyle/>
          <a:p>
            <a:pPr algn="l"/>
            <a:r>
              <a:rPr sz="1100" b="0" i="0">
                <a:solidFill>
                  <a:srgbClr val="00B38A"/>
                </a:solidFill>
                <a:latin typeface="Montserrat"/>
              </a:rPr>
              <a:t>Brasil y México concentran el 73% del capital · Colombia y Chile lideran en eficiencia relativa</a:t>
            </a:r>
          </a:p>
        </p:txBody>
      </p:sp>
      <p:sp>
        <p:nvSpPr>
          <p:cNvPr id="5" name="TextBox 4"/>
          <p:cNvSpPr txBox="1"/>
          <p:nvPr/>
        </p:nvSpPr>
        <p:spPr>
          <a:xfrm>
            <a:off x="274320" y="1325880"/>
            <a:ext cx="2560320" cy="502920"/>
          </a:xfrm>
          <a:prstGeom prst="rect">
            <a:avLst/>
          </a:prstGeom>
          <a:noFill/>
        </p:spPr>
        <p:txBody>
          <a:bodyPr wrap="square">
            <a:spAutoFit/>
          </a:bodyPr>
          <a:lstStyle/>
          <a:p>
            <a:pPr algn="l"/>
            <a:r>
              <a:rPr sz="1200" b="1" i="0">
                <a:solidFill>
                  <a:srgbClr val="1A2844"/>
                </a:solidFill>
                <a:latin typeface="Montserrat"/>
              </a:rPr>
              <a:t>Brasil</a:t>
            </a:r>
          </a:p>
        </p:txBody>
      </p:sp>
      <p:sp>
        <p:nvSpPr>
          <p:cNvPr id="6" name="Rectangle 5"/>
          <p:cNvSpPr/>
          <p:nvPr/>
        </p:nvSpPr>
        <p:spPr>
          <a:xfrm>
            <a:off x="2926080" y="1298448"/>
            <a:ext cx="7772400" cy="475488"/>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19" y="1325880"/>
            <a:ext cx="1828800" cy="411480"/>
          </a:xfrm>
          <a:prstGeom prst="rect">
            <a:avLst/>
          </a:prstGeom>
          <a:noFill/>
        </p:spPr>
        <p:txBody>
          <a:bodyPr wrap="square">
            <a:spAutoFit/>
          </a:bodyPr>
          <a:lstStyle/>
          <a:p>
            <a:pPr algn="l"/>
            <a:r>
              <a:rPr sz="1100" b="1" i="0">
                <a:solidFill>
                  <a:srgbClr val="1A2844"/>
                </a:solidFill>
                <a:latin typeface="Montserrat"/>
              </a:rPr>
              <a:t>US$2,032M</a:t>
            </a:r>
          </a:p>
        </p:txBody>
      </p:sp>
      <p:sp>
        <p:nvSpPr>
          <p:cNvPr id="8" name="TextBox 7"/>
          <p:cNvSpPr txBox="1"/>
          <p:nvPr/>
        </p:nvSpPr>
        <p:spPr>
          <a:xfrm>
            <a:off x="12161519" y="1325880"/>
            <a:ext cx="1371600" cy="411480"/>
          </a:xfrm>
          <a:prstGeom prst="rect">
            <a:avLst/>
          </a:prstGeom>
          <a:noFill/>
        </p:spPr>
        <p:txBody>
          <a:bodyPr wrap="square">
            <a:spAutoFit/>
          </a:bodyPr>
          <a:lstStyle/>
          <a:p>
            <a:pPr algn="l"/>
            <a:r>
              <a:rPr sz="1000" b="1" i="0">
                <a:solidFill>
                  <a:srgbClr val="00B38A"/>
                </a:solidFill>
                <a:latin typeface="Montserrat"/>
              </a:rPr>
              <a:t>+15.6%</a:t>
            </a:r>
          </a:p>
        </p:txBody>
      </p:sp>
      <p:sp>
        <p:nvSpPr>
          <p:cNvPr id="9" name="TextBox 8"/>
          <p:cNvSpPr txBox="1"/>
          <p:nvPr/>
        </p:nvSpPr>
        <p:spPr>
          <a:xfrm>
            <a:off x="274320" y="2194560"/>
            <a:ext cx="2560320" cy="502920"/>
          </a:xfrm>
          <a:prstGeom prst="rect">
            <a:avLst/>
          </a:prstGeom>
          <a:noFill/>
        </p:spPr>
        <p:txBody>
          <a:bodyPr wrap="square">
            <a:spAutoFit/>
          </a:bodyPr>
          <a:lstStyle/>
          <a:p>
            <a:pPr algn="l"/>
            <a:r>
              <a:rPr sz="1200" b="0" i="0">
                <a:solidFill>
                  <a:srgbClr val="1A2844"/>
                </a:solidFill>
                <a:latin typeface="Montserrat"/>
              </a:rPr>
              <a:t>México</a:t>
            </a:r>
          </a:p>
        </p:txBody>
      </p:sp>
      <p:sp>
        <p:nvSpPr>
          <p:cNvPr id="10" name="Rectangle 9"/>
          <p:cNvSpPr/>
          <p:nvPr/>
        </p:nvSpPr>
        <p:spPr>
          <a:xfrm>
            <a:off x="2926080" y="2167128"/>
            <a:ext cx="3748499" cy="475488"/>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019" y="2194560"/>
            <a:ext cx="1828800" cy="411480"/>
          </a:xfrm>
          <a:prstGeom prst="rect">
            <a:avLst/>
          </a:prstGeom>
          <a:noFill/>
        </p:spPr>
        <p:txBody>
          <a:bodyPr wrap="square">
            <a:spAutoFit/>
          </a:bodyPr>
          <a:lstStyle/>
          <a:p>
            <a:pPr algn="l"/>
            <a:r>
              <a:rPr sz="1100" b="1" i="0">
                <a:solidFill>
                  <a:srgbClr val="1A2844"/>
                </a:solidFill>
                <a:latin typeface="Montserrat"/>
              </a:rPr>
              <a:t>US$980M</a:t>
            </a:r>
          </a:p>
        </p:txBody>
      </p:sp>
      <p:sp>
        <p:nvSpPr>
          <p:cNvPr id="12" name="TextBox 11"/>
          <p:cNvSpPr txBox="1"/>
          <p:nvPr/>
        </p:nvSpPr>
        <p:spPr>
          <a:xfrm>
            <a:off x="8137619" y="2194560"/>
            <a:ext cx="1371600" cy="411480"/>
          </a:xfrm>
          <a:prstGeom prst="rect">
            <a:avLst/>
          </a:prstGeom>
          <a:noFill/>
        </p:spPr>
        <p:txBody>
          <a:bodyPr wrap="square">
            <a:spAutoFit/>
          </a:bodyPr>
          <a:lstStyle/>
          <a:p>
            <a:pPr algn="l"/>
            <a:r>
              <a:rPr sz="1000" b="1" i="0">
                <a:solidFill>
                  <a:srgbClr val="00B38A"/>
                </a:solidFill>
                <a:latin typeface="Montserrat"/>
              </a:rPr>
              <a:t>+23.6%</a:t>
            </a:r>
          </a:p>
        </p:txBody>
      </p:sp>
      <p:sp>
        <p:nvSpPr>
          <p:cNvPr id="13" name="TextBox 12"/>
          <p:cNvSpPr txBox="1"/>
          <p:nvPr/>
        </p:nvSpPr>
        <p:spPr>
          <a:xfrm>
            <a:off x="274320" y="3063240"/>
            <a:ext cx="2560320" cy="502920"/>
          </a:xfrm>
          <a:prstGeom prst="rect">
            <a:avLst/>
          </a:prstGeom>
          <a:noFill/>
        </p:spPr>
        <p:txBody>
          <a:bodyPr wrap="square">
            <a:spAutoFit/>
          </a:bodyPr>
          <a:lstStyle/>
          <a:p>
            <a:pPr algn="l"/>
            <a:r>
              <a:rPr sz="1200" b="0" i="0">
                <a:solidFill>
                  <a:srgbClr val="1A2844"/>
                </a:solidFill>
                <a:latin typeface="Montserrat"/>
              </a:rPr>
              <a:t>Chile</a:t>
            </a:r>
          </a:p>
        </p:txBody>
      </p:sp>
      <p:sp>
        <p:nvSpPr>
          <p:cNvPr id="14" name="Rectangle 13"/>
          <p:cNvSpPr/>
          <p:nvPr/>
        </p:nvSpPr>
        <p:spPr>
          <a:xfrm>
            <a:off x="2926080" y="3035808"/>
            <a:ext cx="952425" cy="475488"/>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69945" y="3063240"/>
            <a:ext cx="1828800" cy="411480"/>
          </a:xfrm>
          <a:prstGeom prst="rect">
            <a:avLst/>
          </a:prstGeom>
          <a:noFill/>
        </p:spPr>
        <p:txBody>
          <a:bodyPr wrap="square">
            <a:spAutoFit/>
          </a:bodyPr>
          <a:lstStyle/>
          <a:p>
            <a:pPr algn="l"/>
            <a:r>
              <a:rPr sz="1100" b="1" i="0">
                <a:solidFill>
                  <a:srgbClr val="1A2844"/>
                </a:solidFill>
                <a:latin typeface="Montserrat"/>
              </a:rPr>
              <a:t>US$249M</a:t>
            </a:r>
          </a:p>
        </p:txBody>
      </p:sp>
      <p:sp>
        <p:nvSpPr>
          <p:cNvPr id="16" name="TextBox 15"/>
          <p:cNvSpPr txBox="1"/>
          <p:nvPr/>
        </p:nvSpPr>
        <p:spPr>
          <a:xfrm>
            <a:off x="274320" y="3931920"/>
            <a:ext cx="2560320" cy="502920"/>
          </a:xfrm>
          <a:prstGeom prst="rect">
            <a:avLst/>
          </a:prstGeom>
          <a:noFill/>
        </p:spPr>
        <p:txBody>
          <a:bodyPr wrap="square">
            <a:spAutoFit/>
          </a:bodyPr>
          <a:lstStyle/>
          <a:p>
            <a:pPr algn="l"/>
            <a:r>
              <a:rPr sz="1200" b="1" i="0">
                <a:solidFill>
                  <a:srgbClr val="1A2844"/>
                </a:solidFill>
                <a:latin typeface="Montserrat"/>
              </a:rPr>
              <a:t>Colombia</a:t>
            </a:r>
          </a:p>
        </p:txBody>
      </p:sp>
      <p:sp>
        <p:nvSpPr>
          <p:cNvPr id="17" name="Rectangle 16"/>
          <p:cNvSpPr/>
          <p:nvPr/>
        </p:nvSpPr>
        <p:spPr>
          <a:xfrm>
            <a:off x="2926080" y="3904487"/>
            <a:ext cx="856800" cy="47548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74320" y="3931920"/>
            <a:ext cx="1828800" cy="411480"/>
          </a:xfrm>
          <a:prstGeom prst="rect">
            <a:avLst/>
          </a:prstGeom>
          <a:noFill/>
        </p:spPr>
        <p:txBody>
          <a:bodyPr wrap="square">
            <a:spAutoFit/>
          </a:bodyPr>
          <a:lstStyle/>
          <a:p>
            <a:pPr algn="l"/>
            <a:r>
              <a:rPr sz="1100" b="1" i="0">
                <a:solidFill>
                  <a:srgbClr val="1A2844"/>
                </a:solidFill>
                <a:latin typeface="Montserrat"/>
              </a:rPr>
              <a:t>US$224M</a:t>
            </a:r>
          </a:p>
        </p:txBody>
      </p:sp>
      <p:sp>
        <p:nvSpPr>
          <p:cNvPr id="19" name="TextBox 18"/>
          <p:cNvSpPr txBox="1"/>
          <p:nvPr/>
        </p:nvSpPr>
        <p:spPr>
          <a:xfrm>
            <a:off x="5245920" y="3931920"/>
            <a:ext cx="1371600" cy="411480"/>
          </a:xfrm>
          <a:prstGeom prst="rect">
            <a:avLst/>
          </a:prstGeom>
          <a:noFill/>
        </p:spPr>
        <p:txBody>
          <a:bodyPr wrap="square">
            <a:spAutoFit/>
          </a:bodyPr>
          <a:lstStyle/>
          <a:p>
            <a:pPr algn="l"/>
            <a:r>
              <a:rPr sz="1000" b="1" i="0">
                <a:solidFill>
                  <a:srgbClr val="E54B4B"/>
                </a:solidFill>
                <a:latin typeface="Montserrat"/>
              </a:rPr>
              <a:t>-36.7%</a:t>
            </a:r>
          </a:p>
        </p:txBody>
      </p:sp>
      <p:sp>
        <p:nvSpPr>
          <p:cNvPr id="20" name="TextBox 19"/>
          <p:cNvSpPr txBox="1"/>
          <p:nvPr/>
        </p:nvSpPr>
        <p:spPr>
          <a:xfrm>
            <a:off x="274320" y="4800600"/>
            <a:ext cx="2560320" cy="502920"/>
          </a:xfrm>
          <a:prstGeom prst="rect">
            <a:avLst/>
          </a:prstGeom>
          <a:noFill/>
        </p:spPr>
        <p:txBody>
          <a:bodyPr wrap="square">
            <a:spAutoFit/>
          </a:bodyPr>
          <a:lstStyle/>
          <a:p>
            <a:pPr algn="l"/>
            <a:r>
              <a:rPr sz="1200" b="0" i="0">
                <a:solidFill>
                  <a:srgbClr val="1A2844"/>
                </a:solidFill>
                <a:latin typeface="Montserrat"/>
              </a:rPr>
              <a:t>Argentina</a:t>
            </a:r>
          </a:p>
        </p:txBody>
      </p:sp>
      <p:sp>
        <p:nvSpPr>
          <p:cNvPr id="21" name="Rectangle 20"/>
          <p:cNvSpPr/>
          <p:nvPr/>
        </p:nvSpPr>
        <p:spPr>
          <a:xfrm>
            <a:off x="2926080" y="4773168"/>
            <a:ext cx="657900" cy="475488"/>
          </a:xfrm>
          <a:prstGeom prst="rect">
            <a:avLst/>
          </a:prstGeom>
          <a:solidFill>
            <a:srgbClr val="E5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5419" y="4800600"/>
            <a:ext cx="1828800" cy="411480"/>
          </a:xfrm>
          <a:prstGeom prst="rect">
            <a:avLst/>
          </a:prstGeom>
          <a:noFill/>
        </p:spPr>
        <p:txBody>
          <a:bodyPr wrap="square">
            <a:spAutoFit/>
          </a:bodyPr>
          <a:lstStyle/>
          <a:p>
            <a:pPr algn="l"/>
            <a:r>
              <a:rPr sz="1100" b="1" i="0">
                <a:solidFill>
                  <a:srgbClr val="1A2844"/>
                </a:solidFill>
                <a:latin typeface="Montserrat"/>
              </a:rPr>
              <a:t>US$172M</a:t>
            </a:r>
          </a:p>
        </p:txBody>
      </p:sp>
      <p:sp>
        <p:nvSpPr>
          <p:cNvPr id="23" name="TextBox 22"/>
          <p:cNvSpPr txBox="1"/>
          <p:nvPr/>
        </p:nvSpPr>
        <p:spPr>
          <a:xfrm>
            <a:off x="5047020" y="4800600"/>
            <a:ext cx="1371600" cy="411480"/>
          </a:xfrm>
          <a:prstGeom prst="rect">
            <a:avLst/>
          </a:prstGeom>
          <a:noFill/>
        </p:spPr>
        <p:txBody>
          <a:bodyPr wrap="square">
            <a:spAutoFit/>
          </a:bodyPr>
          <a:lstStyle/>
          <a:p>
            <a:pPr algn="l"/>
            <a:r>
              <a:rPr sz="1000" b="1" i="0">
                <a:solidFill>
                  <a:srgbClr val="E54B4B"/>
                </a:solidFill>
                <a:latin typeface="Montserrat"/>
              </a:rPr>
              <a:t>-58.8%</a:t>
            </a:r>
          </a:p>
        </p:txBody>
      </p:sp>
      <p:sp>
        <p:nvSpPr>
          <p:cNvPr id="24" name="TextBox 23"/>
          <p:cNvSpPr txBox="1"/>
          <p:nvPr/>
        </p:nvSpPr>
        <p:spPr>
          <a:xfrm>
            <a:off x="274320" y="5669280"/>
            <a:ext cx="2560320" cy="502920"/>
          </a:xfrm>
          <a:prstGeom prst="rect">
            <a:avLst/>
          </a:prstGeom>
          <a:noFill/>
        </p:spPr>
        <p:txBody>
          <a:bodyPr wrap="square">
            <a:spAutoFit/>
          </a:bodyPr>
          <a:lstStyle/>
          <a:p>
            <a:pPr algn="l"/>
            <a:r>
              <a:rPr sz="1200" b="0" i="0">
                <a:solidFill>
                  <a:srgbClr val="1A2844"/>
                </a:solidFill>
                <a:latin typeface="Montserrat"/>
              </a:rPr>
              <a:t>Uruguay</a:t>
            </a:r>
          </a:p>
        </p:txBody>
      </p:sp>
      <p:sp>
        <p:nvSpPr>
          <p:cNvPr id="25" name="Rectangle 24"/>
          <p:cNvSpPr/>
          <p:nvPr/>
        </p:nvSpPr>
        <p:spPr>
          <a:xfrm>
            <a:off x="2926080" y="5641848"/>
            <a:ext cx="153000" cy="475488"/>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70520" y="5669280"/>
            <a:ext cx="1828800" cy="411480"/>
          </a:xfrm>
          <a:prstGeom prst="rect">
            <a:avLst/>
          </a:prstGeom>
          <a:noFill/>
        </p:spPr>
        <p:txBody>
          <a:bodyPr wrap="square">
            <a:spAutoFit/>
          </a:bodyPr>
          <a:lstStyle/>
          <a:p>
            <a:pPr algn="l"/>
            <a:r>
              <a:rPr sz="1100" b="1" i="0">
                <a:solidFill>
                  <a:srgbClr val="1A2844"/>
                </a:solidFill>
                <a:latin typeface="Montserrat"/>
              </a:rPr>
              <a:t>US$40M</a:t>
            </a:r>
          </a:p>
        </p:txBody>
      </p:sp>
      <p:sp>
        <p:nvSpPr>
          <p:cNvPr id="27" name="TextBox 26"/>
          <p:cNvSpPr txBox="1"/>
          <p:nvPr/>
        </p:nvSpPr>
        <p:spPr>
          <a:xfrm>
            <a:off x="4542120" y="5669280"/>
            <a:ext cx="1371600" cy="411480"/>
          </a:xfrm>
          <a:prstGeom prst="rect">
            <a:avLst/>
          </a:prstGeom>
          <a:noFill/>
        </p:spPr>
        <p:txBody>
          <a:bodyPr wrap="square">
            <a:spAutoFit/>
          </a:bodyPr>
          <a:lstStyle/>
          <a:p>
            <a:pPr algn="l"/>
            <a:r>
              <a:rPr sz="1000" b="1" i="0">
                <a:solidFill>
                  <a:srgbClr val="00B38A"/>
                </a:solidFill>
                <a:latin typeface="Montserrat"/>
              </a:rPr>
              <a:t>+100.0%</a:t>
            </a:r>
          </a:p>
        </p:txBody>
      </p:sp>
      <p:sp>
        <p:nvSpPr>
          <p:cNvPr id="28" name="Rectangle 27"/>
          <p:cNvSpPr/>
          <p:nvPr/>
        </p:nvSpPr>
        <p:spPr>
          <a:xfrm>
            <a:off x="274320" y="6400800"/>
            <a:ext cx="11430000" cy="256032"/>
          </a:xfrm>
          <a:prstGeom prst="rect">
            <a:avLst/>
          </a:prstGeom>
          <a:solidFill>
            <a:srgbClr val="E0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419088"/>
            <a:ext cx="10972800" cy="219456"/>
          </a:xfrm>
          <a:prstGeom prst="rect">
            <a:avLst/>
          </a:prstGeom>
          <a:noFill/>
        </p:spPr>
        <p:txBody>
          <a:bodyPr wrap="square">
            <a:spAutoFit/>
          </a:bodyPr>
          <a:lstStyle/>
          <a:p>
            <a:pPr algn="l"/>
            <a:r>
              <a:rPr sz="800" b="0" i="0">
                <a:solidFill>
                  <a:srgbClr val="1A2844"/>
                </a:solidFill>
                <a:latin typeface="Montserrat"/>
              </a:rPr>
              <a:t>Colombia: La contracción refleja ausencia de megarondas, no deterioro. Fintech lidera con 59% del capital (US$505M, ticket promedio US$11.2M). Nuevos fondos locales consolidan el pipeline: Meridian 75, Alive Ventures, EWA Capital, LatinLeap.</a:t>
            </a:r>
          </a:p>
        </p:txBody>
      </p:sp>
      <p:sp>
        <p:nvSpPr>
          <p:cNvPr id="30" name="TextBox 29"/>
          <p:cNvSpPr txBox="1"/>
          <p:nvPr/>
        </p:nvSpPr>
        <p:spPr>
          <a:xfrm>
            <a:off x="365760" y="6583680"/>
            <a:ext cx="11430000" cy="228600"/>
          </a:xfrm>
          <a:prstGeom prst="rect">
            <a:avLst/>
          </a:prstGeom>
          <a:noFill/>
        </p:spPr>
        <p:txBody>
          <a:bodyPr wrap="square">
            <a:spAutoFit/>
          </a:bodyPr>
          <a:lstStyle/>
          <a:p>
            <a:pPr algn="l"/>
            <a:r>
              <a:rPr sz="700" b="0" i="0">
                <a:solidFill>
                  <a:srgbClr val="A0AABB"/>
                </a:solidFill>
                <a:latin typeface="Montserrat"/>
              </a:rPr>
              <a:t>Fuente: Cuántico VP – Startuplinks · Latin America VC Report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502920"/>
          </a:xfrm>
          <a:prstGeom prst="rect">
            <a:avLst/>
          </a:prstGeom>
          <a:noFill/>
        </p:spPr>
        <p:txBody>
          <a:bodyPr wrap="square">
            <a:spAutoFit/>
          </a:bodyPr>
          <a:lstStyle/>
          <a:p>
            <a:pPr algn="l"/>
            <a:r>
              <a:rPr sz="2200" b="1" i="0">
                <a:solidFill>
                  <a:srgbClr val="FFFFFF"/>
                </a:solidFill>
                <a:latin typeface="Montserrat"/>
              </a:rPr>
              <a:t>Portafolio Cube Ventures: Snapshot al Cierre 2025</a:t>
            </a:r>
          </a:p>
        </p:txBody>
      </p:sp>
      <p:sp>
        <p:nvSpPr>
          <p:cNvPr id="4" name="TextBox 3"/>
          <p:cNvSpPr txBox="1"/>
          <p:nvPr/>
        </p:nvSpPr>
        <p:spPr>
          <a:xfrm>
            <a:off x="457200" y="566928"/>
            <a:ext cx="10058400" cy="384048"/>
          </a:xfrm>
          <a:prstGeom prst="rect">
            <a:avLst/>
          </a:prstGeom>
          <a:noFill/>
        </p:spPr>
        <p:txBody>
          <a:bodyPr wrap="square">
            <a:spAutoFit/>
          </a:bodyPr>
          <a:lstStyle/>
          <a:p>
            <a:pPr algn="l"/>
            <a:r>
              <a:rPr sz="1100" b="0" i="0">
                <a:solidFill>
                  <a:srgbClr val="00B38A"/>
                </a:solidFill>
                <a:latin typeface="Montserrat"/>
              </a:rPr>
              <a:t>Valor concentrado en Tier 1 · Base depurada · 23 startups activas</a:t>
            </a:r>
          </a:p>
        </p:txBody>
      </p:sp>
      <p:sp>
        <p:nvSpPr>
          <p:cNvPr id="5" name="Rectangle 4"/>
          <p:cNvSpPr/>
          <p:nvPr/>
        </p:nvSpPr>
        <p:spPr>
          <a:xfrm>
            <a:off x="320040" y="1097280"/>
            <a:ext cx="3657600" cy="164592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1188720"/>
            <a:ext cx="3474720" cy="822960"/>
          </a:xfrm>
          <a:prstGeom prst="rect">
            <a:avLst/>
          </a:prstGeom>
          <a:noFill/>
        </p:spPr>
        <p:txBody>
          <a:bodyPr wrap="square">
            <a:spAutoFit/>
          </a:bodyPr>
          <a:lstStyle/>
          <a:p>
            <a:pPr algn="ctr"/>
            <a:r>
              <a:rPr sz="2600" b="1" i="0">
                <a:solidFill>
                  <a:srgbClr val="FFFFFF"/>
                </a:solidFill>
                <a:latin typeface="Montserrat"/>
              </a:rPr>
              <a:t>US$916,881</a:t>
            </a:r>
          </a:p>
        </p:txBody>
      </p:sp>
      <p:sp>
        <p:nvSpPr>
          <p:cNvPr id="7" name="TextBox 6"/>
          <p:cNvSpPr txBox="1"/>
          <p:nvPr/>
        </p:nvSpPr>
        <p:spPr>
          <a:xfrm>
            <a:off x="411479" y="1993392"/>
            <a:ext cx="3474720" cy="658368"/>
          </a:xfrm>
          <a:prstGeom prst="rect">
            <a:avLst/>
          </a:prstGeom>
          <a:noFill/>
        </p:spPr>
        <p:txBody>
          <a:bodyPr wrap="square">
            <a:spAutoFit/>
          </a:bodyPr>
          <a:lstStyle/>
          <a:p>
            <a:pPr algn="ctr"/>
            <a:r>
              <a:rPr sz="900" b="0" i="0">
                <a:solidFill>
                  <a:srgbClr val="FFFFFF"/>
                </a:solidFill>
                <a:latin typeface="Montserrat"/>
              </a:rPr>
              <a:t>Valor Total del Portafolio
Cierre 2025</a:t>
            </a:r>
          </a:p>
        </p:txBody>
      </p:sp>
      <p:sp>
        <p:nvSpPr>
          <p:cNvPr id="8" name="Rectangle 7"/>
          <p:cNvSpPr/>
          <p:nvPr/>
        </p:nvSpPr>
        <p:spPr>
          <a:xfrm>
            <a:off x="4270248" y="1097280"/>
            <a:ext cx="3657600" cy="164592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61688" y="1188720"/>
            <a:ext cx="3474720" cy="822960"/>
          </a:xfrm>
          <a:prstGeom prst="rect">
            <a:avLst/>
          </a:prstGeom>
          <a:noFill/>
        </p:spPr>
        <p:txBody>
          <a:bodyPr wrap="square">
            <a:spAutoFit/>
          </a:bodyPr>
          <a:lstStyle/>
          <a:p>
            <a:pPr algn="ctr"/>
            <a:r>
              <a:rPr sz="2600" b="1" i="0">
                <a:solidFill>
                  <a:srgbClr val="FFFFFF"/>
                </a:solidFill>
                <a:latin typeface="Montserrat"/>
              </a:rPr>
              <a:t>US$1,444,802</a:t>
            </a:r>
          </a:p>
        </p:txBody>
      </p:sp>
      <p:sp>
        <p:nvSpPr>
          <p:cNvPr id="10" name="TextBox 9"/>
          <p:cNvSpPr txBox="1"/>
          <p:nvPr/>
        </p:nvSpPr>
        <p:spPr>
          <a:xfrm>
            <a:off x="4361688" y="1993392"/>
            <a:ext cx="3474720" cy="658368"/>
          </a:xfrm>
          <a:prstGeom prst="rect">
            <a:avLst/>
          </a:prstGeom>
          <a:noFill/>
        </p:spPr>
        <p:txBody>
          <a:bodyPr wrap="square">
            <a:spAutoFit/>
          </a:bodyPr>
          <a:lstStyle/>
          <a:p>
            <a:pPr algn="ctr"/>
            <a:r>
              <a:rPr sz="900" b="0" i="0">
                <a:solidFill>
                  <a:srgbClr val="FFFFFF"/>
                </a:solidFill>
                <a:latin typeface="Montserrat"/>
              </a:rPr>
              <a:t>Valoración Potencial 2026
(Escenario Ponderado)</a:t>
            </a:r>
          </a:p>
        </p:txBody>
      </p:sp>
      <p:sp>
        <p:nvSpPr>
          <p:cNvPr id="11" name="Rectangle 10"/>
          <p:cNvSpPr/>
          <p:nvPr/>
        </p:nvSpPr>
        <p:spPr>
          <a:xfrm>
            <a:off x="8220456" y="1097280"/>
            <a:ext cx="3657600" cy="16459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11896" y="1188720"/>
            <a:ext cx="3474720" cy="822960"/>
          </a:xfrm>
          <a:prstGeom prst="rect">
            <a:avLst/>
          </a:prstGeom>
          <a:noFill/>
        </p:spPr>
        <p:txBody>
          <a:bodyPr wrap="square">
            <a:spAutoFit/>
          </a:bodyPr>
          <a:lstStyle/>
          <a:p>
            <a:pPr algn="ctr"/>
            <a:r>
              <a:rPr sz="2600" b="1" i="0">
                <a:solidFill>
                  <a:srgbClr val="0D1F3C"/>
                </a:solidFill>
                <a:latin typeface="Montserrat"/>
              </a:rPr>
              <a:t>+57.6%</a:t>
            </a:r>
          </a:p>
        </p:txBody>
      </p:sp>
      <p:sp>
        <p:nvSpPr>
          <p:cNvPr id="13" name="TextBox 12"/>
          <p:cNvSpPr txBox="1"/>
          <p:nvPr/>
        </p:nvSpPr>
        <p:spPr>
          <a:xfrm>
            <a:off x="8311896" y="1993392"/>
            <a:ext cx="3474720" cy="658368"/>
          </a:xfrm>
          <a:prstGeom prst="rect">
            <a:avLst/>
          </a:prstGeom>
          <a:noFill/>
        </p:spPr>
        <p:txBody>
          <a:bodyPr wrap="square">
            <a:spAutoFit/>
          </a:bodyPr>
          <a:lstStyle/>
          <a:p>
            <a:pPr algn="ctr"/>
            <a:r>
              <a:rPr sz="900" b="0" i="0">
                <a:solidFill>
                  <a:srgbClr val="0D1F3C"/>
                </a:solidFill>
                <a:latin typeface="Montserrat"/>
              </a:rPr>
              <a:t>Crecimiento Potencial
2025 → 2026</a:t>
            </a:r>
          </a:p>
        </p:txBody>
      </p:sp>
      <p:sp>
        <p:nvSpPr>
          <p:cNvPr id="14" name="Rectangle 13"/>
          <p:cNvSpPr/>
          <p:nvPr/>
        </p:nvSpPr>
        <p:spPr>
          <a:xfrm>
            <a:off x="320040" y="2926080"/>
            <a:ext cx="3657600" cy="23774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2926080"/>
            <a:ext cx="3657600" cy="32004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 y="2944368"/>
            <a:ext cx="3438144" cy="274320"/>
          </a:xfrm>
          <a:prstGeom prst="rect">
            <a:avLst/>
          </a:prstGeom>
          <a:noFill/>
        </p:spPr>
        <p:txBody>
          <a:bodyPr wrap="square">
            <a:spAutoFit/>
          </a:bodyPr>
          <a:lstStyle/>
          <a:p>
            <a:pPr algn="l"/>
            <a:r>
              <a:rPr sz="1100" b="1" i="0">
                <a:solidFill>
                  <a:srgbClr val="FFFFFF"/>
                </a:solidFill>
                <a:latin typeface="Montserrat"/>
              </a:rPr>
              <a:t>Tier 1</a:t>
            </a:r>
          </a:p>
        </p:txBody>
      </p:sp>
      <p:sp>
        <p:nvSpPr>
          <p:cNvPr id="17" name="TextBox 16"/>
          <p:cNvSpPr txBox="1"/>
          <p:nvPr/>
        </p:nvSpPr>
        <p:spPr>
          <a:xfrm>
            <a:off x="429768" y="3337560"/>
            <a:ext cx="3438144" cy="640080"/>
          </a:xfrm>
          <a:prstGeom prst="rect">
            <a:avLst/>
          </a:prstGeom>
          <a:noFill/>
        </p:spPr>
        <p:txBody>
          <a:bodyPr wrap="square">
            <a:spAutoFit/>
          </a:bodyPr>
          <a:lstStyle/>
          <a:p>
            <a:pPr algn="ctr"/>
            <a:r>
              <a:rPr sz="2200" b="1" i="0">
                <a:solidFill>
                  <a:srgbClr val="00B38A"/>
                </a:solidFill>
                <a:latin typeface="Montserrat"/>
              </a:rPr>
              <a:t>US$767,834</a:t>
            </a:r>
          </a:p>
        </p:txBody>
      </p:sp>
      <p:sp>
        <p:nvSpPr>
          <p:cNvPr id="18" name="TextBox 17"/>
          <p:cNvSpPr txBox="1"/>
          <p:nvPr/>
        </p:nvSpPr>
        <p:spPr>
          <a:xfrm>
            <a:off x="429768" y="3931920"/>
            <a:ext cx="3438144" cy="365760"/>
          </a:xfrm>
          <a:prstGeom prst="rect">
            <a:avLst/>
          </a:prstGeom>
          <a:noFill/>
        </p:spPr>
        <p:txBody>
          <a:bodyPr wrap="square">
            <a:spAutoFit/>
          </a:bodyPr>
          <a:lstStyle/>
          <a:p>
            <a:pPr algn="ctr"/>
            <a:r>
              <a:rPr sz="1400" b="1" i="0">
                <a:solidFill>
                  <a:srgbClr val="1A2844"/>
                </a:solidFill>
                <a:latin typeface="Montserrat"/>
              </a:rPr>
              <a:t>83.7%</a:t>
            </a:r>
          </a:p>
        </p:txBody>
      </p:sp>
      <p:sp>
        <p:nvSpPr>
          <p:cNvPr id="19" name="TextBox 18"/>
          <p:cNvSpPr txBox="1"/>
          <p:nvPr/>
        </p:nvSpPr>
        <p:spPr>
          <a:xfrm>
            <a:off x="429768" y="4343400"/>
            <a:ext cx="3438144" cy="822960"/>
          </a:xfrm>
          <a:prstGeom prst="rect">
            <a:avLst/>
          </a:prstGeom>
          <a:noFill/>
        </p:spPr>
        <p:txBody>
          <a:bodyPr wrap="square">
            <a:spAutoFit/>
          </a:bodyPr>
          <a:lstStyle/>
          <a:p>
            <a:pPr algn="ctr"/>
            <a:r>
              <a:rPr sz="900" b="0" i="0">
                <a:solidFill>
                  <a:srgbClr val="1A2844"/>
                </a:solidFill>
                <a:latin typeface="Montserrat"/>
              </a:rPr>
              <a:t>Motor de valor
7 empresas activas</a:t>
            </a:r>
          </a:p>
        </p:txBody>
      </p:sp>
      <p:sp>
        <p:nvSpPr>
          <p:cNvPr id="20" name="Rectangle 19"/>
          <p:cNvSpPr/>
          <p:nvPr/>
        </p:nvSpPr>
        <p:spPr>
          <a:xfrm>
            <a:off x="4270248" y="2926080"/>
            <a:ext cx="3657600" cy="23774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70248" y="2926080"/>
            <a:ext cx="3657600" cy="3200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9976" y="2944368"/>
            <a:ext cx="3438144" cy="274320"/>
          </a:xfrm>
          <a:prstGeom prst="rect">
            <a:avLst/>
          </a:prstGeom>
          <a:noFill/>
        </p:spPr>
        <p:txBody>
          <a:bodyPr wrap="square">
            <a:spAutoFit/>
          </a:bodyPr>
          <a:lstStyle/>
          <a:p>
            <a:pPr algn="l"/>
            <a:r>
              <a:rPr sz="1100" b="1" i="0">
                <a:solidFill>
                  <a:srgbClr val="FFFFFF"/>
                </a:solidFill>
                <a:latin typeface="Montserrat"/>
              </a:rPr>
              <a:t>Tier 2</a:t>
            </a:r>
          </a:p>
        </p:txBody>
      </p:sp>
      <p:sp>
        <p:nvSpPr>
          <p:cNvPr id="23" name="TextBox 22"/>
          <p:cNvSpPr txBox="1"/>
          <p:nvPr/>
        </p:nvSpPr>
        <p:spPr>
          <a:xfrm>
            <a:off x="4379976" y="3337560"/>
            <a:ext cx="3438144" cy="640080"/>
          </a:xfrm>
          <a:prstGeom prst="rect">
            <a:avLst/>
          </a:prstGeom>
          <a:noFill/>
        </p:spPr>
        <p:txBody>
          <a:bodyPr wrap="square">
            <a:spAutoFit/>
          </a:bodyPr>
          <a:lstStyle/>
          <a:p>
            <a:pPr algn="ctr"/>
            <a:r>
              <a:rPr sz="2200" b="1" i="0">
                <a:solidFill>
                  <a:srgbClr val="0D1F3C"/>
                </a:solidFill>
                <a:latin typeface="Montserrat"/>
              </a:rPr>
              <a:t>US$117,301</a:t>
            </a:r>
          </a:p>
        </p:txBody>
      </p:sp>
      <p:sp>
        <p:nvSpPr>
          <p:cNvPr id="24" name="TextBox 23"/>
          <p:cNvSpPr txBox="1"/>
          <p:nvPr/>
        </p:nvSpPr>
        <p:spPr>
          <a:xfrm>
            <a:off x="4379976" y="3931920"/>
            <a:ext cx="3438144" cy="365760"/>
          </a:xfrm>
          <a:prstGeom prst="rect">
            <a:avLst/>
          </a:prstGeom>
          <a:noFill/>
        </p:spPr>
        <p:txBody>
          <a:bodyPr wrap="square">
            <a:spAutoFit/>
          </a:bodyPr>
          <a:lstStyle/>
          <a:p>
            <a:pPr algn="ctr"/>
            <a:r>
              <a:rPr sz="1400" b="1" i="0">
                <a:solidFill>
                  <a:srgbClr val="1A2844"/>
                </a:solidFill>
                <a:latin typeface="Montserrat"/>
              </a:rPr>
              <a:t>12.8%</a:t>
            </a:r>
          </a:p>
        </p:txBody>
      </p:sp>
      <p:sp>
        <p:nvSpPr>
          <p:cNvPr id="25" name="TextBox 24"/>
          <p:cNvSpPr txBox="1"/>
          <p:nvPr/>
        </p:nvSpPr>
        <p:spPr>
          <a:xfrm>
            <a:off x="4379976" y="4343400"/>
            <a:ext cx="3438144" cy="822960"/>
          </a:xfrm>
          <a:prstGeom prst="rect">
            <a:avLst/>
          </a:prstGeom>
          <a:noFill/>
        </p:spPr>
        <p:txBody>
          <a:bodyPr wrap="square">
            <a:spAutoFit/>
          </a:bodyPr>
          <a:lstStyle/>
          <a:p>
            <a:pPr algn="ctr"/>
            <a:r>
              <a:rPr sz="900" b="0" i="0">
                <a:solidFill>
                  <a:srgbClr val="1A2844"/>
                </a:solidFill>
                <a:latin typeface="Montserrat"/>
              </a:rPr>
              <a:t>Recomposición
8 empresas activas</a:t>
            </a:r>
          </a:p>
        </p:txBody>
      </p:sp>
      <p:sp>
        <p:nvSpPr>
          <p:cNvPr id="26" name="Rectangle 25"/>
          <p:cNvSpPr/>
          <p:nvPr/>
        </p:nvSpPr>
        <p:spPr>
          <a:xfrm>
            <a:off x="8220456" y="2926080"/>
            <a:ext cx="3657600" cy="23774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0456" y="2926080"/>
            <a:ext cx="3657600" cy="320040"/>
          </a:xfrm>
          <a:prstGeom prst="rect">
            <a:avLst/>
          </a:prstGeom>
          <a:solidFill>
            <a:srgbClr val="A0AA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0183" y="2944368"/>
            <a:ext cx="3438144" cy="274320"/>
          </a:xfrm>
          <a:prstGeom prst="rect">
            <a:avLst/>
          </a:prstGeom>
          <a:noFill/>
        </p:spPr>
        <p:txBody>
          <a:bodyPr wrap="square">
            <a:spAutoFit/>
          </a:bodyPr>
          <a:lstStyle/>
          <a:p>
            <a:pPr algn="l"/>
            <a:r>
              <a:rPr sz="1100" b="1" i="0">
                <a:solidFill>
                  <a:srgbClr val="FFFFFF"/>
                </a:solidFill>
                <a:latin typeface="Montserrat"/>
              </a:rPr>
              <a:t>Tier 3</a:t>
            </a:r>
          </a:p>
        </p:txBody>
      </p:sp>
      <p:sp>
        <p:nvSpPr>
          <p:cNvPr id="29" name="TextBox 28"/>
          <p:cNvSpPr txBox="1"/>
          <p:nvPr/>
        </p:nvSpPr>
        <p:spPr>
          <a:xfrm>
            <a:off x="8330183" y="3337560"/>
            <a:ext cx="3438144" cy="640080"/>
          </a:xfrm>
          <a:prstGeom prst="rect">
            <a:avLst/>
          </a:prstGeom>
          <a:noFill/>
        </p:spPr>
        <p:txBody>
          <a:bodyPr wrap="square">
            <a:spAutoFit/>
          </a:bodyPr>
          <a:lstStyle/>
          <a:p>
            <a:pPr algn="ctr"/>
            <a:r>
              <a:rPr sz="2200" b="1" i="0">
                <a:solidFill>
                  <a:srgbClr val="A0AABB"/>
                </a:solidFill>
                <a:latin typeface="Montserrat"/>
              </a:rPr>
              <a:t>US$31,746</a:t>
            </a:r>
          </a:p>
        </p:txBody>
      </p:sp>
      <p:sp>
        <p:nvSpPr>
          <p:cNvPr id="30" name="TextBox 29"/>
          <p:cNvSpPr txBox="1"/>
          <p:nvPr/>
        </p:nvSpPr>
        <p:spPr>
          <a:xfrm>
            <a:off x="8330183" y="3931920"/>
            <a:ext cx="3438144" cy="365760"/>
          </a:xfrm>
          <a:prstGeom prst="rect">
            <a:avLst/>
          </a:prstGeom>
          <a:noFill/>
        </p:spPr>
        <p:txBody>
          <a:bodyPr wrap="square">
            <a:spAutoFit/>
          </a:bodyPr>
          <a:lstStyle/>
          <a:p>
            <a:pPr algn="ctr"/>
            <a:r>
              <a:rPr sz="1400" b="1" i="0">
                <a:solidFill>
                  <a:srgbClr val="1A2844"/>
                </a:solidFill>
                <a:latin typeface="Montserrat"/>
              </a:rPr>
              <a:t>3.5%</a:t>
            </a:r>
          </a:p>
        </p:txBody>
      </p:sp>
      <p:sp>
        <p:nvSpPr>
          <p:cNvPr id="31" name="TextBox 30"/>
          <p:cNvSpPr txBox="1"/>
          <p:nvPr/>
        </p:nvSpPr>
        <p:spPr>
          <a:xfrm>
            <a:off x="8330183" y="4343400"/>
            <a:ext cx="3438144" cy="822960"/>
          </a:xfrm>
          <a:prstGeom prst="rect">
            <a:avLst/>
          </a:prstGeom>
          <a:noFill/>
        </p:spPr>
        <p:txBody>
          <a:bodyPr wrap="square">
            <a:spAutoFit/>
          </a:bodyPr>
          <a:lstStyle/>
          <a:p>
            <a:pPr algn="ctr"/>
            <a:r>
              <a:rPr sz="900" b="0" i="0">
                <a:solidFill>
                  <a:srgbClr val="1A2844"/>
                </a:solidFill>
                <a:latin typeface="Montserrat"/>
              </a:rPr>
              <a:t>Depuración natural
6 activas · 76% cerradas</a:t>
            </a:r>
          </a:p>
        </p:txBody>
      </p:sp>
      <p:sp>
        <p:nvSpPr>
          <p:cNvPr id="32" name="Rectangle 31"/>
          <p:cNvSpPr/>
          <p:nvPr/>
        </p:nvSpPr>
        <p:spPr>
          <a:xfrm>
            <a:off x="320040" y="5486400"/>
            <a:ext cx="11430000" cy="73152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5532120"/>
            <a:ext cx="1645920" cy="347472"/>
          </a:xfrm>
          <a:prstGeom prst="rect">
            <a:avLst/>
          </a:prstGeom>
          <a:noFill/>
        </p:spPr>
        <p:txBody>
          <a:bodyPr wrap="square">
            <a:spAutoFit/>
          </a:bodyPr>
          <a:lstStyle/>
          <a:p>
            <a:pPr algn="ctr"/>
            <a:r>
              <a:rPr sz="1800" b="1" i="0">
                <a:solidFill>
                  <a:srgbClr val="00B38A"/>
                </a:solidFill>
                <a:latin typeface="Montserrat"/>
              </a:rPr>
              <a:t>111</a:t>
            </a:r>
          </a:p>
        </p:txBody>
      </p:sp>
      <p:sp>
        <p:nvSpPr>
          <p:cNvPr id="34" name="TextBox 33"/>
          <p:cNvSpPr txBox="1"/>
          <p:nvPr/>
        </p:nvSpPr>
        <p:spPr>
          <a:xfrm>
            <a:off x="457200" y="5870448"/>
            <a:ext cx="1645920" cy="274320"/>
          </a:xfrm>
          <a:prstGeom prst="rect">
            <a:avLst/>
          </a:prstGeom>
          <a:noFill/>
        </p:spPr>
        <p:txBody>
          <a:bodyPr wrap="square">
            <a:spAutoFit/>
          </a:bodyPr>
          <a:lstStyle/>
          <a:p>
            <a:pPr algn="ctr"/>
            <a:r>
              <a:rPr sz="750" b="0" i="0">
                <a:solidFill>
                  <a:srgbClr val="FFFFFF"/>
                </a:solidFill>
                <a:latin typeface="Montserrat"/>
              </a:rPr>
              <a:t>Compañías históricas</a:t>
            </a:r>
          </a:p>
        </p:txBody>
      </p:sp>
      <p:sp>
        <p:nvSpPr>
          <p:cNvPr id="35" name="TextBox 34"/>
          <p:cNvSpPr txBox="1"/>
          <p:nvPr/>
        </p:nvSpPr>
        <p:spPr>
          <a:xfrm>
            <a:off x="2340864" y="5532120"/>
            <a:ext cx="1645920" cy="347472"/>
          </a:xfrm>
          <a:prstGeom prst="rect">
            <a:avLst/>
          </a:prstGeom>
          <a:noFill/>
        </p:spPr>
        <p:txBody>
          <a:bodyPr wrap="square">
            <a:spAutoFit/>
          </a:bodyPr>
          <a:lstStyle/>
          <a:p>
            <a:pPr algn="ctr"/>
            <a:r>
              <a:rPr sz="1800" b="1" i="0">
                <a:solidFill>
                  <a:srgbClr val="00B38A"/>
                </a:solidFill>
                <a:latin typeface="Montserrat"/>
              </a:rPr>
              <a:t>23</a:t>
            </a:r>
          </a:p>
        </p:txBody>
      </p:sp>
      <p:sp>
        <p:nvSpPr>
          <p:cNvPr id="36" name="TextBox 35"/>
          <p:cNvSpPr txBox="1"/>
          <p:nvPr/>
        </p:nvSpPr>
        <p:spPr>
          <a:xfrm>
            <a:off x="2340864" y="5870448"/>
            <a:ext cx="1645920" cy="274320"/>
          </a:xfrm>
          <a:prstGeom prst="rect">
            <a:avLst/>
          </a:prstGeom>
          <a:noFill/>
        </p:spPr>
        <p:txBody>
          <a:bodyPr wrap="square">
            <a:spAutoFit/>
          </a:bodyPr>
          <a:lstStyle/>
          <a:p>
            <a:pPr algn="ctr"/>
            <a:r>
              <a:rPr sz="750" b="0" i="0">
                <a:solidFill>
                  <a:srgbClr val="FFFFFF"/>
                </a:solidFill>
                <a:latin typeface="Montserrat"/>
              </a:rPr>
              <a:t>Startups activas (20.7%)</a:t>
            </a:r>
          </a:p>
        </p:txBody>
      </p:sp>
      <p:sp>
        <p:nvSpPr>
          <p:cNvPr id="37" name="TextBox 36"/>
          <p:cNvSpPr txBox="1"/>
          <p:nvPr/>
        </p:nvSpPr>
        <p:spPr>
          <a:xfrm>
            <a:off x="4224528" y="5532120"/>
            <a:ext cx="1645920" cy="347472"/>
          </a:xfrm>
          <a:prstGeom prst="rect">
            <a:avLst/>
          </a:prstGeom>
          <a:noFill/>
        </p:spPr>
        <p:txBody>
          <a:bodyPr wrap="square">
            <a:spAutoFit/>
          </a:bodyPr>
          <a:lstStyle/>
          <a:p>
            <a:pPr algn="ctr"/>
            <a:r>
              <a:rPr sz="1800" b="1" i="0">
                <a:solidFill>
                  <a:srgbClr val="00B38A"/>
                </a:solidFill>
                <a:latin typeface="Montserrat"/>
              </a:rPr>
              <a:t>84</a:t>
            </a:r>
          </a:p>
        </p:txBody>
      </p:sp>
      <p:sp>
        <p:nvSpPr>
          <p:cNvPr id="38" name="TextBox 37"/>
          <p:cNvSpPr txBox="1"/>
          <p:nvPr/>
        </p:nvSpPr>
        <p:spPr>
          <a:xfrm>
            <a:off x="4224528" y="5870448"/>
            <a:ext cx="1645920" cy="274320"/>
          </a:xfrm>
          <a:prstGeom prst="rect">
            <a:avLst/>
          </a:prstGeom>
          <a:noFill/>
        </p:spPr>
        <p:txBody>
          <a:bodyPr wrap="square">
            <a:spAutoFit/>
          </a:bodyPr>
          <a:lstStyle/>
          <a:p>
            <a:pPr algn="ctr"/>
            <a:r>
              <a:rPr sz="750" b="0" i="0">
                <a:solidFill>
                  <a:srgbClr val="FFFFFF"/>
                </a:solidFill>
                <a:latin typeface="Montserrat"/>
              </a:rPr>
              <a:t>Cierres naturales</a:t>
            </a:r>
          </a:p>
        </p:txBody>
      </p:sp>
      <p:sp>
        <p:nvSpPr>
          <p:cNvPr id="39" name="TextBox 38"/>
          <p:cNvSpPr txBox="1"/>
          <p:nvPr/>
        </p:nvSpPr>
        <p:spPr>
          <a:xfrm>
            <a:off x="6108192" y="5532120"/>
            <a:ext cx="1645920" cy="347472"/>
          </a:xfrm>
          <a:prstGeom prst="rect">
            <a:avLst/>
          </a:prstGeom>
          <a:noFill/>
        </p:spPr>
        <p:txBody>
          <a:bodyPr wrap="square">
            <a:spAutoFit/>
          </a:bodyPr>
          <a:lstStyle/>
          <a:p>
            <a:pPr algn="ctr"/>
            <a:r>
              <a:rPr sz="1800" b="1" i="0">
                <a:solidFill>
                  <a:srgbClr val="00B38A"/>
                </a:solidFill>
                <a:latin typeface="Montserrat"/>
              </a:rPr>
              <a:t>3</a:t>
            </a:r>
          </a:p>
        </p:txBody>
      </p:sp>
      <p:sp>
        <p:nvSpPr>
          <p:cNvPr id="40" name="TextBox 39"/>
          <p:cNvSpPr txBox="1"/>
          <p:nvPr/>
        </p:nvSpPr>
        <p:spPr>
          <a:xfrm>
            <a:off x="6108192" y="5870448"/>
            <a:ext cx="1645920" cy="274320"/>
          </a:xfrm>
          <a:prstGeom prst="rect">
            <a:avLst/>
          </a:prstGeom>
          <a:noFill/>
        </p:spPr>
        <p:txBody>
          <a:bodyPr wrap="square">
            <a:spAutoFit/>
          </a:bodyPr>
          <a:lstStyle/>
          <a:p>
            <a:pPr algn="ctr"/>
            <a:r>
              <a:rPr sz="750" b="0" i="0">
                <a:solidFill>
                  <a:srgbClr val="FFFFFF"/>
                </a:solidFill>
                <a:latin typeface="Montserrat"/>
              </a:rPr>
              <a:t>En pausa</a:t>
            </a:r>
          </a:p>
        </p:txBody>
      </p:sp>
      <p:sp>
        <p:nvSpPr>
          <p:cNvPr id="41" name="TextBox 40"/>
          <p:cNvSpPr txBox="1"/>
          <p:nvPr/>
        </p:nvSpPr>
        <p:spPr>
          <a:xfrm>
            <a:off x="7991856" y="5532120"/>
            <a:ext cx="1645920" cy="347472"/>
          </a:xfrm>
          <a:prstGeom prst="rect">
            <a:avLst/>
          </a:prstGeom>
          <a:noFill/>
        </p:spPr>
        <p:txBody>
          <a:bodyPr wrap="square">
            <a:spAutoFit/>
          </a:bodyPr>
          <a:lstStyle/>
          <a:p>
            <a:pPr algn="ctr"/>
            <a:r>
              <a:rPr sz="1800" b="1" i="0">
                <a:solidFill>
                  <a:srgbClr val="00B38A"/>
                </a:solidFill>
                <a:latin typeface="Montserrat"/>
              </a:rPr>
              <a:t>1</a:t>
            </a:r>
          </a:p>
        </p:txBody>
      </p:sp>
      <p:sp>
        <p:nvSpPr>
          <p:cNvPr id="42" name="TextBox 41"/>
          <p:cNvSpPr txBox="1"/>
          <p:nvPr/>
        </p:nvSpPr>
        <p:spPr>
          <a:xfrm>
            <a:off x="7991856" y="5870448"/>
            <a:ext cx="1645920" cy="274320"/>
          </a:xfrm>
          <a:prstGeom prst="rect">
            <a:avLst/>
          </a:prstGeom>
          <a:noFill/>
        </p:spPr>
        <p:txBody>
          <a:bodyPr wrap="square">
            <a:spAutoFit/>
          </a:bodyPr>
          <a:lstStyle/>
          <a:p>
            <a:pPr algn="ctr"/>
            <a:r>
              <a:rPr sz="750" b="0" i="0">
                <a:solidFill>
                  <a:srgbClr val="FFFFFF"/>
                </a:solidFill>
                <a:latin typeface="Montserrat"/>
              </a:rPr>
              <a:t>Exit ejecutado</a:t>
            </a:r>
          </a:p>
        </p:txBody>
      </p:sp>
      <p:sp>
        <p:nvSpPr>
          <p:cNvPr id="43" name="TextBox 42"/>
          <p:cNvSpPr txBox="1"/>
          <p:nvPr/>
        </p:nvSpPr>
        <p:spPr>
          <a:xfrm>
            <a:off x="9875520" y="5532120"/>
            <a:ext cx="1645920" cy="347472"/>
          </a:xfrm>
          <a:prstGeom prst="rect">
            <a:avLst/>
          </a:prstGeom>
          <a:noFill/>
        </p:spPr>
        <p:txBody>
          <a:bodyPr wrap="square">
            <a:spAutoFit/>
          </a:bodyPr>
          <a:lstStyle/>
          <a:p>
            <a:pPr algn="ctr"/>
            <a:r>
              <a:rPr sz="1800" b="1" i="0">
                <a:solidFill>
                  <a:srgbClr val="00B38A"/>
                </a:solidFill>
                <a:latin typeface="Montserrat"/>
              </a:rPr>
              <a:t>5</a:t>
            </a:r>
          </a:p>
        </p:txBody>
      </p:sp>
      <p:sp>
        <p:nvSpPr>
          <p:cNvPr id="44" name="TextBox 43"/>
          <p:cNvSpPr txBox="1"/>
          <p:nvPr/>
        </p:nvSpPr>
        <p:spPr>
          <a:xfrm>
            <a:off x="9875520" y="5870448"/>
            <a:ext cx="1645920" cy="274320"/>
          </a:xfrm>
          <a:prstGeom prst="rect">
            <a:avLst/>
          </a:prstGeom>
          <a:noFill/>
        </p:spPr>
        <p:txBody>
          <a:bodyPr wrap="square">
            <a:spAutoFit/>
          </a:bodyPr>
          <a:lstStyle/>
          <a:p>
            <a:pPr algn="ctr"/>
            <a:r>
              <a:rPr sz="750" b="0" i="0">
                <a:solidFill>
                  <a:srgbClr val="FFFFFF"/>
                </a:solidFill>
                <a:latin typeface="Montserrat"/>
              </a:rPr>
              <a:t>Exits priorizados 2026</a:t>
            </a:r>
          </a:p>
        </p:txBody>
      </p:sp>
      <p:sp>
        <p:nvSpPr>
          <p:cNvPr id="45" name="TextBox 44"/>
          <p:cNvSpPr txBox="1"/>
          <p:nvPr/>
        </p:nvSpPr>
        <p:spPr>
          <a:xfrm>
            <a:off x="365760" y="6583680"/>
            <a:ext cx="11430000" cy="228600"/>
          </a:xfrm>
          <a:prstGeom prst="rect">
            <a:avLst/>
          </a:prstGeom>
          <a:noFill/>
        </p:spPr>
        <p:txBody>
          <a:bodyPr wrap="square">
            <a:spAutoFit/>
          </a:bodyPr>
          <a:lstStyle/>
          <a:p>
            <a:pPr algn="l"/>
            <a:r>
              <a:rPr sz="700" b="0" i="0">
                <a:solidFill>
                  <a:srgbClr val="A0AABB"/>
                </a:solidFill>
                <a:latin typeface="Montserrat"/>
              </a:rPr>
              <a:t>Cube Ventures · Reporte de Inversionistas H2 2025 · Confidencial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502920"/>
          </a:xfrm>
          <a:prstGeom prst="rect">
            <a:avLst/>
          </a:prstGeom>
          <a:noFill/>
        </p:spPr>
        <p:txBody>
          <a:bodyPr wrap="square">
            <a:spAutoFit/>
          </a:bodyPr>
          <a:lstStyle/>
          <a:p>
            <a:pPr algn="l"/>
            <a:r>
              <a:rPr sz="2200" b="1" i="0">
                <a:solidFill>
                  <a:srgbClr val="FFFFFF"/>
                </a:solidFill>
                <a:latin typeface="Montserrat"/>
              </a:rPr>
              <a:t>Evolución del Portafolio 2024 → 2025</a:t>
            </a:r>
          </a:p>
        </p:txBody>
      </p:sp>
      <p:sp>
        <p:nvSpPr>
          <p:cNvPr id="4" name="TextBox 3"/>
          <p:cNvSpPr txBox="1"/>
          <p:nvPr/>
        </p:nvSpPr>
        <p:spPr>
          <a:xfrm>
            <a:off x="457200" y="566928"/>
            <a:ext cx="10058400" cy="384048"/>
          </a:xfrm>
          <a:prstGeom prst="rect">
            <a:avLst/>
          </a:prstGeom>
          <a:noFill/>
        </p:spPr>
        <p:txBody>
          <a:bodyPr wrap="square">
            <a:spAutoFit/>
          </a:bodyPr>
          <a:lstStyle/>
          <a:p>
            <a:pPr algn="l"/>
            <a:r>
              <a:rPr sz="1100" b="0" i="0">
                <a:solidFill>
                  <a:srgbClr val="00B38A"/>
                </a:solidFill>
                <a:latin typeface="Montserrat"/>
              </a:rPr>
              <a:t>Variación por Tier · Dinámica interna · Reclasificaciones</a:t>
            </a:r>
          </a:p>
        </p:txBody>
      </p:sp>
      <p:sp>
        <p:nvSpPr>
          <p:cNvPr id="5" name="Rectangle 4"/>
          <p:cNvSpPr/>
          <p:nvPr/>
        </p:nvSpPr>
        <p:spPr>
          <a:xfrm>
            <a:off x="320040" y="1143000"/>
            <a:ext cx="11430000" cy="36576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70432"/>
            <a:ext cx="1097280" cy="320040"/>
          </a:xfrm>
          <a:prstGeom prst="rect">
            <a:avLst/>
          </a:prstGeom>
          <a:noFill/>
        </p:spPr>
        <p:txBody>
          <a:bodyPr wrap="square">
            <a:spAutoFit/>
          </a:bodyPr>
          <a:lstStyle/>
          <a:p>
            <a:pPr algn="ctr"/>
            <a:r>
              <a:rPr sz="1000" b="1" i="0">
                <a:solidFill>
                  <a:srgbClr val="FFFFFF"/>
                </a:solidFill>
                <a:latin typeface="Montserrat"/>
              </a:rPr>
              <a:t>Tier</a:t>
            </a:r>
          </a:p>
        </p:txBody>
      </p:sp>
      <p:sp>
        <p:nvSpPr>
          <p:cNvPr id="7" name="TextBox 6"/>
          <p:cNvSpPr txBox="1"/>
          <p:nvPr/>
        </p:nvSpPr>
        <p:spPr>
          <a:xfrm>
            <a:off x="1554480" y="1170432"/>
            <a:ext cx="1554480" cy="320040"/>
          </a:xfrm>
          <a:prstGeom prst="rect">
            <a:avLst/>
          </a:prstGeom>
          <a:noFill/>
        </p:spPr>
        <p:txBody>
          <a:bodyPr wrap="square">
            <a:spAutoFit/>
          </a:bodyPr>
          <a:lstStyle/>
          <a:p>
            <a:pPr algn="ctr"/>
            <a:r>
              <a:rPr sz="1000" b="1" i="0">
                <a:solidFill>
                  <a:srgbClr val="FFFFFF"/>
                </a:solidFill>
                <a:latin typeface="Montserrat"/>
              </a:rPr>
              <a:t>Cierre 2024</a:t>
            </a:r>
          </a:p>
        </p:txBody>
      </p:sp>
      <p:sp>
        <p:nvSpPr>
          <p:cNvPr id="8" name="TextBox 7"/>
          <p:cNvSpPr txBox="1"/>
          <p:nvPr/>
        </p:nvSpPr>
        <p:spPr>
          <a:xfrm>
            <a:off x="3200400" y="1170432"/>
            <a:ext cx="1554480" cy="320040"/>
          </a:xfrm>
          <a:prstGeom prst="rect">
            <a:avLst/>
          </a:prstGeom>
          <a:noFill/>
        </p:spPr>
        <p:txBody>
          <a:bodyPr wrap="square">
            <a:spAutoFit/>
          </a:bodyPr>
          <a:lstStyle/>
          <a:p>
            <a:pPr algn="ctr"/>
            <a:r>
              <a:rPr sz="1000" b="1" i="0">
                <a:solidFill>
                  <a:srgbClr val="FFFFFF"/>
                </a:solidFill>
                <a:latin typeface="Montserrat"/>
              </a:rPr>
              <a:t>Cierre 2025</a:t>
            </a:r>
          </a:p>
        </p:txBody>
      </p:sp>
      <p:sp>
        <p:nvSpPr>
          <p:cNvPr id="9" name="TextBox 8"/>
          <p:cNvSpPr txBox="1"/>
          <p:nvPr/>
        </p:nvSpPr>
        <p:spPr>
          <a:xfrm>
            <a:off x="4846320" y="1170432"/>
            <a:ext cx="1554480" cy="320040"/>
          </a:xfrm>
          <a:prstGeom prst="rect">
            <a:avLst/>
          </a:prstGeom>
          <a:noFill/>
        </p:spPr>
        <p:txBody>
          <a:bodyPr wrap="square">
            <a:spAutoFit/>
          </a:bodyPr>
          <a:lstStyle/>
          <a:p>
            <a:pPr algn="ctr"/>
            <a:r>
              <a:rPr sz="1000" b="1" i="0">
                <a:solidFill>
                  <a:srgbClr val="FFFFFF"/>
                </a:solidFill>
                <a:latin typeface="Montserrat"/>
              </a:rPr>
              <a:t>Variación $</a:t>
            </a:r>
          </a:p>
        </p:txBody>
      </p:sp>
      <p:sp>
        <p:nvSpPr>
          <p:cNvPr id="10" name="TextBox 9"/>
          <p:cNvSpPr txBox="1"/>
          <p:nvPr/>
        </p:nvSpPr>
        <p:spPr>
          <a:xfrm>
            <a:off x="6492240" y="1170432"/>
            <a:ext cx="1371600" cy="320040"/>
          </a:xfrm>
          <a:prstGeom prst="rect">
            <a:avLst/>
          </a:prstGeom>
          <a:noFill/>
        </p:spPr>
        <p:txBody>
          <a:bodyPr wrap="square">
            <a:spAutoFit/>
          </a:bodyPr>
          <a:lstStyle/>
          <a:p>
            <a:pPr algn="ctr"/>
            <a:r>
              <a:rPr sz="1000" b="1" i="0">
                <a:solidFill>
                  <a:srgbClr val="FFFFFF"/>
                </a:solidFill>
                <a:latin typeface="Montserrat"/>
              </a:rPr>
              <a:t>Variación %</a:t>
            </a:r>
          </a:p>
        </p:txBody>
      </p:sp>
      <p:sp>
        <p:nvSpPr>
          <p:cNvPr id="11" name="TextBox 10"/>
          <p:cNvSpPr txBox="1"/>
          <p:nvPr/>
        </p:nvSpPr>
        <p:spPr>
          <a:xfrm>
            <a:off x="7955279" y="1170432"/>
            <a:ext cx="3657600" cy="320040"/>
          </a:xfrm>
          <a:prstGeom prst="rect">
            <a:avLst/>
          </a:prstGeom>
          <a:noFill/>
        </p:spPr>
        <p:txBody>
          <a:bodyPr wrap="square">
            <a:spAutoFit/>
          </a:bodyPr>
          <a:lstStyle/>
          <a:p>
            <a:pPr algn="ctr"/>
            <a:r>
              <a:rPr sz="1000" b="1" i="0">
                <a:solidFill>
                  <a:srgbClr val="FFFFFF"/>
                </a:solidFill>
                <a:latin typeface="Montserrat"/>
              </a:rPr>
              <a:t>Clave</a:t>
            </a:r>
          </a:p>
        </p:txBody>
      </p:sp>
      <p:sp>
        <p:nvSpPr>
          <p:cNvPr id="12" name="Rectangle 11"/>
          <p:cNvSpPr/>
          <p:nvPr/>
        </p:nvSpPr>
        <p:spPr>
          <a:xfrm>
            <a:off x="320040" y="1508760"/>
            <a:ext cx="11430000" cy="914400"/>
          </a:xfrm>
          <a:prstGeom prst="rect">
            <a:avLst/>
          </a:prstGeom>
          <a:solidFill>
            <a:srgbClr val="E0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709928"/>
            <a:ext cx="1097280" cy="502920"/>
          </a:xfrm>
          <a:prstGeom prst="rect">
            <a:avLst/>
          </a:prstGeom>
          <a:noFill/>
        </p:spPr>
        <p:txBody>
          <a:bodyPr wrap="square">
            <a:spAutoFit/>
          </a:bodyPr>
          <a:lstStyle/>
          <a:p>
            <a:pPr algn="ctr"/>
            <a:r>
              <a:rPr sz="1000" b="1" i="0">
                <a:solidFill>
                  <a:srgbClr val="1A2844"/>
                </a:solidFill>
                <a:latin typeface="Montserrat"/>
              </a:rPr>
              <a:t>Tier 1</a:t>
            </a:r>
          </a:p>
        </p:txBody>
      </p:sp>
      <p:sp>
        <p:nvSpPr>
          <p:cNvPr id="14" name="TextBox 13"/>
          <p:cNvSpPr txBox="1"/>
          <p:nvPr/>
        </p:nvSpPr>
        <p:spPr>
          <a:xfrm>
            <a:off x="1554480" y="1709928"/>
            <a:ext cx="1554480" cy="502920"/>
          </a:xfrm>
          <a:prstGeom prst="rect">
            <a:avLst/>
          </a:prstGeom>
          <a:noFill/>
        </p:spPr>
        <p:txBody>
          <a:bodyPr wrap="square">
            <a:spAutoFit/>
          </a:bodyPr>
          <a:lstStyle/>
          <a:p>
            <a:pPr algn="ctr"/>
            <a:r>
              <a:rPr sz="1000" b="0" i="0">
                <a:solidFill>
                  <a:srgbClr val="1A2844"/>
                </a:solidFill>
                <a:latin typeface="Montserrat"/>
              </a:rPr>
              <a:t>$784,500</a:t>
            </a:r>
          </a:p>
        </p:txBody>
      </p:sp>
      <p:sp>
        <p:nvSpPr>
          <p:cNvPr id="15" name="TextBox 14"/>
          <p:cNvSpPr txBox="1"/>
          <p:nvPr/>
        </p:nvSpPr>
        <p:spPr>
          <a:xfrm>
            <a:off x="3200400" y="1709928"/>
            <a:ext cx="1554480" cy="502920"/>
          </a:xfrm>
          <a:prstGeom prst="rect">
            <a:avLst/>
          </a:prstGeom>
          <a:noFill/>
        </p:spPr>
        <p:txBody>
          <a:bodyPr wrap="square">
            <a:spAutoFit/>
          </a:bodyPr>
          <a:lstStyle/>
          <a:p>
            <a:pPr algn="ctr"/>
            <a:r>
              <a:rPr sz="1000" b="0" i="0">
                <a:solidFill>
                  <a:srgbClr val="1A2844"/>
                </a:solidFill>
                <a:latin typeface="Montserrat"/>
              </a:rPr>
              <a:t>$767,834</a:t>
            </a:r>
          </a:p>
        </p:txBody>
      </p:sp>
      <p:sp>
        <p:nvSpPr>
          <p:cNvPr id="16" name="TextBox 15"/>
          <p:cNvSpPr txBox="1"/>
          <p:nvPr/>
        </p:nvSpPr>
        <p:spPr>
          <a:xfrm>
            <a:off x="4846320" y="1709928"/>
            <a:ext cx="1554480" cy="502920"/>
          </a:xfrm>
          <a:prstGeom prst="rect">
            <a:avLst/>
          </a:prstGeom>
          <a:noFill/>
        </p:spPr>
        <p:txBody>
          <a:bodyPr wrap="square">
            <a:spAutoFit/>
          </a:bodyPr>
          <a:lstStyle/>
          <a:p>
            <a:pPr algn="ctr"/>
            <a:r>
              <a:rPr sz="1000" b="0" i="0">
                <a:solidFill>
                  <a:srgbClr val="E54B4B"/>
                </a:solidFill>
                <a:latin typeface="Montserrat"/>
              </a:rPr>
              <a:t>-$16,666</a:t>
            </a:r>
          </a:p>
        </p:txBody>
      </p:sp>
      <p:sp>
        <p:nvSpPr>
          <p:cNvPr id="17" name="TextBox 16"/>
          <p:cNvSpPr txBox="1"/>
          <p:nvPr/>
        </p:nvSpPr>
        <p:spPr>
          <a:xfrm>
            <a:off x="6492240" y="1709928"/>
            <a:ext cx="1371600" cy="502920"/>
          </a:xfrm>
          <a:prstGeom prst="rect">
            <a:avLst/>
          </a:prstGeom>
          <a:noFill/>
        </p:spPr>
        <p:txBody>
          <a:bodyPr wrap="square">
            <a:spAutoFit/>
          </a:bodyPr>
          <a:lstStyle/>
          <a:p>
            <a:pPr algn="ctr"/>
            <a:r>
              <a:rPr sz="1000" b="0" i="0">
                <a:solidFill>
                  <a:srgbClr val="E54B4B"/>
                </a:solidFill>
                <a:latin typeface="Montserrat"/>
              </a:rPr>
              <a:t>-2.1%</a:t>
            </a:r>
          </a:p>
        </p:txBody>
      </p:sp>
      <p:sp>
        <p:nvSpPr>
          <p:cNvPr id="18" name="TextBox 17"/>
          <p:cNvSpPr txBox="1"/>
          <p:nvPr/>
        </p:nvSpPr>
        <p:spPr>
          <a:xfrm>
            <a:off x="7955279" y="1709928"/>
            <a:ext cx="3657600" cy="502920"/>
          </a:xfrm>
          <a:prstGeom prst="rect">
            <a:avLst/>
          </a:prstGeom>
          <a:noFill/>
        </p:spPr>
        <p:txBody>
          <a:bodyPr wrap="square">
            <a:spAutoFit/>
          </a:bodyPr>
          <a:lstStyle/>
          <a:p>
            <a:pPr algn="l"/>
            <a:r>
              <a:rPr sz="800" b="0" i="0">
                <a:solidFill>
                  <a:srgbClr val="1A2844"/>
                </a:solidFill>
                <a:latin typeface="Montserrat"/>
              </a:rPr>
              <a:t>Reclasificación de Tu Techo Solar, Chak y Transgenia → Tier 2</a:t>
            </a:r>
          </a:p>
        </p:txBody>
      </p:sp>
      <p:sp>
        <p:nvSpPr>
          <p:cNvPr id="19" name="Rectangle 18"/>
          <p:cNvSpPr/>
          <p:nvPr/>
        </p:nvSpPr>
        <p:spPr>
          <a:xfrm>
            <a:off x="320040" y="2468880"/>
            <a:ext cx="11430000" cy="914400"/>
          </a:xfrm>
          <a:prstGeom prst="rect">
            <a:avLst/>
          </a:prstGeom>
          <a:solidFill>
            <a:srgbClr val="FEF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2670048"/>
            <a:ext cx="1097280" cy="502920"/>
          </a:xfrm>
          <a:prstGeom prst="rect">
            <a:avLst/>
          </a:prstGeom>
          <a:noFill/>
        </p:spPr>
        <p:txBody>
          <a:bodyPr wrap="square">
            <a:spAutoFit/>
          </a:bodyPr>
          <a:lstStyle/>
          <a:p>
            <a:pPr algn="ctr"/>
            <a:r>
              <a:rPr sz="1000" b="1" i="0">
                <a:solidFill>
                  <a:srgbClr val="1A2844"/>
                </a:solidFill>
                <a:latin typeface="Montserrat"/>
              </a:rPr>
              <a:t>Tier 2</a:t>
            </a:r>
          </a:p>
        </p:txBody>
      </p:sp>
      <p:sp>
        <p:nvSpPr>
          <p:cNvPr id="21" name="TextBox 20"/>
          <p:cNvSpPr txBox="1"/>
          <p:nvPr/>
        </p:nvSpPr>
        <p:spPr>
          <a:xfrm>
            <a:off x="1554480" y="2670048"/>
            <a:ext cx="1554480" cy="502920"/>
          </a:xfrm>
          <a:prstGeom prst="rect">
            <a:avLst/>
          </a:prstGeom>
          <a:noFill/>
        </p:spPr>
        <p:txBody>
          <a:bodyPr wrap="square">
            <a:spAutoFit/>
          </a:bodyPr>
          <a:lstStyle/>
          <a:p>
            <a:pPr algn="ctr"/>
            <a:r>
              <a:rPr sz="1000" b="0" i="0">
                <a:solidFill>
                  <a:srgbClr val="1A2844"/>
                </a:solidFill>
                <a:latin typeface="Montserrat"/>
              </a:rPr>
              <a:t>$64,838</a:t>
            </a:r>
          </a:p>
        </p:txBody>
      </p:sp>
      <p:sp>
        <p:nvSpPr>
          <p:cNvPr id="22" name="TextBox 21"/>
          <p:cNvSpPr txBox="1"/>
          <p:nvPr/>
        </p:nvSpPr>
        <p:spPr>
          <a:xfrm>
            <a:off x="3200400" y="2670048"/>
            <a:ext cx="1554480" cy="502920"/>
          </a:xfrm>
          <a:prstGeom prst="rect">
            <a:avLst/>
          </a:prstGeom>
          <a:noFill/>
        </p:spPr>
        <p:txBody>
          <a:bodyPr wrap="square">
            <a:spAutoFit/>
          </a:bodyPr>
          <a:lstStyle/>
          <a:p>
            <a:pPr algn="ctr"/>
            <a:r>
              <a:rPr sz="1000" b="0" i="0">
                <a:solidFill>
                  <a:srgbClr val="1A2844"/>
                </a:solidFill>
                <a:latin typeface="Montserrat"/>
              </a:rPr>
              <a:t>$117,301</a:t>
            </a:r>
          </a:p>
        </p:txBody>
      </p:sp>
      <p:sp>
        <p:nvSpPr>
          <p:cNvPr id="23" name="TextBox 22"/>
          <p:cNvSpPr txBox="1"/>
          <p:nvPr/>
        </p:nvSpPr>
        <p:spPr>
          <a:xfrm>
            <a:off x="4846320" y="2670048"/>
            <a:ext cx="1554480" cy="502920"/>
          </a:xfrm>
          <a:prstGeom prst="rect">
            <a:avLst/>
          </a:prstGeom>
          <a:noFill/>
        </p:spPr>
        <p:txBody>
          <a:bodyPr wrap="square">
            <a:spAutoFit/>
          </a:bodyPr>
          <a:lstStyle/>
          <a:p>
            <a:pPr algn="ctr"/>
            <a:r>
              <a:rPr sz="1000" b="0" i="0">
                <a:solidFill>
                  <a:srgbClr val="00B38A"/>
                </a:solidFill>
                <a:latin typeface="Montserrat"/>
              </a:rPr>
              <a:t>+$52,463</a:t>
            </a:r>
          </a:p>
        </p:txBody>
      </p:sp>
      <p:sp>
        <p:nvSpPr>
          <p:cNvPr id="24" name="TextBox 23"/>
          <p:cNvSpPr txBox="1"/>
          <p:nvPr/>
        </p:nvSpPr>
        <p:spPr>
          <a:xfrm>
            <a:off x="6492240" y="2670048"/>
            <a:ext cx="1371600" cy="502920"/>
          </a:xfrm>
          <a:prstGeom prst="rect">
            <a:avLst/>
          </a:prstGeom>
          <a:noFill/>
        </p:spPr>
        <p:txBody>
          <a:bodyPr wrap="square">
            <a:spAutoFit/>
          </a:bodyPr>
          <a:lstStyle/>
          <a:p>
            <a:pPr algn="ctr"/>
            <a:r>
              <a:rPr sz="1000" b="0" i="0">
                <a:solidFill>
                  <a:srgbClr val="00B38A"/>
                </a:solidFill>
                <a:latin typeface="Montserrat"/>
              </a:rPr>
              <a:t>+80.9%</a:t>
            </a:r>
          </a:p>
        </p:txBody>
      </p:sp>
      <p:sp>
        <p:nvSpPr>
          <p:cNvPr id="25" name="TextBox 24"/>
          <p:cNvSpPr txBox="1"/>
          <p:nvPr/>
        </p:nvSpPr>
        <p:spPr>
          <a:xfrm>
            <a:off x="7955279" y="2670048"/>
            <a:ext cx="3657600" cy="502920"/>
          </a:xfrm>
          <a:prstGeom prst="rect">
            <a:avLst/>
          </a:prstGeom>
          <a:noFill/>
        </p:spPr>
        <p:txBody>
          <a:bodyPr wrap="square">
            <a:spAutoFit/>
          </a:bodyPr>
          <a:lstStyle/>
          <a:p>
            <a:pPr algn="l"/>
            <a:r>
              <a:rPr sz="800" b="0" i="0">
                <a:solidFill>
                  <a:srgbClr val="1A2844"/>
                </a:solidFill>
                <a:latin typeface="Montserrat"/>
              </a:rPr>
              <a:t>Incorporación de 3 empresas desde Tier 1 + 1 exit ejecutado</a:t>
            </a:r>
          </a:p>
        </p:txBody>
      </p:sp>
      <p:sp>
        <p:nvSpPr>
          <p:cNvPr id="26" name="Rectangle 25"/>
          <p:cNvSpPr/>
          <p:nvPr/>
        </p:nvSpPr>
        <p:spPr>
          <a:xfrm>
            <a:off x="320040" y="3429000"/>
            <a:ext cx="11430000" cy="9144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3630168"/>
            <a:ext cx="1097280" cy="502920"/>
          </a:xfrm>
          <a:prstGeom prst="rect">
            <a:avLst/>
          </a:prstGeom>
          <a:noFill/>
        </p:spPr>
        <p:txBody>
          <a:bodyPr wrap="square">
            <a:spAutoFit/>
          </a:bodyPr>
          <a:lstStyle/>
          <a:p>
            <a:pPr algn="ctr"/>
            <a:r>
              <a:rPr sz="1000" b="1" i="0">
                <a:solidFill>
                  <a:srgbClr val="1A2844"/>
                </a:solidFill>
                <a:latin typeface="Montserrat"/>
              </a:rPr>
              <a:t>Tier 3</a:t>
            </a:r>
          </a:p>
        </p:txBody>
      </p:sp>
      <p:sp>
        <p:nvSpPr>
          <p:cNvPr id="28" name="TextBox 27"/>
          <p:cNvSpPr txBox="1"/>
          <p:nvPr/>
        </p:nvSpPr>
        <p:spPr>
          <a:xfrm>
            <a:off x="1554480" y="3630168"/>
            <a:ext cx="1554480" cy="502920"/>
          </a:xfrm>
          <a:prstGeom prst="rect">
            <a:avLst/>
          </a:prstGeom>
          <a:noFill/>
        </p:spPr>
        <p:txBody>
          <a:bodyPr wrap="square">
            <a:spAutoFit/>
          </a:bodyPr>
          <a:lstStyle/>
          <a:p>
            <a:pPr algn="ctr"/>
            <a:r>
              <a:rPr sz="1000" b="0" i="0">
                <a:solidFill>
                  <a:srgbClr val="1A2844"/>
                </a:solidFill>
                <a:latin typeface="Montserrat"/>
              </a:rPr>
              <a:t>$92,626</a:t>
            </a:r>
          </a:p>
        </p:txBody>
      </p:sp>
      <p:sp>
        <p:nvSpPr>
          <p:cNvPr id="29" name="TextBox 28"/>
          <p:cNvSpPr txBox="1"/>
          <p:nvPr/>
        </p:nvSpPr>
        <p:spPr>
          <a:xfrm>
            <a:off x="3200400" y="3630168"/>
            <a:ext cx="1554480" cy="502920"/>
          </a:xfrm>
          <a:prstGeom prst="rect">
            <a:avLst/>
          </a:prstGeom>
          <a:noFill/>
        </p:spPr>
        <p:txBody>
          <a:bodyPr wrap="square">
            <a:spAutoFit/>
          </a:bodyPr>
          <a:lstStyle/>
          <a:p>
            <a:pPr algn="ctr"/>
            <a:r>
              <a:rPr sz="1000" b="0" i="0">
                <a:solidFill>
                  <a:srgbClr val="1A2844"/>
                </a:solidFill>
                <a:latin typeface="Montserrat"/>
              </a:rPr>
              <a:t>$31,746</a:t>
            </a:r>
          </a:p>
        </p:txBody>
      </p:sp>
      <p:sp>
        <p:nvSpPr>
          <p:cNvPr id="30" name="TextBox 29"/>
          <p:cNvSpPr txBox="1"/>
          <p:nvPr/>
        </p:nvSpPr>
        <p:spPr>
          <a:xfrm>
            <a:off x="4846320" y="3630168"/>
            <a:ext cx="1554480" cy="502920"/>
          </a:xfrm>
          <a:prstGeom prst="rect">
            <a:avLst/>
          </a:prstGeom>
          <a:noFill/>
        </p:spPr>
        <p:txBody>
          <a:bodyPr wrap="square">
            <a:spAutoFit/>
          </a:bodyPr>
          <a:lstStyle/>
          <a:p>
            <a:pPr algn="ctr"/>
            <a:r>
              <a:rPr sz="1000" b="0" i="0">
                <a:solidFill>
                  <a:srgbClr val="E54B4B"/>
                </a:solidFill>
                <a:latin typeface="Montserrat"/>
              </a:rPr>
              <a:t>-$60,880</a:t>
            </a:r>
          </a:p>
        </p:txBody>
      </p:sp>
      <p:sp>
        <p:nvSpPr>
          <p:cNvPr id="31" name="TextBox 30"/>
          <p:cNvSpPr txBox="1"/>
          <p:nvPr/>
        </p:nvSpPr>
        <p:spPr>
          <a:xfrm>
            <a:off x="6492240" y="3630168"/>
            <a:ext cx="1371600" cy="502920"/>
          </a:xfrm>
          <a:prstGeom prst="rect">
            <a:avLst/>
          </a:prstGeom>
          <a:noFill/>
        </p:spPr>
        <p:txBody>
          <a:bodyPr wrap="square">
            <a:spAutoFit/>
          </a:bodyPr>
          <a:lstStyle/>
          <a:p>
            <a:pPr algn="ctr"/>
            <a:r>
              <a:rPr sz="1000" b="0" i="0">
                <a:solidFill>
                  <a:srgbClr val="E54B4B"/>
                </a:solidFill>
                <a:latin typeface="Montserrat"/>
              </a:rPr>
              <a:t>-65.7%</a:t>
            </a:r>
          </a:p>
        </p:txBody>
      </p:sp>
      <p:sp>
        <p:nvSpPr>
          <p:cNvPr id="32" name="TextBox 31"/>
          <p:cNvSpPr txBox="1"/>
          <p:nvPr/>
        </p:nvSpPr>
        <p:spPr>
          <a:xfrm>
            <a:off x="7955279" y="3630168"/>
            <a:ext cx="3657600" cy="502920"/>
          </a:xfrm>
          <a:prstGeom prst="rect">
            <a:avLst/>
          </a:prstGeom>
          <a:noFill/>
        </p:spPr>
        <p:txBody>
          <a:bodyPr wrap="square">
            <a:spAutoFit/>
          </a:bodyPr>
          <a:lstStyle/>
          <a:p>
            <a:pPr algn="l"/>
            <a:r>
              <a:rPr sz="800" b="0" i="0">
                <a:solidFill>
                  <a:srgbClr val="1A2844"/>
                </a:solidFill>
                <a:latin typeface="Montserrat"/>
              </a:rPr>
              <a:t>Cierres adicionales: 52% → 76% cerradas (depuración natural)</a:t>
            </a:r>
          </a:p>
        </p:txBody>
      </p:sp>
      <p:sp>
        <p:nvSpPr>
          <p:cNvPr id="33" name="Rectangle 32"/>
          <p:cNvSpPr/>
          <p:nvPr/>
        </p:nvSpPr>
        <p:spPr>
          <a:xfrm>
            <a:off x="320040" y="4389120"/>
            <a:ext cx="11430000" cy="9144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4590288"/>
            <a:ext cx="1097280" cy="502920"/>
          </a:xfrm>
          <a:prstGeom prst="rect">
            <a:avLst/>
          </a:prstGeom>
          <a:noFill/>
        </p:spPr>
        <p:txBody>
          <a:bodyPr wrap="square">
            <a:spAutoFit/>
          </a:bodyPr>
          <a:lstStyle/>
          <a:p>
            <a:pPr algn="ctr"/>
            <a:r>
              <a:rPr sz="1100" b="1" i="0">
                <a:solidFill>
                  <a:srgbClr val="FFFFFF"/>
                </a:solidFill>
                <a:latin typeface="Montserrat"/>
              </a:rPr>
              <a:t>TOTAL</a:t>
            </a:r>
          </a:p>
        </p:txBody>
      </p:sp>
      <p:sp>
        <p:nvSpPr>
          <p:cNvPr id="35" name="TextBox 34"/>
          <p:cNvSpPr txBox="1"/>
          <p:nvPr/>
        </p:nvSpPr>
        <p:spPr>
          <a:xfrm>
            <a:off x="1554480" y="4590288"/>
            <a:ext cx="1554480" cy="502920"/>
          </a:xfrm>
          <a:prstGeom prst="rect">
            <a:avLst/>
          </a:prstGeom>
          <a:noFill/>
        </p:spPr>
        <p:txBody>
          <a:bodyPr wrap="square">
            <a:spAutoFit/>
          </a:bodyPr>
          <a:lstStyle/>
          <a:p>
            <a:pPr algn="ctr"/>
            <a:r>
              <a:rPr sz="1100" b="1" i="0">
                <a:solidFill>
                  <a:srgbClr val="FFFFFF"/>
                </a:solidFill>
                <a:latin typeface="Montserrat"/>
              </a:rPr>
              <a:t>$941,965</a:t>
            </a:r>
          </a:p>
        </p:txBody>
      </p:sp>
      <p:sp>
        <p:nvSpPr>
          <p:cNvPr id="36" name="TextBox 35"/>
          <p:cNvSpPr txBox="1"/>
          <p:nvPr/>
        </p:nvSpPr>
        <p:spPr>
          <a:xfrm>
            <a:off x="3200400" y="4590288"/>
            <a:ext cx="1554480" cy="502920"/>
          </a:xfrm>
          <a:prstGeom prst="rect">
            <a:avLst/>
          </a:prstGeom>
          <a:noFill/>
        </p:spPr>
        <p:txBody>
          <a:bodyPr wrap="square">
            <a:spAutoFit/>
          </a:bodyPr>
          <a:lstStyle/>
          <a:p>
            <a:pPr algn="ctr"/>
            <a:r>
              <a:rPr sz="1100" b="1" i="0">
                <a:solidFill>
                  <a:srgbClr val="FFFFFF"/>
                </a:solidFill>
                <a:latin typeface="Montserrat"/>
              </a:rPr>
              <a:t>$916,881</a:t>
            </a:r>
          </a:p>
        </p:txBody>
      </p:sp>
      <p:sp>
        <p:nvSpPr>
          <p:cNvPr id="37" name="TextBox 36"/>
          <p:cNvSpPr txBox="1"/>
          <p:nvPr/>
        </p:nvSpPr>
        <p:spPr>
          <a:xfrm>
            <a:off x="4846320" y="4590288"/>
            <a:ext cx="1554480" cy="502920"/>
          </a:xfrm>
          <a:prstGeom prst="rect">
            <a:avLst/>
          </a:prstGeom>
          <a:noFill/>
        </p:spPr>
        <p:txBody>
          <a:bodyPr wrap="square">
            <a:spAutoFit/>
          </a:bodyPr>
          <a:lstStyle/>
          <a:p>
            <a:pPr algn="ctr"/>
            <a:r>
              <a:rPr sz="1100" b="1" i="0">
                <a:solidFill>
                  <a:srgbClr val="E54B4B"/>
                </a:solidFill>
                <a:latin typeface="Montserrat"/>
              </a:rPr>
              <a:t>-$25,084</a:t>
            </a:r>
          </a:p>
        </p:txBody>
      </p:sp>
      <p:sp>
        <p:nvSpPr>
          <p:cNvPr id="38" name="TextBox 37"/>
          <p:cNvSpPr txBox="1"/>
          <p:nvPr/>
        </p:nvSpPr>
        <p:spPr>
          <a:xfrm>
            <a:off x="6492240" y="4590288"/>
            <a:ext cx="1371600" cy="502920"/>
          </a:xfrm>
          <a:prstGeom prst="rect">
            <a:avLst/>
          </a:prstGeom>
          <a:noFill/>
        </p:spPr>
        <p:txBody>
          <a:bodyPr wrap="square">
            <a:spAutoFit/>
          </a:bodyPr>
          <a:lstStyle/>
          <a:p>
            <a:pPr algn="ctr"/>
            <a:r>
              <a:rPr sz="1100" b="1" i="0">
                <a:solidFill>
                  <a:srgbClr val="E54B4B"/>
                </a:solidFill>
                <a:latin typeface="Montserrat"/>
              </a:rPr>
              <a:t>-2.7%</a:t>
            </a:r>
          </a:p>
        </p:txBody>
      </p:sp>
      <p:sp>
        <p:nvSpPr>
          <p:cNvPr id="39" name="TextBox 38"/>
          <p:cNvSpPr txBox="1"/>
          <p:nvPr/>
        </p:nvSpPr>
        <p:spPr>
          <a:xfrm>
            <a:off x="7955279" y="4590288"/>
            <a:ext cx="3657600" cy="502920"/>
          </a:xfrm>
          <a:prstGeom prst="rect">
            <a:avLst/>
          </a:prstGeom>
          <a:noFill/>
        </p:spPr>
        <p:txBody>
          <a:bodyPr wrap="square">
            <a:spAutoFit/>
          </a:bodyPr>
          <a:lstStyle/>
          <a:p>
            <a:pPr algn="l"/>
            <a:r>
              <a:rPr sz="800" b="0" i="0">
                <a:solidFill>
                  <a:srgbClr val="FFFFFF"/>
                </a:solidFill>
                <a:latin typeface="Montserrat"/>
              </a:rPr>
              <a:t>Contracción menor refleja solidez del núcleo Tier 1</a:t>
            </a:r>
          </a:p>
        </p:txBody>
      </p:sp>
      <p:sp>
        <p:nvSpPr>
          <p:cNvPr id="40" name="TextBox 39"/>
          <p:cNvSpPr txBox="1"/>
          <p:nvPr/>
        </p:nvSpPr>
        <p:spPr>
          <a:xfrm>
            <a:off x="365760" y="6583680"/>
            <a:ext cx="11430000" cy="228600"/>
          </a:xfrm>
          <a:prstGeom prst="rect">
            <a:avLst/>
          </a:prstGeom>
          <a:noFill/>
        </p:spPr>
        <p:txBody>
          <a:bodyPr wrap="square">
            <a:spAutoFit/>
          </a:bodyPr>
          <a:lstStyle/>
          <a:p>
            <a:pPr algn="l"/>
            <a:r>
              <a:rPr sz="700" b="0" i="0">
                <a:solidFill>
                  <a:srgbClr val="A0AABB"/>
                </a:solidFill>
                <a:latin typeface="Montserrat"/>
              </a:rPr>
              <a:t>Cube Ventures · Reporte de Inversionistas H2 2025 · Confidencial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502920"/>
          </a:xfrm>
          <a:prstGeom prst="rect">
            <a:avLst/>
          </a:prstGeom>
          <a:noFill/>
        </p:spPr>
        <p:txBody>
          <a:bodyPr wrap="square">
            <a:spAutoFit/>
          </a:bodyPr>
          <a:lstStyle/>
          <a:p>
            <a:pPr algn="l"/>
            <a:r>
              <a:rPr sz="2200" b="1" i="0">
                <a:solidFill>
                  <a:srgbClr val="FFFFFF"/>
                </a:solidFill>
                <a:latin typeface="Montserrat"/>
              </a:rPr>
              <a:t>Primer Exit del Portafolio: Patiya (Solfint S.A.S.)</a:t>
            </a:r>
          </a:p>
        </p:txBody>
      </p:sp>
      <p:sp>
        <p:nvSpPr>
          <p:cNvPr id="4" name="TextBox 3"/>
          <p:cNvSpPr txBox="1"/>
          <p:nvPr/>
        </p:nvSpPr>
        <p:spPr>
          <a:xfrm>
            <a:off x="457200" y="566928"/>
            <a:ext cx="10058400" cy="384048"/>
          </a:xfrm>
          <a:prstGeom prst="rect">
            <a:avLst/>
          </a:prstGeom>
          <a:noFill/>
        </p:spPr>
        <p:txBody>
          <a:bodyPr wrap="square">
            <a:spAutoFit/>
          </a:bodyPr>
          <a:lstStyle/>
          <a:p>
            <a:pPr algn="l"/>
            <a:r>
              <a:rPr sz="1100" b="0" i="0">
                <a:solidFill>
                  <a:srgbClr val="00B38A"/>
                </a:solidFill>
                <a:latin typeface="Montserrat"/>
              </a:rPr>
              <a:t>Validación de la tesis · Liquidez en mercado difícil · Relaciones profundas con founders</a:t>
            </a:r>
          </a:p>
        </p:txBody>
      </p:sp>
      <p:sp>
        <p:nvSpPr>
          <p:cNvPr id="5" name="Rectangle 4"/>
          <p:cNvSpPr/>
          <p:nvPr/>
        </p:nvSpPr>
        <p:spPr>
          <a:xfrm>
            <a:off x="320040" y="1143000"/>
            <a:ext cx="11430000" cy="146304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0972800" cy="411480"/>
          </a:xfrm>
          <a:prstGeom prst="rect">
            <a:avLst/>
          </a:prstGeom>
          <a:noFill/>
        </p:spPr>
        <p:txBody>
          <a:bodyPr wrap="square">
            <a:spAutoFit/>
          </a:bodyPr>
          <a:lstStyle/>
          <a:p>
            <a:pPr algn="l"/>
            <a:r>
              <a:rPr sz="1400" b="1" i="0">
                <a:solidFill>
                  <a:srgbClr val="FFFFFF"/>
                </a:solidFill>
                <a:latin typeface="Montserrat"/>
              </a:rPr>
              <a:t>HITO: PRIMER EVENTO DE LIQUIDEZ DE CUBE VENTURES</a:t>
            </a:r>
          </a:p>
        </p:txBody>
      </p:sp>
      <p:sp>
        <p:nvSpPr>
          <p:cNvPr id="7" name="TextBox 6"/>
          <p:cNvSpPr txBox="1"/>
          <p:nvPr/>
        </p:nvSpPr>
        <p:spPr>
          <a:xfrm>
            <a:off x="548640" y="1600200"/>
            <a:ext cx="10972800" cy="868680"/>
          </a:xfrm>
          <a:prstGeom prst="rect">
            <a:avLst/>
          </a:prstGeom>
          <a:noFill/>
        </p:spPr>
        <p:txBody>
          <a:bodyPr wrap="square">
            <a:spAutoFit/>
          </a:bodyPr>
          <a:lstStyle/>
          <a:p>
            <a:pPr algn="l"/>
            <a:r>
              <a:rPr sz="1000" b="0" i="0">
                <a:solidFill>
                  <a:srgbClr val="FFFFFF"/>
                </a:solidFill>
                <a:latin typeface="Montserrat"/>
              </a:rPr>
              <a:t>La recompra de participación por parte del emprendedor Juan David Palacios es la primera validación concreta de que incluso en un mercado difícil, es posible construir oportunidades de salida. Confirma que Cube genera relaciones profundas con sus fundadores.</a:t>
            </a:r>
          </a:p>
        </p:txBody>
      </p:sp>
      <p:sp>
        <p:nvSpPr>
          <p:cNvPr id="8" name="TextBox 7"/>
          <p:cNvSpPr txBox="1"/>
          <p:nvPr/>
        </p:nvSpPr>
        <p:spPr>
          <a:xfrm>
            <a:off x="457200" y="2834640"/>
            <a:ext cx="4572000" cy="320040"/>
          </a:xfrm>
          <a:prstGeom prst="rect">
            <a:avLst/>
          </a:prstGeom>
          <a:noFill/>
        </p:spPr>
        <p:txBody>
          <a:bodyPr wrap="square">
            <a:spAutoFit/>
          </a:bodyPr>
          <a:lstStyle/>
          <a:p>
            <a:pPr algn="l"/>
            <a:r>
              <a:rPr sz="1100" b="1" i="0">
                <a:solidFill>
                  <a:srgbClr val="1A2844"/>
                </a:solidFill>
                <a:latin typeface="Montserrat"/>
              </a:rPr>
              <a:t>CRONOLOGÍA DEL EXIT</a:t>
            </a:r>
          </a:p>
        </p:txBody>
      </p:sp>
      <p:sp>
        <p:nvSpPr>
          <p:cNvPr id="9" name="Rectangle 8"/>
          <p:cNvSpPr/>
          <p:nvPr/>
        </p:nvSpPr>
        <p:spPr>
          <a:xfrm>
            <a:off x="365760" y="3246120"/>
            <a:ext cx="1920240" cy="47548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3337560"/>
            <a:ext cx="1883664" cy="320040"/>
          </a:xfrm>
          <a:prstGeom prst="rect">
            <a:avLst/>
          </a:prstGeom>
          <a:noFill/>
        </p:spPr>
        <p:txBody>
          <a:bodyPr wrap="square">
            <a:spAutoFit/>
          </a:bodyPr>
          <a:lstStyle/>
          <a:p>
            <a:pPr algn="ctr"/>
            <a:r>
              <a:rPr sz="900" b="1" i="0">
                <a:solidFill>
                  <a:srgbClr val="FFFFFF"/>
                </a:solidFill>
                <a:latin typeface="Montserrat"/>
              </a:rPr>
              <a:t>H2 2022</a:t>
            </a:r>
          </a:p>
        </p:txBody>
      </p:sp>
      <p:sp>
        <p:nvSpPr>
          <p:cNvPr id="11" name="Rectangle 10"/>
          <p:cNvSpPr/>
          <p:nvPr/>
        </p:nvSpPr>
        <p:spPr>
          <a:xfrm>
            <a:off x="2286000" y="3447288"/>
            <a:ext cx="73152" cy="73152"/>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4600" y="3319272"/>
            <a:ext cx="9144000" cy="365760"/>
          </a:xfrm>
          <a:prstGeom prst="rect">
            <a:avLst/>
          </a:prstGeom>
          <a:noFill/>
        </p:spPr>
        <p:txBody>
          <a:bodyPr wrap="square">
            <a:spAutoFit/>
          </a:bodyPr>
          <a:lstStyle/>
          <a:p>
            <a:pPr algn="l"/>
            <a:r>
              <a:rPr sz="900" b="0" i="0">
                <a:solidFill>
                  <a:srgbClr val="1A2844"/>
                </a:solidFill>
                <a:latin typeface="Montserrat"/>
              </a:rPr>
              <a:t>Ingresa a Cohorte 4 de Cube Ventures · Cede 5.5% accionario</a:t>
            </a:r>
          </a:p>
        </p:txBody>
      </p:sp>
      <p:sp>
        <p:nvSpPr>
          <p:cNvPr id="13" name="Rectangle 12"/>
          <p:cNvSpPr/>
          <p:nvPr/>
        </p:nvSpPr>
        <p:spPr>
          <a:xfrm>
            <a:off x="365760" y="3813048"/>
            <a:ext cx="1920240" cy="47548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3904487"/>
            <a:ext cx="1883664" cy="320040"/>
          </a:xfrm>
          <a:prstGeom prst="rect">
            <a:avLst/>
          </a:prstGeom>
          <a:noFill/>
        </p:spPr>
        <p:txBody>
          <a:bodyPr wrap="square">
            <a:spAutoFit/>
          </a:bodyPr>
          <a:lstStyle/>
          <a:p>
            <a:pPr algn="ctr"/>
            <a:r>
              <a:rPr sz="900" b="1" i="0">
                <a:solidFill>
                  <a:srgbClr val="FFFFFF"/>
                </a:solidFill>
                <a:latin typeface="Montserrat"/>
              </a:rPr>
              <a:t>2025</a:t>
            </a:r>
          </a:p>
        </p:txBody>
      </p:sp>
      <p:sp>
        <p:nvSpPr>
          <p:cNvPr id="15" name="Rectangle 14"/>
          <p:cNvSpPr/>
          <p:nvPr/>
        </p:nvSpPr>
        <p:spPr>
          <a:xfrm>
            <a:off x="2286000" y="4014215"/>
            <a:ext cx="73152" cy="73152"/>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4600" y="3886200"/>
            <a:ext cx="9144000" cy="365760"/>
          </a:xfrm>
          <a:prstGeom prst="rect">
            <a:avLst/>
          </a:prstGeom>
          <a:noFill/>
        </p:spPr>
        <p:txBody>
          <a:bodyPr wrap="square">
            <a:spAutoFit/>
          </a:bodyPr>
          <a:lstStyle/>
          <a:p>
            <a:pPr algn="l"/>
            <a:r>
              <a:rPr sz="900" b="0" i="0">
                <a:solidFill>
                  <a:srgbClr val="1A2844"/>
                </a:solidFill>
                <a:latin typeface="Montserrat"/>
              </a:rPr>
              <a:t>Cambio estratégico · Alejamiento del modelo startup tradicional</a:t>
            </a:r>
          </a:p>
        </p:txBody>
      </p:sp>
      <p:sp>
        <p:nvSpPr>
          <p:cNvPr id="17" name="Rectangle 16"/>
          <p:cNvSpPr/>
          <p:nvPr/>
        </p:nvSpPr>
        <p:spPr>
          <a:xfrm>
            <a:off x="365760" y="4379976"/>
            <a:ext cx="1920240" cy="47548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4471416"/>
            <a:ext cx="1883664" cy="320040"/>
          </a:xfrm>
          <a:prstGeom prst="rect">
            <a:avLst/>
          </a:prstGeom>
          <a:noFill/>
        </p:spPr>
        <p:txBody>
          <a:bodyPr wrap="square">
            <a:spAutoFit/>
          </a:bodyPr>
          <a:lstStyle/>
          <a:p>
            <a:pPr algn="ctr"/>
            <a:r>
              <a:rPr sz="900" b="1" i="0">
                <a:solidFill>
                  <a:srgbClr val="FFFFFF"/>
                </a:solidFill>
                <a:latin typeface="Montserrat"/>
              </a:rPr>
              <a:t>Abr–Jun 25</a:t>
            </a:r>
          </a:p>
        </p:txBody>
      </p:sp>
      <p:sp>
        <p:nvSpPr>
          <p:cNvPr id="19" name="Rectangle 18"/>
          <p:cNvSpPr/>
          <p:nvPr/>
        </p:nvSpPr>
        <p:spPr>
          <a:xfrm>
            <a:off x="2286000" y="4581144"/>
            <a:ext cx="73152" cy="73152"/>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4600" y="4453128"/>
            <a:ext cx="9144000" cy="365760"/>
          </a:xfrm>
          <a:prstGeom prst="rect">
            <a:avLst/>
          </a:prstGeom>
          <a:noFill/>
        </p:spPr>
        <p:txBody>
          <a:bodyPr wrap="square">
            <a:spAutoFit/>
          </a:bodyPr>
          <a:lstStyle/>
          <a:p>
            <a:pPr algn="l"/>
            <a:r>
              <a:rPr sz="900" b="0" i="0">
                <a:solidFill>
                  <a:srgbClr val="1A2844"/>
                </a:solidFill>
                <a:latin typeface="Montserrat"/>
              </a:rPr>
              <a:t>Acuerdo de recompra COP $12M · 12 cuotas mensuales de $1M</a:t>
            </a:r>
          </a:p>
        </p:txBody>
      </p:sp>
      <p:sp>
        <p:nvSpPr>
          <p:cNvPr id="21" name="Rectangle 20"/>
          <p:cNvSpPr/>
          <p:nvPr/>
        </p:nvSpPr>
        <p:spPr>
          <a:xfrm>
            <a:off x="365760" y="4946904"/>
            <a:ext cx="1920240" cy="47548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5038344"/>
            <a:ext cx="1883664" cy="320040"/>
          </a:xfrm>
          <a:prstGeom prst="rect">
            <a:avLst/>
          </a:prstGeom>
          <a:noFill/>
        </p:spPr>
        <p:txBody>
          <a:bodyPr wrap="square">
            <a:spAutoFit/>
          </a:bodyPr>
          <a:lstStyle/>
          <a:p>
            <a:pPr algn="ctr"/>
            <a:r>
              <a:rPr sz="900" b="1" i="0">
                <a:solidFill>
                  <a:srgbClr val="FFFFFF"/>
                </a:solidFill>
                <a:latin typeface="Montserrat"/>
              </a:rPr>
              <a:t>May 2026</a:t>
            </a:r>
          </a:p>
        </p:txBody>
      </p:sp>
      <p:sp>
        <p:nvSpPr>
          <p:cNvPr id="23" name="Rectangle 22"/>
          <p:cNvSpPr/>
          <p:nvPr/>
        </p:nvSpPr>
        <p:spPr>
          <a:xfrm>
            <a:off x="2286000" y="5148072"/>
            <a:ext cx="73152" cy="73152"/>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4600" y="5020056"/>
            <a:ext cx="9144000" cy="365760"/>
          </a:xfrm>
          <a:prstGeom prst="rect">
            <a:avLst/>
          </a:prstGeom>
          <a:noFill/>
        </p:spPr>
        <p:txBody>
          <a:bodyPr wrap="square">
            <a:spAutoFit/>
          </a:bodyPr>
          <a:lstStyle/>
          <a:p>
            <a:pPr algn="l"/>
            <a:r>
              <a:rPr sz="900" b="0" i="0">
                <a:solidFill>
                  <a:srgbClr val="1A2844"/>
                </a:solidFill>
                <a:latin typeface="Montserrat"/>
              </a:rPr>
              <a:t>Proceso prejurídico exitoso · Abono adicional COP $3M · Total pagado: $6M</a:t>
            </a:r>
          </a:p>
        </p:txBody>
      </p:sp>
      <p:sp>
        <p:nvSpPr>
          <p:cNvPr id="25" name="Rectangle 24"/>
          <p:cNvSpPr/>
          <p:nvPr/>
        </p:nvSpPr>
        <p:spPr>
          <a:xfrm>
            <a:off x="365760" y="5513831"/>
            <a:ext cx="1920240" cy="47548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605271"/>
            <a:ext cx="1883664" cy="320040"/>
          </a:xfrm>
          <a:prstGeom prst="rect">
            <a:avLst/>
          </a:prstGeom>
          <a:noFill/>
        </p:spPr>
        <p:txBody>
          <a:bodyPr wrap="square">
            <a:spAutoFit/>
          </a:bodyPr>
          <a:lstStyle/>
          <a:p>
            <a:pPr algn="ctr"/>
            <a:r>
              <a:rPr sz="900" b="1" i="0">
                <a:solidFill>
                  <a:srgbClr val="0D1F3C"/>
                </a:solidFill>
                <a:latin typeface="Montserrat"/>
              </a:rPr>
              <a:t>Jun 2026</a:t>
            </a:r>
          </a:p>
        </p:txBody>
      </p:sp>
      <p:sp>
        <p:nvSpPr>
          <p:cNvPr id="27" name="Rectangle 26"/>
          <p:cNvSpPr/>
          <p:nvPr/>
        </p:nvSpPr>
        <p:spPr>
          <a:xfrm>
            <a:off x="2286000" y="5714999"/>
            <a:ext cx="73152" cy="73152"/>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14600" y="5586983"/>
            <a:ext cx="9144000" cy="365760"/>
          </a:xfrm>
          <a:prstGeom prst="rect">
            <a:avLst/>
          </a:prstGeom>
          <a:noFill/>
        </p:spPr>
        <p:txBody>
          <a:bodyPr wrap="square">
            <a:spAutoFit/>
          </a:bodyPr>
          <a:lstStyle/>
          <a:p>
            <a:pPr algn="l"/>
            <a:r>
              <a:rPr sz="900" b="0" i="0">
                <a:solidFill>
                  <a:srgbClr val="1A2844"/>
                </a:solidFill>
                <a:latin typeface="Montserrat"/>
              </a:rPr>
              <a:t>Saldo pendiente COP $6M pactado en 2 meses · Seguimiento activo</a:t>
            </a:r>
          </a:p>
        </p:txBody>
      </p:sp>
      <p:sp>
        <p:nvSpPr>
          <p:cNvPr id="29" name="Rectangle 28"/>
          <p:cNvSpPr/>
          <p:nvPr/>
        </p:nvSpPr>
        <p:spPr>
          <a:xfrm>
            <a:off x="320040" y="6400800"/>
            <a:ext cx="11430000" cy="29260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428232"/>
            <a:ext cx="11064240" cy="246888"/>
          </a:xfrm>
          <a:prstGeom prst="rect">
            <a:avLst/>
          </a:prstGeom>
          <a:noFill/>
        </p:spPr>
        <p:txBody>
          <a:bodyPr wrap="square">
            <a:spAutoFit/>
          </a:bodyPr>
          <a:lstStyle/>
          <a:p>
            <a:pPr algn="l"/>
            <a:r>
              <a:rPr sz="850" b="0" i="0">
                <a:solidFill>
                  <a:srgbClr val="FFFFFF"/>
                </a:solidFill>
                <a:latin typeface="Montserrat"/>
              </a:rPr>
              <a:t>IMPLICACIÓN ESTRATÉGICA: Este exit abre el modelo de recompra como mecanismo de liquidez adicional para el portafolio, complementando los procesos de M&amp;A y venta secundaria.</a:t>
            </a:r>
          </a:p>
        </p:txBody>
      </p:sp>
      <p:sp>
        <p:nvSpPr>
          <p:cNvPr id="31" name="TextBox 30"/>
          <p:cNvSpPr txBox="1"/>
          <p:nvPr/>
        </p:nvSpPr>
        <p:spPr>
          <a:xfrm>
            <a:off x="365760" y="6583680"/>
            <a:ext cx="11430000" cy="228600"/>
          </a:xfrm>
          <a:prstGeom prst="rect">
            <a:avLst/>
          </a:prstGeom>
          <a:noFill/>
        </p:spPr>
        <p:txBody>
          <a:bodyPr wrap="square">
            <a:spAutoFit/>
          </a:bodyPr>
          <a:lstStyle/>
          <a:p>
            <a:pPr algn="l"/>
            <a:r>
              <a:rPr sz="700" b="0" i="0">
                <a:solidFill>
                  <a:srgbClr val="A0AABB"/>
                </a:solidFill>
                <a:latin typeface="Montserrat"/>
              </a:rPr>
              <a:t>Cube Ventures · Reporte de Inversionistas H2 2025 · Confidencial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6400800" cy="502920"/>
          </a:xfrm>
          <a:prstGeom prst="rect">
            <a:avLst/>
          </a:prstGeom>
          <a:noFill/>
        </p:spPr>
        <p:txBody>
          <a:bodyPr wrap="square">
            <a:spAutoFit/>
          </a:bodyPr>
          <a:lstStyle/>
          <a:p>
            <a:pPr algn="l"/>
            <a:r>
              <a:rPr sz="2200" b="1" i="0">
                <a:solidFill>
                  <a:srgbClr val="FFFFFF"/>
                </a:solidFill>
                <a:latin typeface="Montserrat"/>
              </a:rPr>
              <a:t>Spotlight: Trii</a:t>
            </a:r>
          </a:p>
        </p:txBody>
      </p:sp>
      <p:sp>
        <p:nvSpPr>
          <p:cNvPr id="4" name="TextBox 3"/>
          <p:cNvSpPr txBox="1"/>
          <p:nvPr/>
        </p:nvSpPr>
        <p:spPr>
          <a:xfrm>
            <a:off x="457200" y="576072"/>
            <a:ext cx="10972800" cy="347472"/>
          </a:xfrm>
          <a:prstGeom prst="rect">
            <a:avLst/>
          </a:prstGeom>
          <a:noFill/>
        </p:spPr>
        <p:txBody>
          <a:bodyPr wrap="square">
            <a:spAutoFit/>
          </a:bodyPr>
          <a:lstStyle/>
          <a:p>
            <a:pPr algn="l"/>
            <a:r>
              <a:rPr sz="1100" b="0" i="0">
                <a:solidFill>
                  <a:srgbClr val="00B38A"/>
                </a:solidFill>
                <a:latin typeface="Montserrat"/>
              </a:rPr>
              <a:t>Plataforma de inversión bursátil digital · Colombia · Perú · Chile · Próximo: México</a:t>
            </a:r>
          </a:p>
        </p:txBody>
      </p:sp>
      <p:sp>
        <p:nvSpPr>
          <p:cNvPr id="5" name="Rectangle 4"/>
          <p:cNvSpPr/>
          <p:nvPr/>
        </p:nvSpPr>
        <p:spPr>
          <a:xfrm>
            <a:off x="9601200" y="1143000"/>
            <a:ext cx="2286000" cy="5486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1188720"/>
            <a:ext cx="2194560" cy="457200"/>
          </a:xfrm>
          <a:prstGeom prst="rect">
            <a:avLst/>
          </a:prstGeom>
          <a:noFill/>
        </p:spPr>
        <p:txBody>
          <a:bodyPr wrap="square">
            <a:spAutoFit/>
          </a:bodyPr>
          <a:lstStyle/>
          <a:p>
            <a:pPr algn="ctr"/>
            <a:r>
              <a:rPr sz="900" b="1" i="0">
                <a:solidFill>
                  <a:srgbClr val="0D1F3C"/>
                </a:solidFill>
                <a:latin typeface="Montserrat"/>
              </a:rPr>
              <a:t>Y COMBINATOR '21</a:t>
            </a:r>
          </a:p>
        </p:txBody>
      </p:sp>
      <p:sp>
        <p:nvSpPr>
          <p:cNvPr id="7" name="Rectangle 6"/>
          <p:cNvSpPr/>
          <p:nvPr/>
        </p:nvSpPr>
        <p:spPr>
          <a:xfrm>
            <a:off x="320040" y="1828800"/>
            <a:ext cx="3657600" cy="1920240"/>
          </a:xfrm>
          <a:prstGeom prst="rect">
            <a:avLst/>
          </a:prstGeom>
          <a:solidFill>
            <a:srgbClr val="E0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1965960"/>
            <a:ext cx="3474720" cy="731520"/>
          </a:xfrm>
          <a:prstGeom prst="rect">
            <a:avLst/>
          </a:prstGeom>
          <a:noFill/>
        </p:spPr>
        <p:txBody>
          <a:bodyPr wrap="square">
            <a:spAutoFit/>
          </a:bodyPr>
          <a:lstStyle/>
          <a:p>
            <a:pPr algn="ctr"/>
            <a:r>
              <a:rPr sz="2800" b="1" i="0">
                <a:solidFill>
                  <a:srgbClr val="00B38A"/>
                </a:solidFill>
                <a:latin typeface="Montserrat"/>
              </a:rPr>
              <a:t>US$567M</a:t>
            </a:r>
          </a:p>
        </p:txBody>
      </p:sp>
      <p:sp>
        <p:nvSpPr>
          <p:cNvPr id="9" name="TextBox 8"/>
          <p:cNvSpPr txBox="1"/>
          <p:nvPr/>
        </p:nvSpPr>
        <p:spPr>
          <a:xfrm>
            <a:off x="411479" y="2697480"/>
            <a:ext cx="3474720" cy="347472"/>
          </a:xfrm>
          <a:prstGeom prst="rect">
            <a:avLst/>
          </a:prstGeom>
          <a:noFill/>
        </p:spPr>
        <p:txBody>
          <a:bodyPr wrap="square">
            <a:spAutoFit/>
          </a:bodyPr>
          <a:lstStyle/>
          <a:p>
            <a:pPr algn="ctr"/>
            <a:r>
              <a:rPr sz="1000" b="1" i="0">
                <a:solidFill>
                  <a:srgbClr val="1A2844"/>
                </a:solidFill>
                <a:latin typeface="Montserrat"/>
              </a:rPr>
              <a:t>AUM Q1 2026</a:t>
            </a:r>
          </a:p>
        </p:txBody>
      </p:sp>
      <p:sp>
        <p:nvSpPr>
          <p:cNvPr id="10" name="TextBox 9"/>
          <p:cNvSpPr txBox="1"/>
          <p:nvPr/>
        </p:nvSpPr>
        <p:spPr>
          <a:xfrm>
            <a:off x="411479" y="3063240"/>
            <a:ext cx="3474720" cy="594360"/>
          </a:xfrm>
          <a:prstGeom prst="rect">
            <a:avLst/>
          </a:prstGeom>
          <a:noFill/>
        </p:spPr>
        <p:txBody>
          <a:bodyPr wrap="square">
            <a:spAutoFit/>
          </a:bodyPr>
          <a:lstStyle/>
          <a:p>
            <a:pPr algn="ctr"/>
            <a:r>
              <a:rPr sz="800" b="0" i="0">
                <a:solidFill>
                  <a:srgbClr val="A0AABB"/>
                </a:solidFill>
                <a:latin typeface="Montserrat"/>
              </a:rPr>
              <a:t>(vs US$100M en 2023
cuando invertimos)</a:t>
            </a:r>
          </a:p>
        </p:txBody>
      </p:sp>
      <p:sp>
        <p:nvSpPr>
          <p:cNvPr id="11" name="Rectangle 10"/>
          <p:cNvSpPr/>
          <p:nvPr/>
        </p:nvSpPr>
        <p:spPr>
          <a:xfrm>
            <a:off x="4270248" y="1828800"/>
            <a:ext cx="3657600" cy="19202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61688" y="1965960"/>
            <a:ext cx="3474720" cy="731520"/>
          </a:xfrm>
          <a:prstGeom prst="rect">
            <a:avLst/>
          </a:prstGeom>
          <a:noFill/>
        </p:spPr>
        <p:txBody>
          <a:bodyPr wrap="square">
            <a:spAutoFit/>
          </a:bodyPr>
          <a:lstStyle/>
          <a:p>
            <a:pPr algn="ctr"/>
            <a:r>
              <a:rPr sz="2800" b="1" i="0">
                <a:solidFill>
                  <a:srgbClr val="00B38A"/>
                </a:solidFill>
                <a:latin typeface="Montserrat"/>
              </a:rPr>
              <a:t>300K+</a:t>
            </a:r>
          </a:p>
        </p:txBody>
      </p:sp>
      <p:sp>
        <p:nvSpPr>
          <p:cNvPr id="13" name="TextBox 12"/>
          <p:cNvSpPr txBox="1"/>
          <p:nvPr/>
        </p:nvSpPr>
        <p:spPr>
          <a:xfrm>
            <a:off x="4361688" y="2697480"/>
            <a:ext cx="3474720" cy="347472"/>
          </a:xfrm>
          <a:prstGeom prst="rect">
            <a:avLst/>
          </a:prstGeom>
          <a:noFill/>
        </p:spPr>
        <p:txBody>
          <a:bodyPr wrap="square">
            <a:spAutoFit/>
          </a:bodyPr>
          <a:lstStyle/>
          <a:p>
            <a:pPr algn="ctr"/>
            <a:r>
              <a:rPr sz="1000" b="1" i="0">
                <a:solidFill>
                  <a:srgbClr val="1A2844"/>
                </a:solidFill>
                <a:latin typeface="Montserrat"/>
              </a:rPr>
              <a:t>Cuentas Fondeadas</a:t>
            </a:r>
          </a:p>
        </p:txBody>
      </p:sp>
      <p:sp>
        <p:nvSpPr>
          <p:cNvPr id="14" name="TextBox 13"/>
          <p:cNvSpPr txBox="1"/>
          <p:nvPr/>
        </p:nvSpPr>
        <p:spPr>
          <a:xfrm>
            <a:off x="4361688" y="3063240"/>
            <a:ext cx="3474720" cy="594360"/>
          </a:xfrm>
          <a:prstGeom prst="rect">
            <a:avLst/>
          </a:prstGeom>
          <a:noFill/>
        </p:spPr>
        <p:txBody>
          <a:bodyPr wrap="square">
            <a:spAutoFit/>
          </a:bodyPr>
          <a:lstStyle/>
          <a:p>
            <a:pPr algn="ctr"/>
            <a:r>
              <a:rPr sz="800" b="0" i="0">
                <a:solidFill>
                  <a:srgbClr val="A0AABB"/>
                </a:solidFill>
                <a:latin typeface="Montserrat"/>
              </a:rPr>
              <a:t>3 países operando</a:t>
            </a:r>
          </a:p>
        </p:txBody>
      </p:sp>
      <p:sp>
        <p:nvSpPr>
          <p:cNvPr id="15" name="Rectangle 14"/>
          <p:cNvSpPr/>
          <p:nvPr/>
        </p:nvSpPr>
        <p:spPr>
          <a:xfrm>
            <a:off x="8220456" y="1828800"/>
            <a:ext cx="3657600" cy="1920240"/>
          </a:xfrm>
          <a:prstGeom prst="rect">
            <a:avLst/>
          </a:prstGeom>
          <a:solidFill>
            <a:srgbClr val="E0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1896" y="1965960"/>
            <a:ext cx="3474720" cy="731520"/>
          </a:xfrm>
          <a:prstGeom prst="rect">
            <a:avLst/>
          </a:prstGeom>
          <a:noFill/>
        </p:spPr>
        <p:txBody>
          <a:bodyPr wrap="square">
            <a:spAutoFit/>
          </a:bodyPr>
          <a:lstStyle/>
          <a:p>
            <a:pPr algn="ctr"/>
            <a:r>
              <a:rPr sz="2800" b="1" i="0">
                <a:solidFill>
                  <a:srgbClr val="00B38A"/>
                </a:solidFill>
                <a:latin typeface="Montserrat"/>
              </a:rPr>
              <a:t>US$2.1M</a:t>
            </a:r>
          </a:p>
        </p:txBody>
      </p:sp>
      <p:sp>
        <p:nvSpPr>
          <p:cNvPr id="17" name="TextBox 16"/>
          <p:cNvSpPr txBox="1"/>
          <p:nvPr/>
        </p:nvSpPr>
        <p:spPr>
          <a:xfrm>
            <a:off x="8311896" y="2697480"/>
            <a:ext cx="3474720" cy="347472"/>
          </a:xfrm>
          <a:prstGeom prst="rect">
            <a:avLst/>
          </a:prstGeom>
          <a:noFill/>
        </p:spPr>
        <p:txBody>
          <a:bodyPr wrap="square">
            <a:spAutoFit/>
          </a:bodyPr>
          <a:lstStyle/>
          <a:p>
            <a:pPr algn="ctr"/>
            <a:r>
              <a:rPr sz="1000" b="1" i="0">
                <a:solidFill>
                  <a:srgbClr val="1A2844"/>
                </a:solidFill>
                <a:latin typeface="Montserrat"/>
              </a:rPr>
              <a:t>Revenue Q1 2026</a:t>
            </a:r>
          </a:p>
        </p:txBody>
      </p:sp>
      <p:sp>
        <p:nvSpPr>
          <p:cNvPr id="18" name="TextBox 17"/>
          <p:cNvSpPr txBox="1"/>
          <p:nvPr/>
        </p:nvSpPr>
        <p:spPr>
          <a:xfrm>
            <a:off x="8311896" y="3063240"/>
            <a:ext cx="3474720" cy="594360"/>
          </a:xfrm>
          <a:prstGeom prst="rect">
            <a:avLst/>
          </a:prstGeom>
          <a:noFill/>
        </p:spPr>
        <p:txBody>
          <a:bodyPr wrap="square">
            <a:spAutoFit/>
          </a:bodyPr>
          <a:lstStyle/>
          <a:p>
            <a:pPr algn="ctr"/>
            <a:r>
              <a:rPr sz="800" b="0" i="0">
                <a:solidFill>
                  <a:srgbClr val="A0AABB"/>
                </a:solidFill>
                <a:latin typeface="Montserrat"/>
              </a:rPr>
              <a:t>(vs US$1.38M en 2025)</a:t>
            </a:r>
          </a:p>
        </p:txBody>
      </p:sp>
      <p:sp>
        <p:nvSpPr>
          <p:cNvPr id="19" name="Rectangle 18"/>
          <p:cNvSpPr/>
          <p:nvPr/>
        </p:nvSpPr>
        <p:spPr>
          <a:xfrm>
            <a:off x="320040" y="3931920"/>
            <a:ext cx="3657600" cy="19202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4069080"/>
            <a:ext cx="3474720" cy="731520"/>
          </a:xfrm>
          <a:prstGeom prst="rect">
            <a:avLst/>
          </a:prstGeom>
          <a:noFill/>
        </p:spPr>
        <p:txBody>
          <a:bodyPr wrap="square">
            <a:spAutoFit/>
          </a:bodyPr>
          <a:lstStyle/>
          <a:p>
            <a:pPr algn="ctr"/>
            <a:r>
              <a:rPr sz="2800" b="1" i="0">
                <a:solidFill>
                  <a:srgbClr val="00B38A"/>
                </a:solidFill>
                <a:latin typeface="Montserrat"/>
              </a:rPr>
              <a:t>EBITDA+</a:t>
            </a:r>
          </a:p>
        </p:txBody>
      </p:sp>
      <p:sp>
        <p:nvSpPr>
          <p:cNvPr id="21" name="TextBox 20"/>
          <p:cNvSpPr txBox="1"/>
          <p:nvPr/>
        </p:nvSpPr>
        <p:spPr>
          <a:xfrm>
            <a:off x="411479" y="4800600"/>
            <a:ext cx="3474720" cy="347472"/>
          </a:xfrm>
          <a:prstGeom prst="rect">
            <a:avLst/>
          </a:prstGeom>
          <a:noFill/>
        </p:spPr>
        <p:txBody>
          <a:bodyPr wrap="square">
            <a:spAutoFit/>
          </a:bodyPr>
          <a:lstStyle/>
          <a:p>
            <a:pPr algn="ctr"/>
            <a:r>
              <a:rPr sz="1000" b="1" i="0">
                <a:solidFill>
                  <a:srgbClr val="1A2844"/>
                </a:solidFill>
                <a:latin typeface="Montserrat"/>
              </a:rPr>
              <a:t>Rentabilidad</a:t>
            </a:r>
          </a:p>
        </p:txBody>
      </p:sp>
      <p:sp>
        <p:nvSpPr>
          <p:cNvPr id="22" name="TextBox 21"/>
          <p:cNvSpPr txBox="1"/>
          <p:nvPr/>
        </p:nvSpPr>
        <p:spPr>
          <a:xfrm>
            <a:off x="411479" y="5166360"/>
            <a:ext cx="3474720" cy="594360"/>
          </a:xfrm>
          <a:prstGeom prst="rect">
            <a:avLst/>
          </a:prstGeom>
          <a:noFill/>
        </p:spPr>
        <p:txBody>
          <a:bodyPr wrap="square">
            <a:spAutoFit/>
          </a:bodyPr>
          <a:lstStyle/>
          <a:p>
            <a:pPr algn="ctr"/>
            <a:r>
              <a:rPr sz="800" b="0" i="0">
                <a:solidFill>
                  <a:srgbClr val="A0AABB"/>
                </a:solidFill>
                <a:latin typeface="Montserrat"/>
              </a:rPr>
              <a:t>Alcanzada Q2 2025
Sostenida en 2026</a:t>
            </a:r>
          </a:p>
        </p:txBody>
      </p:sp>
      <p:sp>
        <p:nvSpPr>
          <p:cNvPr id="23" name="Rectangle 22"/>
          <p:cNvSpPr/>
          <p:nvPr/>
        </p:nvSpPr>
        <p:spPr>
          <a:xfrm>
            <a:off x="4270248" y="3931920"/>
            <a:ext cx="3657600" cy="1920240"/>
          </a:xfrm>
          <a:prstGeom prst="rect">
            <a:avLst/>
          </a:prstGeom>
          <a:solidFill>
            <a:srgbClr val="E0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61688" y="4069080"/>
            <a:ext cx="3474720" cy="731520"/>
          </a:xfrm>
          <a:prstGeom prst="rect">
            <a:avLst/>
          </a:prstGeom>
          <a:noFill/>
        </p:spPr>
        <p:txBody>
          <a:bodyPr wrap="square">
            <a:spAutoFit/>
          </a:bodyPr>
          <a:lstStyle/>
          <a:p>
            <a:pPr algn="ctr"/>
            <a:r>
              <a:rPr sz="2800" b="1" i="0">
                <a:solidFill>
                  <a:srgbClr val="00B38A"/>
                </a:solidFill>
                <a:latin typeface="Montserrat"/>
              </a:rPr>
              <a:t>+71%</a:t>
            </a:r>
          </a:p>
        </p:txBody>
      </p:sp>
      <p:sp>
        <p:nvSpPr>
          <p:cNvPr id="25" name="TextBox 24"/>
          <p:cNvSpPr txBox="1"/>
          <p:nvPr/>
        </p:nvSpPr>
        <p:spPr>
          <a:xfrm>
            <a:off x="4361688" y="4800600"/>
            <a:ext cx="3474720" cy="347472"/>
          </a:xfrm>
          <a:prstGeom prst="rect">
            <a:avLst/>
          </a:prstGeom>
          <a:noFill/>
        </p:spPr>
        <p:txBody>
          <a:bodyPr wrap="square">
            <a:spAutoFit/>
          </a:bodyPr>
          <a:lstStyle/>
          <a:p>
            <a:pPr algn="ctr"/>
            <a:r>
              <a:rPr sz="1000" b="1" i="0">
                <a:solidFill>
                  <a:srgbClr val="1A2844"/>
                </a:solidFill>
                <a:latin typeface="Montserrat"/>
              </a:rPr>
              <a:t>Crecimiento AUM</a:t>
            </a:r>
          </a:p>
        </p:txBody>
      </p:sp>
      <p:sp>
        <p:nvSpPr>
          <p:cNvPr id="26" name="TextBox 25"/>
          <p:cNvSpPr txBox="1"/>
          <p:nvPr/>
        </p:nvSpPr>
        <p:spPr>
          <a:xfrm>
            <a:off x="4361688" y="5166360"/>
            <a:ext cx="3474720" cy="594360"/>
          </a:xfrm>
          <a:prstGeom prst="rect">
            <a:avLst/>
          </a:prstGeom>
          <a:noFill/>
        </p:spPr>
        <p:txBody>
          <a:bodyPr wrap="square">
            <a:spAutoFit/>
          </a:bodyPr>
          <a:lstStyle/>
          <a:p>
            <a:pPr algn="ctr"/>
            <a:r>
              <a:rPr sz="800" b="0" i="0">
                <a:solidFill>
                  <a:srgbClr val="A0AABB"/>
                </a:solidFill>
                <a:latin typeface="Montserrat"/>
              </a:rPr>
              <a:t>2024 → 2025</a:t>
            </a:r>
          </a:p>
        </p:txBody>
      </p:sp>
      <p:sp>
        <p:nvSpPr>
          <p:cNvPr id="27" name="Rectangle 26"/>
          <p:cNvSpPr/>
          <p:nvPr/>
        </p:nvSpPr>
        <p:spPr>
          <a:xfrm>
            <a:off x="8220456" y="3931920"/>
            <a:ext cx="3657600" cy="19202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11896" y="4069080"/>
            <a:ext cx="3474720" cy="731520"/>
          </a:xfrm>
          <a:prstGeom prst="rect">
            <a:avLst/>
          </a:prstGeom>
          <a:noFill/>
        </p:spPr>
        <p:txBody>
          <a:bodyPr wrap="square">
            <a:spAutoFit/>
          </a:bodyPr>
          <a:lstStyle/>
          <a:p>
            <a:pPr algn="ctr"/>
            <a:r>
              <a:rPr sz="2800" b="1" i="0">
                <a:solidFill>
                  <a:srgbClr val="00B38A"/>
                </a:solidFill>
                <a:latin typeface="Montserrat"/>
              </a:rPr>
              <a:t>México</a:t>
            </a:r>
          </a:p>
        </p:txBody>
      </p:sp>
      <p:sp>
        <p:nvSpPr>
          <p:cNvPr id="29" name="TextBox 28"/>
          <p:cNvSpPr txBox="1"/>
          <p:nvPr/>
        </p:nvSpPr>
        <p:spPr>
          <a:xfrm>
            <a:off x="8311896" y="4800600"/>
            <a:ext cx="3474720" cy="347472"/>
          </a:xfrm>
          <a:prstGeom prst="rect">
            <a:avLst/>
          </a:prstGeom>
          <a:noFill/>
        </p:spPr>
        <p:txBody>
          <a:bodyPr wrap="square">
            <a:spAutoFit/>
          </a:bodyPr>
          <a:lstStyle/>
          <a:p>
            <a:pPr algn="ctr"/>
            <a:r>
              <a:rPr sz="1000" b="1" i="0">
                <a:solidFill>
                  <a:srgbClr val="1A2844"/>
                </a:solidFill>
                <a:latin typeface="Montserrat"/>
              </a:rPr>
              <a:t>Próxima Expansión</a:t>
            </a:r>
          </a:p>
        </p:txBody>
      </p:sp>
      <p:sp>
        <p:nvSpPr>
          <p:cNvPr id="30" name="TextBox 29"/>
          <p:cNvSpPr txBox="1"/>
          <p:nvPr/>
        </p:nvSpPr>
        <p:spPr>
          <a:xfrm>
            <a:off x="8311896" y="5166360"/>
            <a:ext cx="3474720" cy="594360"/>
          </a:xfrm>
          <a:prstGeom prst="rect">
            <a:avLst/>
          </a:prstGeom>
          <a:noFill/>
        </p:spPr>
        <p:txBody>
          <a:bodyPr wrap="square">
            <a:spAutoFit/>
          </a:bodyPr>
          <a:lstStyle/>
          <a:p>
            <a:pPr algn="ctr"/>
            <a:r>
              <a:rPr sz="800" b="0" i="0">
                <a:solidFill>
                  <a:srgbClr val="A0AABB"/>
                </a:solidFill>
                <a:latin typeface="Montserrat"/>
              </a:rPr>
              <a:t>Mayor mercado hispano
de inversión minorista</a:t>
            </a:r>
          </a:p>
        </p:txBody>
      </p:sp>
      <p:sp>
        <p:nvSpPr>
          <p:cNvPr id="31" name="Rectangle 30"/>
          <p:cNvSpPr/>
          <p:nvPr/>
        </p:nvSpPr>
        <p:spPr>
          <a:xfrm>
            <a:off x="320040" y="6035040"/>
            <a:ext cx="11430000" cy="59436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080760"/>
            <a:ext cx="11064240" cy="502920"/>
          </a:xfrm>
          <a:prstGeom prst="rect">
            <a:avLst/>
          </a:prstGeom>
          <a:noFill/>
        </p:spPr>
        <p:txBody>
          <a:bodyPr wrap="square">
            <a:spAutoFit/>
          </a:bodyPr>
          <a:lstStyle/>
          <a:p>
            <a:pPr algn="l"/>
            <a:r>
              <a:rPr sz="850" b="0" i="0">
                <a:solidFill>
                  <a:srgbClr val="FFFFFF"/>
                </a:solidFill>
                <a:latin typeface="Montserrat"/>
              </a:rPr>
              <a:t>Nuestra inversión: US$5,000 · Feb 2023 · 0.02% de participación  │  ESTRATEGIA: Preservar exposición al crecimiento · Evaluar oportunidad de secundario · Expansión México 2026 abre nueva dimensión de escala</a:t>
            </a:r>
          </a:p>
        </p:txBody>
      </p:sp>
      <p:sp>
        <p:nvSpPr>
          <p:cNvPr id="33" name="TextBox 32"/>
          <p:cNvSpPr txBox="1"/>
          <p:nvPr/>
        </p:nvSpPr>
        <p:spPr>
          <a:xfrm>
            <a:off x="365760" y="6583680"/>
            <a:ext cx="11430000" cy="228600"/>
          </a:xfrm>
          <a:prstGeom prst="rect">
            <a:avLst/>
          </a:prstGeom>
          <a:noFill/>
        </p:spPr>
        <p:txBody>
          <a:bodyPr wrap="square">
            <a:spAutoFit/>
          </a:bodyPr>
          <a:lstStyle/>
          <a:p>
            <a:pPr algn="l"/>
            <a:r>
              <a:rPr sz="700" b="0" i="0">
                <a:solidFill>
                  <a:srgbClr val="A0AABB"/>
                </a:solidFill>
                <a:latin typeface="Montserrat"/>
              </a:rPr>
              <a:t>Cube Ventures · Reporte de Inversionistas H2 2025 · Confidencial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144000" cy="502920"/>
          </a:xfrm>
          <a:prstGeom prst="rect">
            <a:avLst/>
          </a:prstGeom>
          <a:noFill/>
        </p:spPr>
        <p:txBody>
          <a:bodyPr wrap="square">
            <a:spAutoFit/>
          </a:bodyPr>
          <a:lstStyle/>
          <a:p>
            <a:pPr algn="l"/>
            <a:r>
              <a:rPr sz="2200" b="1" i="0">
                <a:solidFill>
                  <a:srgbClr val="FFFFFF"/>
                </a:solidFill>
                <a:latin typeface="Montserrat"/>
              </a:rPr>
              <a:t>Spotlight: Geacco  |  Desempeño ALTO (3.92/4.0)</a:t>
            </a:r>
          </a:p>
        </p:txBody>
      </p:sp>
      <p:sp>
        <p:nvSpPr>
          <p:cNvPr id="4" name="TextBox 3"/>
          <p:cNvSpPr txBox="1"/>
          <p:nvPr/>
        </p:nvSpPr>
        <p:spPr>
          <a:xfrm>
            <a:off x="457200" y="576072"/>
            <a:ext cx="10972800" cy="347472"/>
          </a:xfrm>
          <a:prstGeom prst="rect">
            <a:avLst/>
          </a:prstGeom>
          <a:noFill/>
        </p:spPr>
        <p:txBody>
          <a:bodyPr wrap="square">
            <a:spAutoFit/>
          </a:bodyPr>
          <a:lstStyle/>
          <a:p>
            <a:pPr algn="l"/>
            <a:r>
              <a:rPr sz="1100" b="0" i="0">
                <a:solidFill>
                  <a:srgbClr val="E0F7F1"/>
                </a:solidFill>
                <a:latin typeface="Montserrat"/>
              </a:rPr>
              <a:t>Gestión y automatización de bienes en leasing · SaaS B2B · Clientes Tier-1 · Expansión México 2026</a:t>
            </a:r>
          </a:p>
        </p:txBody>
      </p:sp>
      <p:sp>
        <p:nvSpPr>
          <p:cNvPr id="5" name="Rectangle 4"/>
          <p:cNvSpPr/>
          <p:nvPr/>
        </p:nvSpPr>
        <p:spPr>
          <a:xfrm>
            <a:off x="320040" y="1097280"/>
            <a:ext cx="5303520" cy="438912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88720"/>
            <a:ext cx="5029200" cy="365760"/>
          </a:xfrm>
          <a:prstGeom prst="rect">
            <a:avLst/>
          </a:prstGeom>
          <a:noFill/>
        </p:spPr>
        <p:txBody>
          <a:bodyPr wrap="square">
            <a:spAutoFit/>
          </a:bodyPr>
          <a:lstStyle/>
          <a:p>
            <a:pPr algn="l"/>
            <a:r>
              <a:rPr sz="1000" b="1" i="0">
                <a:solidFill>
                  <a:srgbClr val="FFFFFF"/>
                </a:solidFill>
                <a:latin typeface="Montserrat"/>
              </a:rPr>
              <a:t>CRECIMIENTO DE INGRESOS</a:t>
            </a:r>
          </a:p>
        </p:txBody>
      </p:sp>
      <p:sp>
        <p:nvSpPr>
          <p:cNvPr id="7" name="Rectangle 6"/>
          <p:cNvSpPr/>
          <p:nvPr/>
        </p:nvSpPr>
        <p:spPr>
          <a:xfrm>
            <a:off x="1097280" y="3931920"/>
            <a:ext cx="1371600" cy="1280160"/>
          </a:xfrm>
          <a:prstGeom prst="rect">
            <a:avLst/>
          </a:prstGeom>
          <a:solidFill>
            <a:srgbClr val="A0AA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520440"/>
            <a:ext cx="1554480" cy="365760"/>
          </a:xfrm>
          <a:prstGeom prst="rect">
            <a:avLst/>
          </a:prstGeom>
          <a:noFill/>
        </p:spPr>
        <p:txBody>
          <a:bodyPr wrap="square">
            <a:spAutoFit/>
          </a:bodyPr>
          <a:lstStyle/>
          <a:p>
            <a:pPr algn="ctr"/>
            <a:r>
              <a:rPr sz="1300" b="1" i="0">
                <a:solidFill>
                  <a:srgbClr val="A0AABB"/>
                </a:solidFill>
                <a:latin typeface="Montserrat"/>
              </a:rPr>
              <a:t>$618K</a:t>
            </a:r>
          </a:p>
        </p:txBody>
      </p:sp>
      <p:sp>
        <p:nvSpPr>
          <p:cNvPr id="9" name="TextBox 8"/>
          <p:cNvSpPr txBox="1"/>
          <p:nvPr/>
        </p:nvSpPr>
        <p:spPr>
          <a:xfrm>
            <a:off x="1005840" y="5230368"/>
            <a:ext cx="1554480" cy="274320"/>
          </a:xfrm>
          <a:prstGeom prst="rect">
            <a:avLst/>
          </a:prstGeom>
          <a:noFill/>
        </p:spPr>
        <p:txBody>
          <a:bodyPr wrap="square">
            <a:spAutoFit/>
          </a:bodyPr>
          <a:lstStyle/>
          <a:p>
            <a:pPr algn="ctr"/>
            <a:r>
              <a:rPr sz="1000" b="0" i="0">
                <a:solidFill>
                  <a:srgbClr val="FFFFFF"/>
                </a:solidFill>
                <a:latin typeface="Montserrat"/>
              </a:rPr>
              <a:t>2024</a:t>
            </a:r>
          </a:p>
        </p:txBody>
      </p:sp>
      <p:sp>
        <p:nvSpPr>
          <p:cNvPr id="10" name="Rectangle 9"/>
          <p:cNvSpPr/>
          <p:nvPr/>
        </p:nvSpPr>
        <p:spPr>
          <a:xfrm>
            <a:off x="2834640" y="2651760"/>
            <a:ext cx="1371600" cy="256032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2286000"/>
            <a:ext cx="1554480" cy="365760"/>
          </a:xfrm>
          <a:prstGeom prst="rect">
            <a:avLst/>
          </a:prstGeom>
          <a:noFill/>
        </p:spPr>
        <p:txBody>
          <a:bodyPr wrap="square">
            <a:spAutoFit/>
          </a:bodyPr>
          <a:lstStyle/>
          <a:p>
            <a:pPr algn="ctr"/>
            <a:r>
              <a:rPr sz="1300" b="1" i="0">
                <a:solidFill>
                  <a:srgbClr val="00B38A"/>
                </a:solidFill>
                <a:latin typeface="Montserrat"/>
              </a:rPr>
              <a:t>$1.17M</a:t>
            </a:r>
          </a:p>
        </p:txBody>
      </p:sp>
      <p:sp>
        <p:nvSpPr>
          <p:cNvPr id="12" name="TextBox 11"/>
          <p:cNvSpPr txBox="1"/>
          <p:nvPr/>
        </p:nvSpPr>
        <p:spPr>
          <a:xfrm>
            <a:off x="2743200" y="5230368"/>
            <a:ext cx="1554480" cy="274320"/>
          </a:xfrm>
          <a:prstGeom prst="rect">
            <a:avLst/>
          </a:prstGeom>
          <a:noFill/>
        </p:spPr>
        <p:txBody>
          <a:bodyPr wrap="square">
            <a:spAutoFit/>
          </a:bodyPr>
          <a:lstStyle/>
          <a:p>
            <a:pPr algn="ctr"/>
            <a:r>
              <a:rPr sz="1000" b="0" i="0">
                <a:solidFill>
                  <a:srgbClr val="FFFFFF"/>
                </a:solidFill>
                <a:latin typeface="Montserrat"/>
              </a:rPr>
              <a:t>2025</a:t>
            </a:r>
          </a:p>
        </p:txBody>
      </p:sp>
      <p:sp>
        <p:nvSpPr>
          <p:cNvPr id="13" name="TextBox 12"/>
          <p:cNvSpPr txBox="1"/>
          <p:nvPr/>
        </p:nvSpPr>
        <p:spPr>
          <a:xfrm>
            <a:off x="411480" y="3566160"/>
            <a:ext cx="5029200" cy="502920"/>
          </a:xfrm>
          <a:prstGeom prst="rect">
            <a:avLst/>
          </a:prstGeom>
          <a:noFill/>
        </p:spPr>
        <p:txBody>
          <a:bodyPr wrap="square">
            <a:spAutoFit/>
          </a:bodyPr>
          <a:lstStyle/>
          <a:p>
            <a:pPr algn="ctr"/>
            <a:r>
              <a:rPr sz="2400" b="1" i="0">
                <a:solidFill>
                  <a:srgbClr val="F5A623"/>
                </a:solidFill>
                <a:latin typeface="Montserrat"/>
              </a:rPr>
              <a:t>+89.47%</a:t>
            </a:r>
          </a:p>
        </p:txBody>
      </p:sp>
      <p:sp>
        <p:nvSpPr>
          <p:cNvPr id="14" name="TextBox 13"/>
          <p:cNvSpPr txBox="1"/>
          <p:nvPr/>
        </p:nvSpPr>
        <p:spPr>
          <a:xfrm>
            <a:off x="411480" y="4846320"/>
            <a:ext cx="5029200" cy="320040"/>
          </a:xfrm>
          <a:prstGeom prst="rect">
            <a:avLst/>
          </a:prstGeom>
          <a:noFill/>
        </p:spPr>
        <p:txBody>
          <a:bodyPr wrap="square">
            <a:spAutoFit/>
          </a:bodyPr>
          <a:lstStyle/>
          <a:p>
            <a:pPr algn="ctr"/>
            <a:r>
              <a:rPr sz="900" b="0" i="0">
                <a:solidFill>
                  <a:srgbClr val="A0AABB"/>
                </a:solidFill>
                <a:latin typeface="Montserrat"/>
              </a:rPr>
              <a:t>#1 en facturación del portafolio</a:t>
            </a:r>
          </a:p>
        </p:txBody>
      </p:sp>
      <p:sp>
        <p:nvSpPr>
          <p:cNvPr id="15" name="Rectangle 14"/>
          <p:cNvSpPr/>
          <p:nvPr/>
        </p:nvSpPr>
        <p:spPr>
          <a:xfrm>
            <a:off x="5943600" y="1097280"/>
            <a:ext cx="5943600" cy="1005840"/>
          </a:xfrm>
          <a:prstGeom prst="rect">
            <a:avLst/>
          </a:prstGeom>
          <a:solidFill>
            <a:srgbClr val="E0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1170432"/>
            <a:ext cx="1828800" cy="347472"/>
          </a:xfrm>
          <a:prstGeom prst="rect">
            <a:avLst/>
          </a:prstGeom>
          <a:noFill/>
        </p:spPr>
        <p:txBody>
          <a:bodyPr wrap="square">
            <a:spAutoFit/>
          </a:bodyPr>
          <a:lstStyle/>
          <a:p>
            <a:pPr algn="l"/>
            <a:r>
              <a:rPr sz="900" b="1" i="0">
                <a:solidFill>
                  <a:srgbClr val="00B38A"/>
                </a:solidFill>
                <a:latin typeface="Montserrat"/>
              </a:rPr>
              <a:t>CLIENTES</a:t>
            </a:r>
          </a:p>
        </p:txBody>
      </p:sp>
      <p:sp>
        <p:nvSpPr>
          <p:cNvPr id="17" name="TextBox 16"/>
          <p:cNvSpPr txBox="1"/>
          <p:nvPr/>
        </p:nvSpPr>
        <p:spPr>
          <a:xfrm>
            <a:off x="6080760" y="1508760"/>
            <a:ext cx="5669280" cy="530352"/>
          </a:xfrm>
          <a:prstGeom prst="rect">
            <a:avLst/>
          </a:prstGeom>
          <a:noFill/>
        </p:spPr>
        <p:txBody>
          <a:bodyPr wrap="square">
            <a:spAutoFit/>
          </a:bodyPr>
          <a:lstStyle/>
          <a:p>
            <a:pPr algn="l"/>
            <a:r>
              <a:rPr sz="950" b="0" i="0">
                <a:solidFill>
                  <a:srgbClr val="1A2844"/>
                </a:solidFill>
                <a:latin typeface="Montserrat"/>
              </a:rPr>
              <a:t>Itaú · Davivienda · Banco de Occidente
Banco Finandina · Tangelo · IRIS</a:t>
            </a:r>
          </a:p>
        </p:txBody>
      </p:sp>
      <p:sp>
        <p:nvSpPr>
          <p:cNvPr id="18" name="Rectangle 17"/>
          <p:cNvSpPr/>
          <p:nvPr/>
        </p:nvSpPr>
        <p:spPr>
          <a:xfrm>
            <a:off x="5943600" y="2194560"/>
            <a:ext cx="5943600" cy="1005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80760" y="2267712"/>
            <a:ext cx="1828800" cy="347472"/>
          </a:xfrm>
          <a:prstGeom prst="rect">
            <a:avLst/>
          </a:prstGeom>
          <a:noFill/>
        </p:spPr>
        <p:txBody>
          <a:bodyPr wrap="square">
            <a:spAutoFit/>
          </a:bodyPr>
          <a:lstStyle/>
          <a:p>
            <a:pPr algn="l"/>
            <a:r>
              <a:rPr sz="900" b="1" i="0">
                <a:solidFill>
                  <a:srgbClr val="00B38A"/>
                </a:solidFill>
                <a:latin typeface="Montserrat"/>
              </a:rPr>
              <a:t>HITO 2025</a:t>
            </a:r>
          </a:p>
        </p:txBody>
      </p:sp>
      <p:sp>
        <p:nvSpPr>
          <p:cNvPr id="20" name="TextBox 19"/>
          <p:cNvSpPr txBox="1"/>
          <p:nvPr/>
        </p:nvSpPr>
        <p:spPr>
          <a:xfrm>
            <a:off x="6080760" y="2606040"/>
            <a:ext cx="5669280" cy="530352"/>
          </a:xfrm>
          <a:prstGeom prst="rect">
            <a:avLst/>
          </a:prstGeom>
          <a:noFill/>
        </p:spPr>
        <p:txBody>
          <a:bodyPr wrap="square">
            <a:spAutoFit/>
          </a:bodyPr>
          <a:lstStyle/>
          <a:p>
            <a:pPr algn="l"/>
            <a:r>
              <a:rPr sz="950" b="0" i="0">
                <a:solidFill>
                  <a:srgbClr val="1A2844"/>
                </a:solidFill>
                <a:latin typeface="Montserrat"/>
              </a:rPr>
              <a:t>Primera empresa del portafolio
en cruzar US$1M ARR</a:t>
            </a:r>
          </a:p>
        </p:txBody>
      </p:sp>
      <p:sp>
        <p:nvSpPr>
          <p:cNvPr id="21" name="Rectangle 20"/>
          <p:cNvSpPr/>
          <p:nvPr/>
        </p:nvSpPr>
        <p:spPr>
          <a:xfrm>
            <a:off x="5943600" y="3291839"/>
            <a:ext cx="5943600" cy="1005840"/>
          </a:xfrm>
          <a:prstGeom prst="rect">
            <a:avLst/>
          </a:prstGeom>
          <a:solidFill>
            <a:srgbClr val="E0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0" y="3364991"/>
            <a:ext cx="1828800" cy="347472"/>
          </a:xfrm>
          <a:prstGeom prst="rect">
            <a:avLst/>
          </a:prstGeom>
          <a:noFill/>
        </p:spPr>
        <p:txBody>
          <a:bodyPr wrap="square">
            <a:spAutoFit/>
          </a:bodyPr>
          <a:lstStyle/>
          <a:p>
            <a:pPr algn="l"/>
            <a:r>
              <a:rPr sz="900" b="1" i="0">
                <a:solidFill>
                  <a:srgbClr val="00B38A"/>
                </a:solidFill>
                <a:latin typeface="Montserrat"/>
              </a:rPr>
              <a:t>2026</a:t>
            </a:r>
          </a:p>
        </p:txBody>
      </p:sp>
      <p:sp>
        <p:nvSpPr>
          <p:cNvPr id="23" name="TextBox 22"/>
          <p:cNvSpPr txBox="1"/>
          <p:nvPr/>
        </p:nvSpPr>
        <p:spPr>
          <a:xfrm>
            <a:off x="6080760" y="3703320"/>
            <a:ext cx="5669280" cy="530352"/>
          </a:xfrm>
          <a:prstGeom prst="rect">
            <a:avLst/>
          </a:prstGeom>
          <a:noFill/>
        </p:spPr>
        <p:txBody>
          <a:bodyPr wrap="square">
            <a:spAutoFit/>
          </a:bodyPr>
          <a:lstStyle/>
          <a:p>
            <a:pPr algn="l"/>
            <a:r>
              <a:rPr sz="950" b="0" i="0">
                <a:solidFill>
                  <a:srgbClr val="1A2844"/>
                </a:solidFill>
                <a:latin typeface="Montserrat"/>
              </a:rPr>
              <a:t>Expansión a México · S2 2026
Sistema financiero más grande de LatAm</a:t>
            </a:r>
          </a:p>
        </p:txBody>
      </p:sp>
      <p:sp>
        <p:nvSpPr>
          <p:cNvPr id="24" name="Rectangle 23"/>
          <p:cNvSpPr/>
          <p:nvPr/>
        </p:nvSpPr>
        <p:spPr>
          <a:xfrm>
            <a:off x="5943600" y="4389120"/>
            <a:ext cx="5943600" cy="1005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0760" y="4462272"/>
            <a:ext cx="1828800" cy="347472"/>
          </a:xfrm>
          <a:prstGeom prst="rect">
            <a:avLst/>
          </a:prstGeom>
          <a:noFill/>
        </p:spPr>
        <p:txBody>
          <a:bodyPr wrap="square">
            <a:spAutoFit/>
          </a:bodyPr>
          <a:lstStyle/>
          <a:p>
            <a:pPr algn="l"/>
            <a:r>
              <a:rPr sz="900" b="1" i="0">
                <a:solidFill>
                  <a:srgbClr val="00B38A"/>
                </a:solidFill>
                <a:latin typeface="Montserrat"/>
              </a:rPr>
              <a:t>EXIT SCORE</a:t>
            </a:r>
          </a:p>
        </p:txBody>
      </p:sp>
      <p:sp>
        <p:nvSpPr>
          <p:cNvPr id="26" name="TextBox 25"/>
          <p:cNvSpPr txBox="1"/>
          <p:nvPr/>
        </p:nvSpPr>
        <p:spPr>
          <a:xfrm>
            <a:off x="6080760" y="4800600"/>
            <a:ext cx="5669280" cy="530352"/>
          </a:xfrm>
          <a:prstGeom prst="rect">
            <a:avLst/>
          </a:prstGeom>
          <a:noFill/>
        </p:spPr>
        <p:txBody>
          <a:bodyPr wrap="square">
            <a:spAutoFit/>
          </a:bodyPr>
          <a:lstStyle/>
          <a:p>
            <a:pPr algn="l"/>
            <a:r>
              <a:rPr sz="950" b="0" i="0">
                <a:solidFill>
                  <a:srgbClr val="1A2844"/>
                </a:solidFill>
                <a:latin typeface="Montserrat"/>
              </a:rPr>
              <a:t>Candidata #1 a exit vía M&amp;A
con actores financieros regionales</a:t>
            </a:r>
          </a:p>
        </p:txBody>
      </p:sp>
      <p:sp>
        <p:nvSpPr>
          <p:cNvPr id="27" name="Rectangle 26"/>
          <p:cNvSpPr/>
          <p:nvPr/>
        </p:nvSpPr>
        <p:spPr>
          <a:xfrm>
            <a:off x="320040" y="5669280"/>
            <a:ext cx="11430000" cy="5486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5742432"/>
            <a:ext cx="10972800" cy="438912"/>
          </a:xfrm>
          <a:prstGeom prst="rect">
            <a:avLst/>
          </a:prstGeom>
          <a:noFill/>
        </p:spPr>
        <p:txBody>
          <a:bodyPr wrap="square">
            <a:spAutoFit/>
          </a:bodyPr>
          <a:lstStyle/>
          <a:p>
            <a:pPr algn="l"/>
            <a:r>
              <a:rPr sz="900" b="0" i="0">
                <a:solidFill>
                  <a:srgbClr val="0D1F3C"/>
                </a:solidFill>
                <a:latin typeface="Montserrat"/>
              </a:rPr>
              <a:t>ESTRATEGIA EXIT: M&amp;A estratégico con actores financieros regionales  │  Venta secundaria total de la participación  │  Consolidación con jugadores fintech/paytech</a:t>
            </a:r>
          </a:p>
        </p:txBody>
      </p:sp>
      <p:sp>
        <p:nvSpPr>
          <p:cNvPr id="29" name="TextBox 28"/>
          <p:cNvSpPr txBox="1"/>
          <p:nvPr/>
        </p:nvSpPr>
        <p:spPr>
          <a:xfrm>
            <a:off x="365760" y="6583680"/>
            <a:ext cx="11430000" cy="228600"/>
          </a:xfrm>
          <a:prstGeom prst="rect">
            <a:avLst/>
          </a:prstGeom>
          <a:noFill/>
        </p:spPr>
        <p:txBody>
          <a:bodyPr wrap="square">
            <a:spAutoFit/>
          </a:bodyPr>
          <a:lstStyle/>
          <a:p>
            <a:pPr algn="l"/>
            <a:r>
              <a:rPr sz="700" b="0" i="0">
                <a:solidFill>
                  <a:srgbClr val="A0AABB"/>
                </a:solidFill>
                <a:latin typeface="Montserrat"/>
              </a:rPr>
              <a:t>Nuestra inversión: 5.5% vía inversión en especie · US$9,263 · Cohorte 3 (S1 2022)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502920"/>
          </a:xfrm>
          <a:prstGeom prst="rect">
            <a:avLst/>
          </a:prstGeom>
          <a:noFill/>
        </p:spPr>
        <p:txBody>
          <a:bodyPr wrap="square">
            <a:spAutoFit/>
          </a:bodyPr>
          <a:lstStyle/>
          <a:p>
            <a:pPr algn="l"/>
            <a:r>
              <a:rPr sz="2200" b="1" i="0">
                <a:solidFill>
                  <a:srgbClr val="FFFFFF"/>
                </a:solidFill>
                <a:latin typeface="Montserrat"/>
              </a:rPr>
              <a:t>Tier 1: Análisis Integral de Desempeño</a:t>
            </a:r>
          </a:p>
        </p:txBody>
      </p:sp>
      <p:sp>
        <p:nvSpPr>
          <p:cNvPr id="4" name="TextBox 3"/>
          <p:cNvSpPr txBox="1"/>
          <p:nvPr/>
        </p:nvSpPr>
        <p:spPr>
          <a:xfrm>
            <a:off x="457200" y="566928"/>
            <a:ext cx="10058400" cy="384048"/>
          </a:xfrm>
          <a:prstGeom prst="rect">
            <a:avLst/>
          </a:prstGeom>
          <a:noFill/>
        </p:spPr>
        <p:txBody>
          <a:bodyPr wrap="square">
            <a:spAutoFit/>
          </a:bodyPr>
          <a:lstStyle/>
          <a:p>
            <a:pPr algn="l"/>
            <a:r>
              <a:rPr sz="1100" b="0" i="0">
                <a:solidFill>
                  <a:srgbClr val="00B38A"/>
                </a:solidFill>
                <a:latin typeface="Montserrat"/>
              </a:rPr>
              <a:t>7 empresas · Evaluación por 7 criterios VC · Fuente: Endeavor &amp; Glisco Partners metodología</a:t>
            </a:r>
          </a:p>
        </p:txBody>
      </p:sp>
      <p:sp>
        <p:nvSpPr>
          <p:cNvPr id="5" name="Rectangle 4"/>
          <p:cNvSpPr/>
          <p:nvPr/>
        </p:nvSpPr>
        <p:spPr>
          <a:xfrm>
            <a:off x="320040" y="1143000"/>
            <a:ext cx="11430000" cy="36576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70432"/>
            <a:ext cx="1463040" cy="320040"/>
          </a:xfrm>
          <a:prstGeom prst="rect">
            <a:avLst/>
          </a:prstGeom>
          <a:noFill/>
        </p:spPr>
        <p:txBody>
          <a:bodyPr wrap="square">
            <a:spAutoFit/>
          </a:bodyPr>
          <a:lstStyle/>
          <a:p>
            <a:pPr algn="ctr"/>
            <a:r>
              <a:rPr sz="900" b="1" i="0">
                <a:solidFill>
                  <a:srgbClr val="FFFFFF"/>
                </a:solidFill>
                <a:latin typeface="Montserrat"/>
              </a:rPr>
              <a:t>Empresa</a:t>
            </a:r>
          </a:p>
        </p:txBody>
      </p:sp>
      <p:sp>
        <p:nvSpPr>
          <p:cNvPr id="7" name="TextBox 6"/>
          <p:cNvSpPr txBox="1"/>
          <p:nvPr/>
        </p:nvSpPr>
        <p:spPr>
          <a:xfrm>
            <a:off x="1920240" y="1170432"/>
            <a:ext cx="1005840" cy="320040"/>
          </a:xfrm>
          <a:prstGeom prst="rect">
            <a:avLst/>
          </a:prstGeom>
          <a:noFill/>
        </p:spPr>
        <p:txBody>
          <a:bodyPr wrap="square">
            <a:spAutoFit/>
          </a:bodyPr>
          <a:lstStyle/>
          <a:p>
            <a:pPr algn="ctr"/>
            <a:r>
              <a:rPr sz="900" b="1" i="0">
                <a:solidFill>
                  <a:srgbClr val="FFFFFF"/>
                </a:solidFill>
                <a:latin typeface="Montserrat"/>
              </a:rPr>
              <a:t>Score</a:t>
            </a:r>
          </a:p>
        </p:txBody>
      </p:sp>
      <p:sp>
        <p:nvSpPr>
          <p:cNvPr id="8" name="TextBox 7"/>
          <p:cNvSpPr txBox="1"/>
          <p:nvPr/>
        </p:nvSpPr>
        <p:spPr>
          <a:xfrm>
            <a:off x="3017520" y="1170432"/>
            <a:ext cx="1463040" cy="320040"/>
          </a:xfrm>
          <a:prstGeom prst="rect">
            <a:avLst/>
          </a:prstGeom>
          <a:noFill/>
        </p:spPr>
        <p:txBody>
          <a:bodyPr wrap="square">
            <a:spAutoFit/>
          </a:bodyPr>
          <a:lstStyle/>
          <a:p>
            <a:pPr algn="ctr"/>
            <a:r>
              <a:rPr sz="900" b="1" i="0">
                <a:solidFill>
                  <a:srgbClr val="FFFFFF"/>
                </a:solidFill>
                <a:latin typeface="Montserrat"/>
              </a:rPr>
              <a:t>Categoría</a:t>
            </a:r>
          </a:p>
        </p:txBody>
      </p:sp>
      <p:sp>
        <p:nvSpPr>
          <p:cNvPr id="9" name="TextBox 8"/>
          <p:cNvSpPr txBox="1"/>
          <p:nvPr/>
        </p:nvSpPr>
        <p:spPr>
          <a:xfrm>
            <a:off x="4572000" y="1170432"/>
            <a:ext cx="1920240" cy="320040"/>
          </a:xfrm>
          <a:prstGeom prst="rect">
            <a:avLst/>
          </a:prstGeom>
          <a:noFill/>
        </p:spPr>
        <p:txBody>
          <a:bodyPr wrap="square">
            <a:spAutoFit/>
          </a:bodyPr>
          <a:lstStyle/>
          <a:p>
            <a:pPr algn="ctr"/>
            <a:r>
              <a:rPr sz="900" b="1" i="0">
                <a:solidFill>
                  <a:srgbClr val="FFFFFF"/>
                </a:solidFill>
                <a:latin typeface="Montserrat"/>
              </a:rPr>
              <a:t>Revenue 2025</a:t>
            </a:r>
          </a:p>
        </p:txBody>
      </p:sp>
      <p:sp>
        <p:nvSpPr>
          <p:cNvPr id="10" name="TextBox 9"/>
          <p:cNvSpPr txBox="1"/>
          <p:nvPr/>
        </p:nvSpPr>
        <p:spPr>
          <a:xfrm>
            <a:off x="6583680" y="1170432"/>
            <a:ext cx="1920240" cy="320040"/>
          </a:xfrm>
          <a:prstGeom prst="rect">
            <a:avLst/>
          </a:prstGeom>
          <a:noFill/>
        </p:spPr>
        <p:txBody>
          <a:bodyPr wrap="square">
            <a:spAutoFit/>
          </a:bodyPr>
          <a:lstStyle/>
          <a:p>
            <a:pPr algn="ctr"/>
            <a:r>
              <a:rPr sz="900" b="1" i="0">
                <a:solidFill>
                  <a:srgbClr val="FFFFFF"/>
                </a:solidFill>
                <a:latin typeface="Montserrat"/>
              </a:rPr>
              <a:t>Crecimiento YoY</a:t>
            </a:r>
          </a:p>
        </p:txBody>
      </p:sp>
      <p:sp>
        <p:nvSpPr>
          <p:cNvPr id="11" name="TextBox 10"/>
          <p:cNvSpPr txBox="1"/>
          <p:nvPr/>
        </p:nvSpPr>
        <p:spPr>
          <a:xfrm>
            <a:off x="8595360" y="1170432"/>
            <a:ext cx="3291840" cy="320040"/>
          </a:xfrm>
          <a:prstGeom prst="rect">
            <a:avLst/>
          </a:prstGeom>
          <a:noFill/>
        </p:spPr>
        <p:txBody>
          <a:bodyPr wrap="square">
            <a:spAutoFit/>
          </a:bodyPr>
          <a:lstStyle/>
          <a:p>
            <a:pPr algn="ctr"/>
            <a:r>
              <a:rPr sz="900" b="1" i="0">
                <a:solidFill>
                  <a:srgbClr val="FFFFFF"/>
                </a:solidFill>
                <a:latin typeface="Montserrat"/>
              </a:rPr>
              <a:t>Prioridad Exit</a:t>
            </a:r>
          </a:p>
        </p:txBody>
      </p:sp>
      <p:sp>
        <p:nvSpPr>
          <p:cNvPr id="12" name="Rectangle 11"/>
          <p:cNvSpPr/>
          <p:nvPr/>
        </p:nvSpPr>
        <p:spPr>
          <a:xfrm>
            <a:off x="320040" y="1508760"/>
            <a:ext cx="11430000" cy="658368"/>
          </a:xfrm>
          <a:prstGeom prst="rect">
            <a:avLst/>
          </a:prstGeom>
          <a:solidFill>
            <a:srgbClr val="E0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645919"/>
            <a:ext cx="1463040" cy="411480"/>
          </a:xfrm>
          <a:prstGeom prst="rect">
            <a:avLst/>
          </a:prstGeom>
          <a:noFill/>
        </p:spPr>
        <p:txBody>
          <a:bodyPr wrap="square">
            <a:spAutoFit/>
          </a:bodyPr>
          <a:lstStyle/>
          <a:p>
            <a:pPr algn="l"/>
            <a:r>
              <a:rPr sz="900" b="1" i="0">
                <a:solidFill>
                  <a:srgbClr val="00B38A"/>
                </a:solidFill>
                <a:latin typeface="Montserrat"/>
              </a:rPr>
              <a:t>Geacco</a:t>
            </a:r>
          </a:p>
        </p:txBody>
      </p:sp>
      <p:sp>
        <p:nvSpPr>
          <p:cNvPr id="14" name="TextBox 13"/>
          <p:cNvSpPr txBox="1"/>
          <p:nvPr/>
        </p:nvSpPr>
        <p:spPr>
          <a:xfrm>
            <a:off x="1920240" y="1645919"/>
            <a:ext cx="1005840" cy="411480"/>
          </a:xfrm>
          <a:prstGeom prst="rect">
            <a:avLst/>
          </a:prstGeom>
          <a:noFill/>
        </p:spPr>
        <p:txBody>
          <a:bodyPr wrap="square">
            <a:spAutoFit/>
          </a:bodyPr>
          <a:lstStyle/>
          <a:p>
            <a:pPr algn="ctr"/>
            <a:r>
              <a:rPr sz="900" b="0" i="0">
                <a:solidFill>
                  <a:srgbClr val="00B38A"/>
                </a:solidFill>
                <a:latin typeface="Montserrat"/>
              </a:rPr>
              <a:t>3.92</a:t>
            </a:r>
          </a:p>
        </p:txBody>
      </p:sp>
      <p:sp>
        <p:nvSpPr>
          <p:cNvPr id="15" name="TextBox 14"/>
          <p:cNvSpPr txBox="1"/>
          <p:nvPr/>
        </p:nvSpPr>
        <p:spPr>
          <a:xfrm>
            <a:off x="3017520" y="1645919"/>
            <a:ext cx="1463040" cy="411480"/>
          </a:xfrm>
          <a:prstGeom prst="rect">
            <a:avLst/>
          </a:prstGeom>
          <a:noFill/>
        </p:spPr>
        <p:txBody>
          <a:bodyPr wrap="square">
            <a:spAutoFit/>
          </a:bodyPr>
          <a:lstStyle/>
          <a:p>
            <a:pPr algn="ctr"/>
            <a:r>
              <a:rPr sz="900" b="0" i="0">
                <a:solidFill>
                  <a:srgbClr val="00B38A"/>
                </a:solidFill>
                <a:latin typeface="Montserrat"/>
              </a:rPr>
              <a:t>ALTO</a:t>
            </a:r>
          </a:p>
        </p:txBody>
      </p:sp>
      <p:sp>
        <p:nvSpPr>
          <p:cNvPr id="16" name="TextBox 15"/>
          <p:cNvSpPr txBox="1"/>
          <p:nvPr/>
        </p:nvSpPr>
        <p:spPr>
          <a:xfrm>
            <a:off x="4572000" y="1645919"/>
            <a:ext cx="1920240" cy="411480"/>
          </a:xfrm>
          <a:prstGeom prst="rect">
            <a:avLst/>
          </a:prstGeom>
          <a:noFill/>
        </p:spPr>
        <p:txBody>
          <a:bodyPr wrap="square">
            <a:spAutoFit/>
          </a:bodyPr>
          <a:lstStyle/>
          <a:p>
            <a:pPr algn="ctr"/>
            <a:r>
              <a:rPr sz="900" b="0" i="0">
                <a:solidFill>
                  <a:srgbClr val="1A2844"/>
                </a:solidFill>
                <a:latin typeface="Montserrat"/>
              </a:rPr>
              <a:t>$1,170,933</a:t>
            </a:r>
          </a:p>
        </p:txBody>
      </p:sp>
      <p:sp>
        <p:nvSpPr>
          <p:cNvPr id="17" name="TextBox 16"/>
          <p:cNvSpPr txBox="1"/>
          <p:nvPr/>
        </p:nvSpPr>
        <p:spPr>
          <a:xfrm>
            <a:off x="6583680" y="1645919"/>
            <a:ext cx="1920240" cy="411480"/>
          </a:xfrm>
          <a:prstGeom prst="rect">
            <a:avLst/>
          </a:prstGeom>
          <a:noFill/>
        </p:spPr>
        <p:txBody>
          <a:bodyPr wrap="square">
            <a:spAutoFit/>
          </a:bodyPr>
          <a:lstStyle/>
          <a:p>
            <a:pPr algn="ctr"/>
            <a:r>
              <a:rPr sz="900" b="0" i="0">
                <a:solidFill>
                  <a:srgbClr val="00B38A"/>
                </a:solidFill>
                <a:latin typeface="Montserrat"/>
              </a:rPr>
              <a:t>+89.47%</a:t>
            </a:r>
          </a:p>
        </p:txBody>
      </p:sp>
      <p:sp>
        <p:nvSpPr>
          <p:cNvPr id="18" name="TextBox 17"/>
          <p:cNvSpPr txBox="1"/>
          <p:nvPr/>
        </p:nvSpPr>
        <p:spPr>
          <a:xfrm>
            <a:off x="8595360" y="1645919"/>
            <a:ext cx="3291840" cy="411480"/>
          </a:xfrm>
          <a:prstGeom prst="rect">
            <a:avLst/>
          </a:prstGeom>
          <a:noFill/>
        </p:spPr>
        <p:txBody>
          <a:bodyPr wrap="square">
            <a:spAutoFit/>
          </a:bodyPr>
          <a:lstStyle/>
          <a:p>
            <a:pPr algn="l"/>
            <a:r>
              <a:rPr sz="900" b="0" i="0">
                <a:solidFill>
                  <a:srgbClr val="1A2844"/>
                </a:solidFill>
                <a:latin typeface="Montserrat"/>
              </a:rPr>
              <a:t>#1 - M&amp;A / Secundario</a:t>
            </a:r>
          </a:p>
        </p:txBody>
      </p:sp>
      <p:sp>
        <p:nvSpPr>
          <p:cNvPr id="19" name="Rectangle 18"/>
          <p:cNvSpPr/>
          <p:nvPr/>
        </p:nvSpPr>
        <p:spPr>
          <a:xfrm>
            <a:off x="320040" y="2194560"/>
            <a:ext cx="11430000" cy="658368"/>
          </a:xfrm>
          <a:prstGeom prst="rect">
            <a:avLst/>
          </a:prstGeom>
          <a:solidFill>
            <a:srgbClr val="E0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2331720"/>
            <a:ext cx="1463040" cy="411480"/>
          </a:xfrm>
          <a:prstGeom prst="rect">
            <a:avLst/>
          </a:prstGeom>
          <a:noFill/>
        </p:spPr>
        <p:txBody>
          <a:bodyPr wrap="square">
            <a:spAutoFit/>
          </a:bodyPr>
          <a:lstStyle/>
          <a:p>
            <a:pPr algn="l"/>
            <a:r>
              <a:rPr sz="900" b="1" i="0">
                <a:solidFill>
                  <a:srgbClr val="0D1F3C"/>
                </a:solidFill>
                <a:latin typeface="Montserrat"/>
              </a:rPr>
              <a:t>Bmotik</a:t>
            </a:r>
          </a:p>
        </p:txBody>
      </p:sp>
      <p:sp>
        <p:nvSpPr>
          <p:cNvPr id="21" name="TextBox 20"/>
          <p:cNvSpPr txBox="1"/>
          <p:nvPr/>
        </p:nvSpPr>
        <p:spPr>
          <a:xfrm>
            <a:off x="1920240" y="2331720"/>
            <a:ext cx="1005840" cy="411480"/>
          </a:xfrm>
          <a:prstGeom prst="rect">
            <a:avLst/>
          </a:prstGeom>
          <a:noFill/>
        </p:spPr>
        <p:txBody>
          <a:bodyPr wrap="square">
            <a:spAutoFit/>
          </a:bodyPr>
          <a:lstStyle/>
          <a:p>
            <a:pPr algn="ctr"/>
            <a:r>
              <a:rPr sz="900" b="0" i="0">
                <a:solidFill>
                  <a:srgbClr val="0D1F3C"/>
                </a:solidFill>
                <a:latin typeface="Montserrat"/>
              </a:rPr>
              <a:t>3.25</a:t>
            </a:r>
          </a:p>
        </p:txBody>
      </p:sp>
      <p:sp>
        <p:nvSpPr>
          <p:cNvPr id="22" name="TextBox 21"/>
          <p:cNvSpPr txBox="1"/>
          <p:nvPr/>
        </p:nvSpPr>
        <p:spPr>
          <a:xfrm>
            <a:off x="3017520" y="2331720"/>
            <a:ext cx="1463040" cy="411480"/>
          </a:xfrm>
          <a:prstGeom prst="rect">
            <a:avLst/>
          </a:prstGeom>
          <a:noFill/>
        </p:spPr>
        <p:txBody>
          <a:bodyPr wrap="square">
            <a:spAutoFit/>
          </a:bodyPr>
          <a:lstStyle/>
          <a:p>
            <a:pPr algn="ctr"/>
            <a:r>
              <a:rPr sz="900" b="0" i="0">
                <a:solidFill>
                  <a:srgbClr val="0D1F3C"/>
                </a:solidFill>
                <a:latin typeface="Montserrat"/>
              </a:rPr>
              <a:t>MEDIO-ALTO</a:t>
            </a:r>
          </a:p>
        </p:txBody>
      </p:sp>
      <p:sp>
        <p:nvSpPr>
          <p:cNvPr id="23" name="TextBox 22"/>
          <p:cNvSpPr txBox="1"/>
          <p:nvPr/>
        </p:nvSpPr>
        <p:spPr>
          <a:xfrm>
            <a:off x="4572000" y="2331720"/>
            <a:ext cx="1920240" cy="411480"/>
          </a:xfrm>
          <a:prstGeom prst="rect">
            <a:avLst/>
          </a:prstGeom>
          <a:noFill/>
        </p:spPr>
        <p:txBody>
          <a:bodyPr wrap="square">
            <a:spAutoFit/>
          </a:bodyPr>
          <a:lstStyle/>
          <a:p>
            <a:pPr algn="ctr"/>
            <a:r>
              <a:rPr sz="900" b="0" i="0">
                <a:solidFill>
                  <a:srgbClr val="1A2844"/>
                </a:solidFill>
                <a:latin typeface="Montserrat"/>
              </a:rPr>
              <a:t>$394,465</a:t>
            </a:r>
          </a:p>
        </p:txBody>
      </p:sp>
      <p:sp>
        <p:nvSpPr>
          <p:cNvPr id="24" name="TextBox 23"/>
          <p:cNvSpPr txBox="1"/>
          <p:nvPr/>
        </p:nvSpPr>
        <p:spPr>
          <a:xfrm>
            <a:off x="6583680" y="2331720"/>
            <a:ext cx="1920240" cy="411480"/>
          </a:xfrm>
          <a:prstGeom prst="rect">
            <a:avLst/>
          </a:prstGeom>
          <a:noFill/>
        </p:spPr>
        <p:txBody>
          <a:bodyPr wrap="square">
            <a:spAutoFit/>
          </a:bodyPr>
          <a:lstStyle/>
          <a:p>
            <a:pPr algn="ctr"/>
            <a:r>
              <a:rPr sz="900" b="0" i="0">
                <a:solidFill>
                  <a:srgbClr val="00B38A"/>
                </a:solidFill>
                <a:latin typeface="Montserrat"/>
              </a:rPr>
              <a:t>+56.74%</a:t>
            </a:r>
          </a:p>
        </p:txBody>
      </p:sp>
      <p:sp>
        <p:nvSpPr>
          <p:cNvPr id="25" name="TextBox 24"/>
          <p:cNvSpPr txBox="1"/>
          <p:nvPr/>
        </p:nvSpPr>
        <p:spPr>
          <a:xfrm>
            <a:off x="8595360" y="2331720"/>
            <a:ext cx="3291840" cy="411480"/>
          </a:xfrm>
          <a:prstGeom prst="rect">
            <a:avLst/>
          </a:prstGeom>
          <a:noFill/>
        </p:spPr>
        <p:txBody>
          <a:bodyPr wrap="square">
            <a:spAutoFit/>
          </a:bodyPr>
          <a:lstStyle/>
          <a:p>
            <a:pPr algn="l"/>
            <a:r>
              <a:rPr sz="900" b="0" i="0">
                <a:solidFill>
                  <a:srgbClr val="1A2844"/>
                </a:solidFill>
                <a:latin typeface="Montserrat"/>
              </a:rPr>
              <a:t>#2 - Adquisición / Capital</a:t>
            </a:r>
          </a:p>
        </p:txBody>
      </p:sp>
      <p:sp>
        <p:nvSpPr>
          <p:cNvPr id="26" name="Rectangle 25"/>
          <p:cNvSpPr/>
          <p:nvPr/>
        </p:nvSpPr>
        <p:spPr>
          <a:xfrm>
            <a:off x="320040" y="2880360"/>
            <a:ext cx="11430000" cy="65836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3017520"/>
            <a:ext cx="1463040" cy="411480"/>
          </a:xfrm>
          <a:prstGeom prst="rect">
            <a:avLst/>
          </a:prstGeom>
          <a:noFill/>
        </p:spPr>
        <p:txBody>
          <a:bodyPr wrap="square">
            <a:spAutoFit/>
          </a:bodyPr>
          <a:lstStyle/>
          <a:p>
            <a:pPr algn="l"/>
            <a:r>
              <a:rPr sz="900" b="1" i="0">
                <a:solidFill>
                  <a:srgbClr val="1A2844"/>
                </a:solidFill>
                <a:latin typeface="Montserrat"/>
              </a:rPr>
              <a:t>Esuite</a:t>
            </a:r>
          </a:p>
        </p:txBody>
      </p:sp>
      <p:sp>
        <p:nvSpPr>
          <p:cNvPr id="28" name="TextBox 27"/>
          <p:cNvSpPr txBox="1"/>
          <p:nvPr/>
        </p:nvSpPr>
        <p:spPr>
          <a:xfrm>
            <a:off x="1920240" y="3017520"/>
            <a:ext cx="1005840" cy="411480"/>
          </a:xfrm>
          <a:prstGeom prst="rect">
            <a:avLst/>
          </a:prstGeom>
          <a:noFill/>
        </p:spPr>
        <p:txBody>
          <a:bodyPr wrap="square">
            <a:spAutoFit/>
          </a:bodyPr>
          <a:lstStyle/>
          <a:p>
            <a:pPr algn="ctr"/>
            <a:r>
              <a:rPr sz="900" b="0" i="0">
                <a:solidFill>
                  <a:srgbClr val="1A2844"/>
                </a:solidFill>
                <a:latin typeface="Montserrat"/>
              </a:rPr>
              <a:t>2.85</a:t>
            </a:r>
          </a:p>
        </p:txBody>
      </p:sp>
      <p:sp>
        <p:nvSpPr>
          <p:cNvPr id="29" name="TextBox 28"/>
          <p:cNvSpPr txBox="1"/>
          <p:nvPr/>
        </p:nvSpPr>
        <p:spPr>
          <a:xfrm>
            <a:off x="3017520" y="3017520"/>
            <a:ext cx="1463040" cy="411480"/>
          </a:xfrm>
          <a:prstGeom prst="rect">
            <a:avLst/>
          </a:prstGeom>
          <a:noFill/>
        </p:spPr>
        <p:txBody>
          <a:bodyPr wrap="square">
            <a:spAutoFit/>
          </a:bodyPr>
          <a:lstStyle/>
          <a:p>
            <a:pPr algn="ctr"/>
            <a:r>
              <a:rPr sz="900" b="0" i="0">
                <a:solidFill>
                  <a:srgbClr val="1A2844"/>
                </a:solidFill>
                <a:latin typeface="Montserrat"/>
              </a:rPr>
              <a:t>MEDIO</a:t>
            </a:r>
          </a:p>
        </p:txBody>
      </p:sp>
      <p:sp>
        <p:nvSpPr>
          <p:cNvPr id="30" name="TextBox 29"/>
          <p:cNvSpPr txBox="1"/>
          <p:nvPr/>
        </p:nvSpPr>
        <p:spPr>
          <a:xfrm>
            <a:off x="4572000" y="3017520"/>
            <a:ext cx="1920240" cy="411480"/>
          </a:xfrm>
          <a:prstGeom prst="rect">
            <a:avLst/>
          </a:prstGeom>
          <a:noFill/>
        </p:spPr>
        <p:txBody>
          <a:bodyPr wrap="square">
            <a:spAutoFit/>
          </a:bodyPr>
          <a:lstStyle/>
          <a:p>
            <a:pPr algn="ctr"/>
            <a:r>
              <a:rPr sz="900" b="0" i="0">
                <a:solidFill>
                  <a:srgbClr val="1A2844"/>
                </a:solidFill>
                <a:latin typeface="Montserrat"/>
              </a:rPr>
              <a:t>N/D</a:t>
            </a:r>
          </a:p>
        </p:txBody>
      </p:sp>
      <p:sp>
        <p:nvSpPr>
          <p:cNvPr id="31" name="TextBox 30"/>
          <p:cNvSpPr txBox="1"/>
          <p:nvPr/>
        </p:nvSpPr>
        <p:spPr>
          <a:xfrm>
            <a:off x="6583680" y="3017520"/>
            <a:ext cx="1920240" cy="411480"/>
          </a:xfrm>
          <a:prstGeom prst="rect">
            <a:avLst/>
          </a:prstGeom>
          <a:noFill/>
        </p:spPr>
        <p:txBody>
          <a:bodyPr wrap="square">
            <a:spAutoFit/>
          </a:bodyPr>
          <a:lstStyle/>
          <a:p>
            <a:pPr algn="ctr"/>
            <a:r>
              <a:rPr sz="900" b="0" i="0">
                <a:solidFill>
                  <a:srgbClr val="1A2844"/>
                </a:solidFill>
                <a:latin typeface="Montserrat"/>
              </a:rPr>
              <a:t>–</a:t>
            </a:r>
          </a:p>
        </p:txBody>
      </p:sp>
      <p:sp>
        <p:nvSpPr>
          <p:cNvPr id="32" name="TextBox 31"/>
          <p:cNvSpPr txBox="1"/>
          <p:nvPr/>
        </p:nvSpPr>
        <p:spPr>
          <a:xfrm>
            <a:off x="8595360" y="3017520"/>
            <a:ext cx="3291840" cy="411480"/>
          </a:xfrm>
          <a:prstGeom prst="rect">
            <a:avLst/>
          </a:prstGeom>
          <a:noFill/>
        </p:spPr>
        <p:txBody>
          <a:bodyPr wrap="square">
            <a:spAutoFit/>
          </a:bodyPr>
          <a:lstStyle/>
          <a:p>
            <a:pPr algn="l"/>
            <a:r>
              <a:rPr sz="900" b="0" i="0">
                <a:solidFill>
                  <a:srgbClr val="1A2844"/>
                </a:solidFill>
                <a:latin typeface="Montserrat"/>
              </a:rPr>
              <a:t>Monitoreo</a:t>
            </a:r>
          </a:p>
        </p:txBody>
      </p:sp>
      <p:sp>
        <p:nvSpPr>
          <p:cNvPr id="33" name="Rectangle 32"/>
          <p:cNvSpPr/>
          <p:nvPr/>
        </p:nvSpPr>
        <p:spPr>
          <a:xfrm>
            <a:off x="320040" y="3566160"/>
            <a:ext cx="11430000" cy="65836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3703320"/>
            <a:ext cx="1463040" cy="411480"/>
          </a:xfrm>
          <a:prstGeom prst="rect">
            <a:avLst/>
          </a:prstGeom>
          <a:noFill/>
        </p:spPr>
        <p:txBody>
          <a:bodyPr wrap="square">
            <a:spAutoFit/>
          </a:bodyPr>
          <a:lstStyle/>
          <a:p>
            <a:pPr algn="l"/>
            <a:r>
              <a:rPr sz="900" b="1" i="0">
                <a:solidFill>
                  <a:srgbClr val="1A2844"/>
                </a:solidFill>
                <a:latin typeface="Montserrat"/>
              </a:rPr>
              <a:t>Contactiza</a:t>
            </a:r>
          </a:p>
        </p:txBody>
      </p:sp>
      <p:sp>
        <p:nvSpPr>
          <p:cNvPr id="35" name="TextBox 34"/>
          <p:cNvSpPr txBox="1"/>
          <p:nvPr/>
        </p:nvSpPr>
        <p:spPr>
          <a:xfrm>
            <a:off x="1920240" y="3703320"/>
            <a:ext cx="1005840" cy="411480"/>
          </a:xfrm>
          <a:prstGeom prst="rect">
            <a:avLst/>
          </a:prstGeom>
          <a:noFill/>
        </p:spPr>
        <p:txBody>
          <a:bodyPr wrap="square">
            <a:spAutoFit/>
          </a:bodyPr>
          <a:lstStyle/>
          <a:p>
            <a:pPr algn="ctr"/>
            <a:r>
              <a:rPr sz="900" b="0" i="0">
                <a:solidFill>
                  <a:srgbClr val="1A2844"/>
                </a:solidFill>
                <a:latin typeface="Montserrat"/>
              </a:rPr>
              <a:t>2.42</a:t>
            </a:r>
          </a:p>
        </p:txBody>
      </p:sp>
      <p:sp>
        <p:nvSpPr>
          <p:cNvPr id="36" name="TextBox 35"/>
          <p:cNvSpPr txBox="1"/>
          <p:nvPr/>
        </p:nvSpPr>
        <p:spPr>
          <a:xfrm>
            <a:off x="3017520" y="3703320"/>
            <a:ext cx="1463040" cy="411480"/>
          </a:xfrm>
          <a:prstGeom prst="rect">
            <a:avLst/>
          </a:prstGeom>
          <a:noFill/>
        </p:spPr>
        <p:txBody>
          <a:bodyPr wrap="square">
            <a:spAutoFit/>
          </a:bodyPr>
          <a:lstStyle/>
          <a:p>
            <a:pPr algn="ctr"/>
            <a:r>
              <a:rPr sz="900" b="0" i="0">
                <a:solidFill>
                  <a:srgbClr val="1A2844"/>
                </a:solidFill>
                <a:latin typeface="Montserrat"/>
              </a:rPr>
              <a:t>MEDIO-BAJO</a:t>
            </a:r>
          </a:p>
        </p:txBody>
      </p:sp>
      <p:sp>
        <p:nvSpPr>
          <p:cNvPr id="37" name="TextBox 36"/>
          <p:cNvSpPr txBox="1"/>
          <p:nvPr/>
        </p:nvSpPr>
        <p:spPr>
          <a:xfrm>
            <a:off x="4572000" y="3703320"/>
            <a:ext cx="1920240" cy="411480"/>
          </a:xfrm>
          <a:prstGeom prst="rect">
            <a:avLst/>
          </a:prstGeom>
          <a:noFill/>
        </p:spPr>
        <p:txBody>
          <a:bodyPr wrap="square">
            <a:spAutoFit/>
          </a:bodyPr>
          <a:lstStyle/>
          <a:p>
            <a:pPr algn="ctr"/>
            <a:r>
              <a:rPr sz="900" b="0" i="0">
                <a:solidFill>
                  <a:srgbClr val="1A2844"/>
                </a:solidFill>
                <a:latin typeface="Montserrat"/>
              </a:rPr>
              <a:t>Activa</a:t>
            </a:r>
          </a:p>
        </p:txBody>
      </p:sp>
      <p:sp>
        <p:nvSpPr>
          <p:cNvPr id="38" name="TextBox 37"/>
          <p:cNvSpPr txBox="1"/>
          <p:nvPr/>
        </p:nvSpPr>
        <p:spPr>
          <a:xfrm>
            <a:off x="6583680" y="3703320"/>
            <a:ext cx="1920240" cy="411480"/>
          </a:xfrm>
          <a:prstGeom prst="rect">
            <a:avLst/>
          </a:prstGeom>
          <a:noFill/>
        </p:spPr>
        <p:txBody>
          <a:bodyPr wrap="square">
            <a:spAutoFit/>
          </a:bodyPr>
          <a:lstStyle/>
          <a:p>
            <a:pPr algn="ctr"/>
            <a:r>
              <a:rPr sz="900" b="0" i="0">
                <a:solidFill>
                  <a:srgbClr val="1A2844"/>
                </a:solidFill>
                <a:latin typeface="Montserrat"/>
              </a:rPr>
              <a:t>–</a:t>
            </a:r>
          </a:p>
        </p:txBody>
      </p:sp>
      <p:sp>
        <p:nvSpPr>
          <p:cNvPr id="39" name="TextBox 38"/>
          <p:cNvSpPr txBox="1"/>
          <p:nvPr/>
        </p:nvSpPr>
        <p:spPr>
          <a:xfrm>
            <a:off x="8595360" y="3703320"/>
            <a:ext cx="3291840" cy="411480"/>
          </a:xfrm>
          <a:prstGeom prst="rect">
            <a:avLst/>
          </a:prstGeom>
          <a:noFill/>
        </p:spPr>
        <p:txBody>
          <a:bodyPr wrap="square">
            <a:spAutoFit/>
          </a:bodyPr>
          <a:lstStyle/>
          <a:p>
            <a:pPr algn="l"/>
            <a:r>
              <a:rPr sz="900" b="0" i="0">
                <a:solidFill>
                  <a:srgbClr val="1A2844"/>
                </a:solidFill>
                <a:latin typeface="Montserrat"/>
              </a:rPr>
              <a:t>Monitoreo</a:t>
            </a:r>
          </a:p>
        </p:txBody>
      </p:sp>
      <p:sp>
        <p:nvSpPr>
          <p:cNvPr id="40" name="Rectangle 39"/>
          <p:cNvSpPr/>
          <p:nvPr/>
        </p:nvSpPr>
        <p:spPr>
          <a:xfrm>
            <a:off x="320040" y="4251960"/>
            <a:ext cx="11430000" cy="658368"/>
          </a:xfrm>
          <a:prstGeom prst="rect">
            <a:avLst/>
          </a:prstGeom>
          <a:solidFill>
            <a:srgbClr val="FEF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4389120"/>
            <a:ext cx="1463040" cy="411480"/>
          </a:xfrm>
          <a:prstGeom prst="rect">
            <a:avLst/>
          </a:prstGeom>
          <a:noFill/>
        </p:spPr>
        <p:txBody>
          <a:bodyPr wrap="square">
            <a:spAutoFit/>
          </a:bodyPr>
          <a:lstStyle/>
          <a:p>
            <a:pPr algn="l"/>
            <a:r>
              <a:rPr sz="900" b="1" i="0">
                <a:solidFill>
                  <a:srgbClr val="F5A623"/>
                </a:solidFill>
                <a:latin typeface="Montserrat"/>
              </a:rPr>
              <a:t>Asisvisa</a:t>
            </a:r>
          </a:p>
        </p:txBody>
      </p:sp>
      <p:sp>
        <p:nvSpPr>
          <p:cNvPr id="42" name="TextBox 41"/>
          <p:cNvSpPr txBox="1"/>
          <p:nvPr/>
        </p:nvSpPr>
        <p:spPr>
          <a:xfrm>
            <a:off x="1920240" y="4389120"/>
            <a:ext cx="1005840" cy="411480"/>
          </a:xfrm>
          <a:prstGeom prst="rect">
            <a:avLst/>
          </a:prstGeom>
          <a:noFill/>
        </p:spPr>
        <p:txBody>
          <a:bodyPr wrap="square">
            <a:spAutoFit/>
          </a:bodyPr>
          <a:lstStyle/>
          <a:p>
            <a:pPr algn="ctr"/>
            <a:r>
              <a:rPr sz="900" b="0" i="0">
                <a:solidFill>
                  <a:srgbClr val="F5A623"/>
                </a:solidFill>
                <a:latin typeface="Montserrat"/>
              </a:rPr>
              <a:t>2.35</a:t>
            </a:r>
          </a:p>
        </p:txBody>
      </p:sp>
      <p:sp>
        <p:nvSpPr>
          <p:cNvPr id="43" name="TextBox 42"/>
          <p:cNvSpPr txBox="1"/>
          <p:nvPr/>
        </p:nvSpPr>
        <p:spPr>
          <a:xfrm>
            <a:off x="3017520" y="4389120"/>
            <a:ext cx="1463040" cy="411480"/>
          </a:xfrm>
          <a:prstGeom prst="rect">
            <a:avLst/>
          </a:prstGeom>
          <a:noFill/>
        </p:spPr>
        <p:txBody>
          <a:bodyPr wrap="square">
            <a:spAutoFit/>
          </a:bodyPr>
          <a:lstStyle/>
          <a:p>
            <a:pPr algn="ctr"/>
            <a:r>
              <a:rPr sz="900" b="0" i="0">
                <a:solidFill>
                  <a:srgbClr val="F5A623"/>
                </a:solidFill>
                <a:latin typeface="Montserrat"/>
              </a:rPr>
              <a:t>MEDIO-BAJO</a:t>
            </a:r>
          </a:p>
        </p:txBody>
      </p:sp>
      <p:sp>
        <p:nvSpPr>
          <p:cNvPr id="44" name="TextBox 43"/>
          <p:cNvSpPr txBox="1"/>
          <p:nvPr/>
        </p:nvSpPr>
        <p:spPr>
          <a:xfrm>
            <a:off x="4572000" y="4389120"/>
            <a:ext cx="1920240" cy="411480"/>
          </a:xfrm>
          <a:prstGeom prst="rect">
            <a:avLst/>
          </a:prstGeom>
          <a:noFill/>
        </p:spPr>
        <p:txBody>
          <a:bodyPr wrap="square">
            <a:spAutoFit/>
          </a:bodyPr>
          <a:lstStyle/>
          <a:p>
            <a:pPr algn="ctr"/>
            <a:r>
              <a:rPr sz="900" b="0" i="0">
                <a:solidFill>
                  <a:srgbClr val="1A2844"/>
                </a:solidFill>
                <a:latin typeface="Montserrat"/>
              </a:rPr>
              <a:t>$126,400</a:t>
            </a:r>
          </a:p>
        </p:txBody>
      </p:sp>
      <p:sp>
        <p:nvSpPr>
          <p:cNvPr id="45" name="TextBox 44"/>
          <p:cNvSpPr txBox="1"/>
          <p:nvPr/>
        </p:nvSpPr>
        <p:spPr>
          <a:xfrm>
            <a:off x="6583680" y="4389120"/>
            <a:ext cx="1920240" cy="411480"/>
          </a:xfrm>
          <a:prstGeom prst="rect">
            <a:avLst/>
          </a:prstGeom>
          <a:noFill/>
        </p:spPr>
        <p:txBody>
          <a:bodyPr wrap="square">
            <a:spAutoFit/>
          </a:bodyPr>
          <a:lstStyle/>
          <a:p>
            <a:pPr algn="ctr"/>
            <a:r>
              <a:rPr sz="900" b="0" i="0">
                <a:solidFill>
                  <a:srgbClr val="E54B4B"/>
                </a:solidFill>
                <a:latin typeface="Montserrat"/>
              </a:rPr>
              <a:t>-7.45%</a:t>
            </a:r>
          </a:p>
        </p:txBody>
      </p:sp>
      <p:sp>
        <p:nvSpPr>
          <p:cNvPr id="46" name="TextBox 45"/>
          <p:cNvSpPr txBox="1"/>
          <p:nvPr/>
        </p:nvSpPr>
        <p:spPr>
          <a:xfrm>
            <a:off x="8595360" y="4389120"/>
            <a:ext cx="3291840" cy="411480"/>
          </a:xfrm>
          <a:prstGeom prst="rect">
            <a:avLst/>
          </a:prstGeom>
          <a:noFill/>
        </p:spPr>
        <p:txBody>
          <a:bodyPr wrap="square">
            <a:spAutoFit/>
          </a:bodyPr>
          <a:lstStyle/>
          <a:p>
            <a:pPr algn="l"/>
            <a:r>
              <a:rPr sz="900" b="0" i="0">
                <a:solidFill>
                  <a:srgbClr val="1A2844"/>
                </a:solidFill>
                <a:latin typeface="Montserrat"/>
              </a:rPr>
              <a:t>#3 - Recompra founders</a:t>
            </a:r>
          </a:p>
        </p:txBody>
      </p:sp>
      <p:sp>
        <p:nvSpPr>
          <p:cNvPr id="47" name="Rectangle 46"/>
          <p:cNvSpPr/>
          <p:nvPr/>
        </p:nvSpPr>
        <p:spPr>
          <a:xfrm>
            <a:off x="320040" y="4937760"/>
            <a:ext cx="11430000" cy="658368"/>
          </a:xfrm>
          <a:prstGeom prst="rect">
            <a:avLst/>
          </a:prstGeom>
          <a:solidFill>
            <a:srgbClr val="FEF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5760" y="5074920"/>
            <a:ext cx="1463040" cy="411480"/>
          </a:xfrm>
          <a:prstGeom prst="rect">
            <a:avLst/>
          </a:prstGeom>
          <a:noFill/>
        </p:spPr>
        <p:txBody>
          <a:bodyPr wrap="square">
            <a:spAutoFit/>
          </a:bodyPr>
          <a:lstStyle/>
          <a:p>
            <a:pPr algn="l"/>
            <a:r>
              <a:rPr sz="900" b="1" i="0">
                <a:solidFill>
                  <a:srgbClr val="F5A623"/>
                </a:solidFill>
                <a:latin typeface="Montserrat"/>
              </a:rPr>
              <a:t>Comanager</a:t>
            </a:r>
          </a:p>
        </p:txBody>
      </p:sp>
      <p:sp>
        <p:nvSpPr>
          <p:cNvPr id="49" name="TextBox 48"/>
          <p:cNvSpPr txBox="1"/>
          <p:nvPr/>
        </p:nvSpPr>
        <p:spPr>
          <a:xfrm>
            <a:off x="1920240" y="5074920"/>
            <a:ext cx="1005840" cy="411480"/>
          </a:xfrm>
          <a:prstGeom prst="rect">
            <a:avLst/>
          </a:prstGeom>
          <a:noFill/>
        </p:spPr>
        <p:txBody>
          <a:bodyPr wrap="square">
            <a:spAutoFit/>
          </a:bodyPr>
          <a:lstStyle/>
          <a:p>
            <a:pPr algn="ctr"/>
            <a:r>
              <a:rPr sz="900" b="0" i="0">
                <a:solidFill>
                  <a:srgbClr val="F5A623"/>
                </a:solidFill>
                <a:latin typeface="Montserrat"/>
              </a:rPr>
              <a:t>2.20</a:t>
            </a:r>
          </a:p>
        </p:txBody>
      </p:sp>
      <p:sp>
        <p:nvSpPr>
          <p:cNvPr id="50" name="TextBox 49"/>
          <p:cNvSpPr txBox="1"/>
          <p:nvPr/>
        </p:nvSpPr>
        <p:spPr>
          <a:xfrm>
            <a:off x="3017520" y="5074920"/>
            <a:ext cx="1463040" cy="411480"/>
          </a:xfrm>
          <a:prstGeom prst="rect">
            <a:avLst/>
          </a:prstGeom>
          <a:noFill/>
        </p:spPr>
        <p:txBody>
          <a:bodyPr wrap="square">
            <a:spAutoFit/>
          </a:bodyPr>
          <a:lstStyle/>
          <a:p>
            <a:pPr algn="ctr"/>
            <a:r>
              <a:rPr sz="900" b="0" i="0">
                <a:solidFill>
                  <a:srgbClr val="F5A623"/>
                </a:solidFill>
                <a:latin typeface="Montserrat"/>
              </a:rPr>
              <a:t>MEDIO-BAJO</a:t>
            </a:r>
          </a:p>
        </p:txBody>
      </p:sp>
      <p:sp>
        <p:nvSpPr>
          <p:cNvPr id="51" name="TextBox 50"/>
          <p:cNvSpPr txBox="1"/>
          <p:nvPr/>
        </p:nvSpPr>
        <p:spPr>
          <a:xfrm>
            <a:off x="4572000" y="5074920"/>
            <a:ext cx="1920240" cy="411480"/>
          </a:xfrm>
          <a:prstGeom prst="rect">
            <a:avLst/>
          </a:prstGeom>
          <a:noFill/>
        </p:spPr>
        <p:txBody>
          <a:bodyPr wrap="square">
            <a:spAutoFit/>
          </a:bodyPr>
          <a:lstStyle/>
          <a:p>
            <a:pPr algn="ctr"/>
            <a:r>
              <a:rPr sz="900" b="0" i="0">
                <a:solidFill>
                  <a:srgbClr val="1A2844"/>
                </a:solidFill>
                <a:latin typeface="Montserrat"/>
              </a:rPr>
              <a:t>Post-pivote</a:t>
            </a:r>
          </a:p>
        </p:txBody>
      </p:sp>
      <p:sp>
        <p:nvSpPr>
          <p:cNvPr id="52" name="TextBox 51"/>
          <p:cNvSpPr txBox="1"/>
          <p:nvPr/>
        </p:nvSpPr>
        <p:spPr>
          <a:xfrm>
            <a:off x="6583680" y="5074920"/>
            <a:ext cx="1920240" cy="411480"/>
          </a:xfrm>
          <a:prstGeom prst="rect">
            <a:avLst/>
          </a:prstGeom>
          <a:noFill/>
        </p:spPr>
        <p:txBody>
          <a:bodyPr wrap="square">
            <a:spAutoFit/>
          </a:bodyPr>
          <a:lstStyle/>
          <a:p>
            <a:pPr algn="ctr"/>
            <a:r>
              <a:rPr sz="900" b="0" i="0">
                <a:solidFill>
                  <a:srgbClr val="1A2844"/>
                </a:solidFill>
                <a:latin typeface="Montserrat"/>
              </a:rPr>
              <a:t>–</a:t>
            </a:r>
          </a:p>
        </p:txBody>
      </p:sp>
      <p:sp>
        <p:nvSpPr>
          <p:cNvPr id="53" name="TextBox 52"/>
          <p:cNvSpPr txBox="1"/>
          <p:nvPr/>
        </p:nvSpPr>
        <p:spPr>
          <a:xfrm>
            <a:off x="8595360" y="5074920"/>
            <a:ext cx="3291840" cy="411480"/>
          </a:xfrm>
          <a:prstGeom prst="rect">
            <a:avLst/>
          </a:prstGeom>
          <a:noFill/>
        </p:spPr>
        <p:txBody>
          <a:bodyPr wrap="square">
            <a:spAutoFit/>
          </a:bodyPr>
          <a:lstStyle/>
          <a:p>
            <a:pPr algn="l"/>
            <a:r>
              <a:rPr sz="900" b="0" i="0">
                <a:solidFill>
                  <a:srgbClr val="1A2844"/>
                </a:solidFill>
                <a:latin typeface="Montserrat"/>
              </a:rPr>
              <a:t>#4 - Post-ronda US$400K</a:t>
            </a:r>
          </a:p>
        </p:txBody>
      </p:sp>
      <p:sp>
        <p:nvSpPr>
          <p:cNvPr id="54" name="Rectangle 53"/>
          <p:cNvSpPr/>
          <p:nvPr/>
        </p:nvSpPr>
        <p:spPr>
          <a:xfrm>
            <a:off x="320040" y="5623560"/>
            <a:ext cx="11430000" cy="65836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5760" y="5760720"/>
            <a:ext cx="1463040" cy="411480"/>
          </a:xfrm>
          <a:prstGeom prst="rect">
            <a:avLst/>
          </a:prstGeom>
          <a:noFill/>
        </p:spPr>
        <p:txBody>
          <a:bodyPr wrap="square">
            <a:spAutoFit/>
          </a:bodyPr>
          <a:lstStyle/>
          <a:p>
            <a:pPr algn="l"/>
            <a:r>
              <a:rPr sz="900" b="1" i="0">
                <a:solidFill>
                  <a:srgbClr val="1A2844"/>
                </a:solidFill>
                <a:latin typeface="Montserrat"/>
              </a:rPr>
              <a:t>Igo</a:t>
            </a:r>
          </a:p>
        </p:txBody>
      </p:sp>
      <p:sp>
        <p:nvSpPr>
          <p:cNvPr id="56" name="TextBox 55"/>
          <p:cNvSpPr txBox="1"/>
          <p:nvPr/>
        </p:nvSpPr>
        <p:spPr>
          <a:xfrm>
            <a:off x="1920240" y="5760720"/>
            <a:ext cx="1005840" cy="411480"/>
          </a:xfrm>
          <a:prstGeom prst="rect">
            <a:avLst/>
          </a:prstGeom>
          <a:noFill/>
        </p:spPr>
        <p:txBody>
          <a:bodyPr wrap="square">
            <a:spAutoFit/>
          </a:bodyPr>
          <a:lstStyle/>
          <a:p>
            <a:pPr algn="ctr"/>
            <a:r>
              <a:rPr sz="900" b="0" i="0">
                <a:solidFill>
                  <a:srgbClr val="1A2844"/>
                </a:solidFill>
                <a:latin typeface="Montserrat"/>
              </a:rPr>
              <a:t>2.10</a:t>
            </a:r>
          </a:p>
        </p:txBody>
      </p:sp>
      <p:sp>
        <p:nvSpPr>
          <p:cNvPr id="57" name="TextBox 56"/>
          <p:cNvSpPr txBox="1"/>
          <p:nvPr/>
        </p:nvSpPr>
        <p:spPr>
          <a:xfrm>
            <a:off x="3017520" y="5760720"/>
            <a:ext cx="1463040" cy="411480"/>
          </a:xfrm>
          <a:prstGeom prst="rect">
            <a:avLst/>
          </a:prstGeom>
          <a:noFill/>
        </p:spPr>
        <p:txBody>
          <a:bodyPr wrap="square">
            <a:spAutoFit/>
          </a:bodyPr>
          <a:lstStyle/>
          <a:p>
            <a:pPr algn="ctr"/>
            <a:r>
              <a:rPr sz="900" b="0" i="0">
                <a:solidFill>
                  <a:srgbClr val="1A2844"/>
                </a:solidFill>
                <a:latin typeface="Montserrat"/>
              </a:rPr>
              <a:t>MEDIO-BAJO</a:t>
            </a:r>
          </a:p>
        </p:txBody>
      </p:sp>
      <p:sp>
        <p:nvSpPr>
          <p:cNvPr id="58" name="TextBox 57"/>
          <p:cNvSpPr txBox="1"/>
          <p:nvPr/>
        </p:nvSpPr>
        <p:spPr>
          <a:xfrm>
            <a:off x="4572000" y="5760720"/>
            <a:ext cx="1920240" cy="411480"/>
          </a:xfrm>
          <a:prstGeom prst="rect">
            <a:avLst/>
          </a:prstGeom>
          <a:noFill/>
        </p:spPr>
        <p:txBody>
          <a:bodyPr wrap="square">
            <a:spAutoFit/>
          </a:bodyPr>
          <a:lstStyle/>
          <a:p>
            <a:pPr algn="ctr"/>
            <a:r>
              <a:rPr sz="900" b="0" i="0">
                <a:solidFill>
                  <a:srgbClr val="1A2844"/>
                </a:solidFill>
                <a:latin typeface="Montserrat"/>
              </a:rPr>
              <a:t>Recurrente</a:t>
            </a:r>
          </a:p>
        </p:txBody>
      </p:sp>
      <p:sp>
        <p:nvSpPr>
          <p:cNvPr id="59" name="TextBox 58"/>
          <p:cNvSpPr txBox="1"/>
          <p:nvPr/>
        </p:nvSpPr>
        <p:spPr>
          <a:xfrm>
            <a:off x="6583680" y="5760720"/>
            <a:ext cx="1920240" cy="411480"/>
          </a:xfrm>
          <a:prstGeom prst="rect">
            <a:avLst/>
          </a:prstGeom>
          <a:noFill/>
        </p:spPr>
        <p:txBody>
          <a:bodyPr wrap="square">
            <a:spAutoFit/>
          </a:bodyPr>
          <a:lstStyle/>
          <a:p>
            <a:pPr algn="ctr"/>
            <a:r>
              <a:rPr sz="900" b="0" i="0">
                <a:solidFill>
                  <a:srgbClr val="1A2844"/>
                </a:solidFill>
                <a:latin typeface="Montserrat"/>
              </a:rPr>
              <a:t>–</a:t>
            </a:r>
          </a:p>
        </p:txBody>
      </p:sp>
      <p:sp>
        <p:nvSpPr>
          <p:cNvPr id="60" name="TextBox 59"/>
          <p:cNvSpPr txBox="1"/>
          <p:nvPr/>
        </p:nvSpPr>
        <p:spPr>
          <a:xfrm>
            <a:off x="8595360" y="5760720"/>
            <a:ext cx="3291840" cy="411480"/>
          </a:xfrm>
          <a:prstGeom prst="rect">
            <a:avLst/>
          </a:prstGeom>
          <a:noFill/>
        </p:spPr>
        <p:txBody>
          <a:bodyPr wrap="square">
            <a:spAutoFit/>
          </a:bodyPr>
          <a:lstStyle/>
          <a:p>
            <a:pPr algn="l"/>
            <a:r>
              <a:rPr sz="900" b="0" i="0">
                <a:solidFill>
                  <a:srgbClr val="1A2844"/>
                </a:solidFill>
                <a:latin typeface="Montserrat"/>
              </a:rPr>
              <a:t>Monitoreo</a:t>
            </a:r>
          </a:p>
        </p:txBody>
      </p:sp>
      <p:sp>
        <p:nvSpPr>
          <p:cNvPr id="61" name="TextBox 60"/>
          <p:cNvSpPr txBox="1"/>
          <p:nvPr/>
        </p:nvSpPr>
        <p:spPr>
          <a:xfrm>
            <a:off x="365760" y="6583680"/>
            <a:ext cx="11430000" cy="228600"/>
          </a:xfrm>
          <a:prstGeom prst="rect">
            <a:avLst/>
          </a:prstGeom>
          <a:noFill/>
        </p:spPr>
        <p:txBody>
          <a:bodyPr wrap="square">
            <a:spAutoFit/>
          </a:bodyPr>
          <a:lstStyle/>
          <a:p>
            <a:pPr algn="l"/>
            <a:r>
              <a:rPr sz="700" b="0" i="0">
                <a:solidFill>
                  <a:srgbClr val="A0AABB"/>
                </a:solidFill>
                <a:latin typeface="Montserrat"/>
              </a:rPr>
              <a:t>Score 1–4: 1=insuficiente · 4=sobresaliente · Criterios: Tracción comercial, Mercado, Innovación IA, Equipo, Eficiencia capital, Estrategia exit, Escalabilidad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502920"/>
          </a:xfrm>
          <a:prstGeom prst="rect">
            <a:avLst/>
          </a:prstGeom>
          <a:noFill/>
        </p:spPr>
        <p:txBody>
          <a:bodyPr wrap="square">
            <a:spAutoFit/>
          </a:bodyPr>
          <a:lstStyle/>
          <a:p>
            <a:pPr algn="l"/>
            <a:r>
              <a:rPr sz="2200" b="1" i="0">
                <a:solidFill>
                  <a:srgbClr val="FFFFFF"/>
                </a:solidFill>
                <a:latin typeface="Montserrat"/>
              </a:rPr>
              <a:t>Estrategia de Liquidez y Exits 2026</a:t>
            </a:r>
          </a:p>
        </p:txBody>
      </p:sp>
      <p:sp>
        <p:nvSpPr>
          <p:cNvPr id="4" name="TextBox 3"/>
          <p:cNvSpPr txBox="1"/>
          <p:nvPr/>
        </p:nvSpPr>
        <p:spPr>
          <a:xfrm>
            <a:off x="457200" y="566928"/>
            <a:ext cx="10058400" cy="384048"/>
          </a:xfrm>
          <a:prstGeom prst="rect">
            <a:avLst/>
          </a:prstGeom>
          <a:noFill/>
        </p:spPr>
        <p:txBody>
          <a:bodyPr wrap="square">
            <a:spAutoFit/>
          </a:bodyPr>
          <a:lstStyle/>
          <a:p>
            <a:pPr algn="l"/>
            <a:r>
              <a:rPr sz="1100" b="0" i="0">
                <a:solidFill>
                  <a:srgbClr val="00B38A"/>
                </a:solidFill>
                <a:latin typeface="Montserrat"/>
              </a:rPr>
              <a:t>5 activos priorizados · 3 mecanismos de salida · Exit Accelerator activo</a:t>
            </a:r>
          </a:p>
        </p:txBody>
      </p:sp>
      <p:sp>
        <p:nvSpPr>
          <p:cNvPr id="5" name="Rectangle 4"/>
          <p:cNvSpPr/>
          <p:nvPr/>
        </p:nvSpPr>
        <p:spPr>
          <a:xfrm>
            <a:off x="320040" y="1097280"/>
            <a:ext cx="11430000" cy="502920"/>
          </a:xfrm>
          <a:prstGeom prst="rect">
            <a:avLst/>
          </a:prstGeom>
          <a:solidFill>
            <a:srgbClr val="E0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143000"/>
            <a:ext cx="11064240" cy="402336"/>
          </a:xfrm>
          <a:prstGeom prst="rect">
            <a:avLst/>
          </a:prstGeom>
          <a:noFill/>
        </p:spPr>
        <p:txBody>
          <a:bodyPr wrap="square">
            <a:spAutoFit/>
          </a:bodyPr>
          <a:lstStyle/>
          <a:p>
            <a:pPr algn="l"/>
            <a:r>
              <a:rPr sz="1000" b="0" i="0">
                <a:solidFill>
                  <a:srgbClr val="0D1F3C"/>
                </a:solidFill>
                <a:latin typeface="Montserrat"/>
              </a:rPr>
              <a:t>En América Latina, la liquidez no ocurre sola — se construye. Con el vehículo entrando en su etapa final de maduración en 2027, los próximos 18 meses son críticos.</a:t>
            </a:r>
          </a:p>
        </p:txBody>
      </p:sp>
      <p:sp>
        <p:nvSpPr>
          <p:cNvPr id="7" name="Rectangle 6"/>
          <p:cNvSpPr/>
          <p:nvPr/>
        </p:nvSpPr>
        <p:spPr>
          <a:xfrm>
            <a:off x="320040" y="1828800"/>
            <a:ext cx="3657600" cy="2148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828800"/>
            <a:ext cx="3657600" cy="32004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874519"/>
            <a:ext cx="3474720" cy="256032"/>
          </a:xfrm>
          <a:prstGeom prst="rect">
            <a:avLst/>
          </a:prstGeom>
          <a:noFill/>
        </p:spPr>
        <p:txBody>
          <a:bodyPr wrap="square">
            <a:spAutoFit/>
          </a:bodyPr>
          <a:lstStyle/>
          <a:p>
            <a:pPr algn="l"/>
            <a:r>
              <a:rPr sz="950" b="1" i="0">
                <a:solidFill>
                  <a:srgbClr val="FFFFFF"/>
                </a:solidFill>
                <a:latin typeface="Montserrat"/>
              </a:rPr>
              <a:t>Trii  ·  Preservación + Oportunista</a:t>
            </a:r>
          </a:p>
        </p:txBody>
      </p:sp>
      <p:sp>
        <p:nvSpPr>
          <p:cNvPr id="10" name="TextBox 9"/>
          <p:cNvSpPr txBox="1"/>
          <p:nvPr/>
        </p:nvSpPr>
        <p:spPr>
          <a:xfrm>
            <a:off x="411479" y="2212848"/>
            <a:ext cx="3474720" cy="1280160"/>
          </a:xfrm>
          <a:prstGeom prst="rect">
            <a:avLst/>
          </a:prstGeom>
          <a:noFill/>
        </p:spPr>
        <p:txBody>
          <a:bodyPr wrap="square">
            <a:spAutoFit/>
          </a:bodyPr>
          <a:lstStyle/>
          <a:p>
            <a:pPr algn="l"/>
            <a:r>
              <a:rPr sz="850" b="0" i="0">
                <a:solidFill>
                  <a:srgbClr val="1A2844"/>
                </a:solidFill>
                <a:latin typeface="Montserrat"/>
              </a:rPr>
              <a:t>• Participación minoritaria (0.02%)
• Evaluar secundario si hay interés
• Mantener hasta evento mayor valorización</a:t>
            </a:r>
          </a:p>
        </p:txBody>
      </p:sp>
      <p:sp>
        <p:nvSpPr>
          <p:cNvPr id="11" name="TextBox 10"/>
          <p:cNvSpPr txBox="1"/>
          <p:nvPr/>
        </p:nvSpPr>
        <p:spPr>
          <a:xfrm>
            <a:off x="411479" y="3611880"/>
            <a:ext cx="3474720" cy="274320"/>
          </a:xfrm>
          <a:prstGeom prst="rect">
            <a:avLst/>
          </a:prstGeom>
          <a:noFill/>
        </p:spPr>
        <p:txBody>
          <a:bodyPr wrap="square">
            <a:spAutoFit/>
          </a:bodyPr>
          <a:lstStyle/>
          <a:p>
            <a:pPr algn="l"/>
            <a:r>
              <a:rPr sz="800" b="1" i="0">
                <a:solidFill>
                  <a:srgbClr val="00B38A"/>
                </a:solidFill>
                <a:latin typeface="Montserrat"/>
              </a:rPr>
              <a:t>PRIORIDAD: ALTA</a:t>
            </a:r>
          </a:p>
        </p:txBody>
      </p:sp>
      <p:sp>
        <p:nvSpPr>
          <p:cNvPr id="12" name="Rectangle 11"/>
          <p:cNvSpPr/>
          <p:nvPr/>
        </p:nvSpPr>
        <p:spPr>
          <a:xfrm>
            <a:off x="4270248" y="1828800"/>
            <a:ext cx="3657600" cy="2148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70248" y="1828800"/>
            <a:ext cx="3657600" cy="3200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1688" y="1874519"/>
            <a:ext cx="3474720" cy="256032"/>
          </a:xfrm>
          <a:prstGeom prst="rect">
            <a:avLst/>
          </a:prstGeom>
          <a:noFill/>
        </p:spPr>
        <p:txBody>
          <a:bodyPr wrap="square">
            <a:spAutoFit/>
          </a:bodyPr>
          <a:lstStyle/>
          <a:p>
            <a:pPr algn="l"/>
            <a:r>
              <a:rPr sz="950" b="1" i="0">
                <a:solidFill>
                  <a:srgbClr val="FFFFFF"/>
                </a:solidFill>
                <a:latin typeface="Montserrat"/>
              </a:rPr>
              <a:t>Geacco  ·  M&amp;A Estratégico</a:t>
            </a:r>
          </a:p>
        </p:txBody>
      </p:sp>
      <p:sp>
        <p:nvSpPr>
          <p:cNvPr id="15" name="TextBox 14"/>
          <p:cNvSpPr txBox="1"/>
          <p:nvPr/>
        </p:nvSpPr>
        <p:spPr>
          <a:xfrm>
            <a:off x="4361688" y="2212848"/>
            <a:ext cx="3474720" cy="1280160"/>
          </a:xfrm>
          <a:prstGeom prst="rect">
            <a:avLst/>
          </a:prstGeom>
          <a:noFill/>
        </p:spPr>
        <p:txBody>
          <a:bodyPr wrap="square">
            <a:spAutoFit/>
          </a:bodyPr>
          <a:lstStyle/>
          <a:p>
            <a:pPr algn="l"/>
            <a:r>
              <a:rPr sz="850" b="0" i="0">
                <a:solidFill>
                  <a:srgbClr val="1A2844"/>
                </a:solidFill>
                <a:latin typeface="Montserrat"/>
              </a:rPr>
              <a:t>• Comprador estratégico regional
• Venta secundaria total
• Consolidación con fintech/paytech
• Expansión México ↑ valoración</a:t>
            </a:r>
          </a:p>
        </p:txBody>
      </p:sp>
      <p:sp>
        <p:nvSpPr>
          <p:cNvPr id="16" name="TextBox 15"/>
          <p:cNvSpPr txBox="1"/>
          <p:nvPr/>
        </p:nvSpPr>
        <p:spPr>
          <a:xfrm>
            <a:off x="4361688" y="3611880"/>
            <a:ext cx="3474720" cy="274320"/>
          </a:xfrm>
          <a:prstGeom prst="rect">
            <a:avLst/>
          </a:prstGeom>
          <a:noFill/>
        </p:spPr>
        <p:txBody>
          <a:bodyPr wrap="square">
            <a:spAutoFit/>
          </a:bodyPr>
          <a:lstStyle/>
          <a:p>
            <a:pPr algn="l"/>
            <a:r>
              <a:rPr sz="800" b="1" i="0">
                <a:solidFill>
                  <a:srgbClr val="00B38A"/>
                </a:solidFill>
                <a:latin typeface="Montserrat"/>
              </a:rPr>
              <a:t>PRIORIDAD: ALTA</a:t>
            </a:r>
          </a:p>
        </p:txBody>
      </p:sp>
      <p:sp>
        <p:nvSpPr>
          <p:cNvPr id="17" name="Rectangle 16"/>
          <p:cNvSpPr/>
          <p:nvPr/>
        </p:nvSpPr>
        <p:spPr>
          <a:xfrm>
            <a:off x="8220456" y="1828800"/>
            <a:ext cx="3657600" cy="2148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0456" y="1828800"/>
            <a:ext cx="3657600" cy="3200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1896" y="1874519"/>
            <a:ext cx="3474720" cy="256032"/>
          </a:xfrm>
          <a:prstGeom prst="rect">
            <a:avLst/>
          </a:prstGeom>
          <a:noFill/>
        </p:spPr>
        <p:txBody>
          <a:bodyPr wrap="square">
            <a:spAutoFit/>
          </a:bodyPr>
          <a:lstStyle/>
          <a:p>
            <a:pPr algn="l"/>
            <a:r>
              <a:rPr sz="950" b="1" i="0">
                <a:solidFill>
                  <a:srgbClr val="FFFFFF"/>
                </a:solidFill>
                <a:latin typeface="Montserrat"/>
              </a:rPr>
              <a:t>Comanager  ·  Post-Ronda → Secundario</a:t>
            </a:r>
          </a:p>
        </p:txBody>
      </p:sp>
      <p:sp>
        <p:nvSpPr>
          <p:cNvPr id="20" name="TextBox 19"/>
          <p:cNvSpPr txBox="1"/>
          <p:nvPr/>
        </p:nvSpPr>
        <p:spPr>
          <a:xfrm>
            <a:off x="8311896" y="2212848"/>
            <a:ext cx="3474720" cy="1280160"/>
          </a:xfrm>
          <a:prstGeom prst="rect">
            <a:avLst/>
          </a:prstGeom>
          <a:noFill/>
        </p:spPr>
        <p:txBody>
          <a:bodyPr wrap="square">
            <a:spAutoFit/>
          </a:bodyPr>
          <a:lstStyle/>
          <a:p>
            <a:pPr algn="l"/>
            <a:r>
              <a:rPr sz="850" b="0" i="0">
                <a:solidFill>
                  <a:srgbClr val="1A2844"/>
                </a:solidFill>
                <a:latin typeface="Montserrat"/>
              </a:rPr>
              <a:t>• Ronda SAFE US$400K en curso
• Cap post-money US$5M
• Esperar cierre y validación pivote
• Coinversión con nuevos LPs</a:t>
            </a:r>
          </a:p>
        </p:txBody>
      </p:sp>
      <p:sp>
        <p:nvSpPr>
          <p:cNvPr id="21" name="TextBox 20"/>
          <p:cNvSpPr txBox="1"/>
          <p:nvPr/>
        </p:nvSpPr>
        <p:spPr>
          <a:xfrm>
            <a:off x="8311896" y="3611880"/>
            <a:ext cx="3474720" cy="274320"/>
          </a:xfrm>
          <a:prstGeom prst="rect">
            <a:avLst/>
          </a:prstGeom>
          <a:noFill/>
        </p:spPr>
        <p:txBody>
          <a:bodyPr wrap="square">
            <a:spAutoFit/>
          </a:bodyPr>
          <a:lstStyle/>
          <a:p>
            <a:pPr algn="l"/>
            <a:r>
              <a:rPr sz="800" b="1" i="0">
                <a:solidFill>
                  <a:srgbClr val="F5A623"/>
                </a:solidFill>
                <a:latin typeface="Montserrat"/>
              </a:rPr>
              <a:t>PRIORIDAD: MEDIA</a:t>
            </a:r>
          </a:p>
        </p:txBody>
      </p:sp>
      <p:sp>
        <p:nvSpPr>
          <p:cNvPr id="22" name="Rectangle 21"/>
          <p:cNvSpPr/>
          <p:nvPr/>
        </p:nvSpPr>
        <p:spPr>
          <a:xfrm>
            <a:off x="320040" y="4114800"/>
            <a:ext cx="3657600" cy="2148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0040" y="4114800"/>
            <a:ext cx="3657600" cy="32004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79" y="4160520"/>
            <a:ext cx="3474720" cy="256032"/>
          </a:xfrm>
          <a:prstGeom prst="rect">
            <a:avLst/>
          </a:prstGeom>
          <a:noFill/>
        </p:spPr>
        <p:txBody>
          <a:bodyPr wrap="square">
            <a:spAutoFit/>
          </a:bodyPr>
          <a:lstStyle/>
          <a:p>
            <a:pPr algn="l"/>
            <a:r>
              <a:rPr sz="950" b="1" i="0">
                <a:solidFill>
                  <a:srgbClr val="FFFFFF"/>
                </a:solidFill>
                <a:latin typeface="Montserrat"/>
              </a:rPr>
              <a:t>Bmotik  ·  Adquisición Total</a:t>
            </a:r>
          </a:p>
        </p:txBody>
      </p:sp>
      <p:sp>
        <p:nvSpPr>
          <p:cNvPr id="25" name="TextBox 24"/>
          <p:cNvSpPr txBox="1"/>
          <p:nvPr/>
        </p:nvSpPr>
        <p:spPr>
          <a:xfrm>
            <a:off x="411479" y="4498848"/>
            <a:ext cx="3474720" cy="1280160"/>
          </a:xfrm>
          <a:prstGeom prst="rect">
            <a:avLst/>
          </a:prstGeom>
          <a:noFill/>
        </p:spPr>
        <p:txBody>
          <a:bodyPr wrap="square">
            <a:spAutoFit/>
          </a:bodyPr>
          <a:lstStyle/>
          <a:p>
            <a:pPr algn="l"/>
            <a:r>
              <a:rPr sz="850" b="0" i="0">
                <a:solidFill>
                  <a:srgbClr val="1A2844"/>
                </a:solidFill>
                <a:latin typeface="Montserrat"/>
              </a:rPr>
              <a:t>• Constellation (1,000+ adquisiciones)
• Interés activo por &gt;1 año
• Umbral: US$800K–1M ARR
• Trayectoria: ~US$550K ARR 2025</a:t>
            </a:r>
          </a:p>
        </p:txBody>
      </p:sp>
      <p:sp>
        <p:nvSpPr>
          <p:cNvPr id="26" name="TextBox 25"/>
          <p:cNvSpPr txBox="1"/>
          <p:nvPr/>
        </p:nvSpPr>
        <p:spPr>
          <a:xfrm>
            <a:off x="411479" y="5897880"/>
            <a:ext cx="3474720" cy="274320"/>
          </a:xfrm>
          <a:prstGeom prst="rect">
            <a:avLst/>
          </a:prstGeom>
          <a:noFill/>
        </p:spPr>
        <p:txBody>
          <a:bodyPr wrap="square">
            <a:spAutoFit/>
          </a:bodyPr>
          <a:lstStyle/>
          <a:p>
            <a:pPr algn="l"/>
            <a:r>
              <a:rPr sz="800" b="1" i="0">
                <a:solidFill>
                  <a:srgbClr val="00B38A"/>
                </a:solidFill>
                <a:latin typeface="Montserrat"/>
              </a:rPr>
              <a:t>PRIORIDAD: ALTA</a:t>
            </a:r>
          </a:p>
        </p:txBody>
      </p:sp>
      <p:sp>
        <p:nvSpPr>
          <p:cNvPr id="27" name="Rectangle 26"/>
          <p:cNvSpPr/>
          <p:nvPr/>
        </p:nvSpPr>
        <p:spPr>
          <a:xfrm>
            <a:off x="4270248" y="4114800"/>
            <a:ext cx="3657600" cy="2148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70248" y="4114800"/>
            <a:ext cx="3657600" cy="320040"/>
          </a:xfrm>
          <a:prstGeom prst="rect">
            <a:avLst/>
          </a:prstGeom>
          <a:solidFill>
            <a:srgbClr val="A0AA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61688" y="4160520"/>
            <a:ext cx="3474720" cy="256032"/>
          </a:xfrm>
          <a:prstGeom prst="rect">
            <a:avLst/>
          </a:prstGeom>
          <a:noFill/>
        </p:spPr>
        <p:txBody>
          <a:bodyPr wrap="square">
            <a:spAutoFit/>
          </a:bodyPr>
          <a:lstStyle/>
          <a:p>
            <a:pPr algn="l"/>
            <a:r>
              <a:rPr sz="950" b="1" i="0">
                <a:solidFill>
                  <a:srgbClr val="FFFFFF"/>
                </a:solidFill>
                <a:latin typeface="Montserrat"/>
              </a:rPr>
              <a:t>Asisvisa  ·  Recompra / Legaltech</a:t>
            </a:r>
          </a:p>
        </p:txBody>
      </p:sp>
      <p:sp>
        <p:nvSpPr>
          <p:cNvPr id="30" name="TextBox 29"/>
          <p:cNvSpPr txBox="1"/>
          <p:nvPr/>
        </p:nvSpPr>
        <p:spPr>
          <a:xfrm>
            <a:off x="4361688" y="4498848"/>
            <a:ext cx="3474720" cy="1280160"/>
          </a:xfrm>
          <a:prstGeom prst="rect">
            <a:avLst/>
          </a:prstGeom>
          <a:noFill/>
        </p:spPr>
        <p:txBody>
          <a:bodyPr wrap="square">
            <a:spAutoFit/>
          </a:bodyPr>
          <a:lstStyle/>
          <a:p>
            <a:pPr algn="l"/>
            <a:r>
              <a:rPr sz="850" b="0" i="0">
                <a:solidFill>
                  <a:srgbClr val="1A2844"/>
                </a:solidFill>
                <a:latin typeface="Montserrat"/>
              </a:rPr>
              <a:t>• Recompra por founders
• Boutique legaltech regional
• Procesos ágiles de monetización</a:t>
            </a:r>
          </a:p>
        </p:txBody>
      </p:sp>
      <p:sp>
        <p:nvSpPr>
          <p:cNvPr id="31" name="TextBox 30"/>
          <p:cNvSpPr txBox="1"/>
          <p:nvPr/>
        </p:nvSpPr>
        <p:spPr>
          <a:xfrm>
            <a:off x="4361688" y="5897880"/>
            <a:ext cx="3474720" cy="274320"/>
          </a:xfrm>
          <a:prstGeom prst="rect">
            <a:avLst/>
          </a:prstGeom>
          <a:noFill/>
        </p:spPr>
        <p:txBody>
          <a:bodyPr wrap="square">
            <a:spAutoFit/>
          </a:bodyPr>
          <a:lstStyle/>
          <a:p>
            <a:pPr algn="l"/>
            <a:r>
              <a:rPr sz="800" b="1" i="0">
                <a:solidFill>
                  <a:srgbClr val="F5A623"/>
                </a:solidFill>
                <a:latin typeface="Montserrat"/>
              </a:rPr>
              <a:t>PRIORIDAD: MEDIA</a:t>
            </a:r>
          </a:p>
        </p:txBody>
      </p:sp>
      <p:sp>
        <p:nvSpPr>
          <p:cNvPr id="32" name="TextBox 31"/>
          <p:cNvSpPr txBox="1"/>
          <p:nvPr/>
        </p:nvSpPr>
        <p:spPr>
          <a:xfrm>
            <a:off x="365760" y="6583680"/>
            <a:ext cx="11430000" cy="228600"/>
          </a:xfrm>
          <a:prstGeom prst="rect">
            <a:avLst/>
          </a:prstGeom>
          <a:noFill/>
        </p:spPr>
        <p:txBody>
          <a:bodyPr wrap="square">
            <a:spAutoFit/>
          </a:bodyPr>
          <a:lstStyle/>
          <a:p>
            <a:pPr algn="l"/>
            <a:r>
              <a:rPr sz="700" b="0" i="0">
                <a:solidFill>
                  <a:srgbClr val="A0AABB"/>
                </a:solidFill>
                <a:latin typeface="Montserrat"/>
              </a:rPr>
              <a:t>Exit Accelerator: +1,068 organizaciones identificadas · 120 contactados · 22 reuniones · 5 oportunidades avanzadas (caso Legalítica)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502920"/>
          </a:xfrm>
          <a:prstGeom prst="rect">
            <a:avLst/>
          </a:prstGeom>
          <a:noFill/>
        </p:spPr>
        <p:txBody>
          <a:bodyPr wrap="square">
            <a:spAutoFit/>
          </a:bodyPr>
          <a:lstStyle/>
          <a:p>
            <a:pPr algn="l"/>
            <a:r>
              <a:rPr sz="2200" b="1" i="0">
                <a:solidFill>
                  <a:srgbClr val="FFFFFF"/>
                </a:solidFill>
                <a:latin typeface="Montserrat"/>
              </a:rPr>
              <a:t>Valoración Potencial del Portafolio: Escenarios 2026</a:t>
            </a:r>
          </a:p>
        </p:txBody>
      </p:sp>
      <p:sp>
        <p:nvSpPr>
          <p:cNvPr id="4" name="TextBox 3"/>
          <p:cNvSpPr txBox="1"/>
          <p:nvPr/>
        </p:nvSpPr>
        <p:spPr>
          <a:xfrm>
            <a:off x="457200" y="566928"/>
            <a:ext cx="10058400" cy="384048"/>
          </a:xfrm>
          <a:prstGeom prst="rect">
            <a:avLst/>
          </a:prstGeom>
          <a:noFill/>
        </p:spPr>
        <p:txBody>
          <a:bodyPr wrap="square">
            <a:spAutoFit/>
          </a:bodyPr>
          <a:lstStyle/>
          <a:p>
            <a:pPr algn="l"/>
            <a:r>
              <a:rPr sz="1100" b="0" i="0">
                <a:solidFill>
                  <a:srgbClr val="00B38A"/>
                </a:solidFill>
                <a:latin typeface="Montserrat"/>
              </a:rPr>
              <a:t>Análisis de 3 escenarios · Ponderación: Conservador 50% · Optimista 25% · Pesimista 25%</a:t>
            </a:r>
          </a:p>
        </p:txBody>
      </p:sp>
      <p:sp>
        <p:nvSpPr>
          <p:cNvPr id="5" name="Rectangle 4"/>
          <p:cNvSpPr/>
          <p:nvPr/>
        </p:nvSpPr>
        <p:spPr>
          <a:xfrm>
            <a:off x="320040" y="1143000"/>
            <a:ext cx="11430000" cy="36576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70432"/>
            <a:ext cx="1463040" cy="320040"/>
          </a:xfrm>
          <a:prstGeom prst="rect">
            <a:avLst/>
          </a:prstGeom>
          <a:noFill/>
        </p:spPr>
        <p:txBody>
          <a:bodyPr wrap="square">
            <a:spAutoFit/>
          </a:bodyPr>
          <a:lstStyle/>
          <a:p>
            <a:pPr algn="ctr"/>
            <a:r>
              <a:rPr sz="1000" b="1" i="0">
                <a:solidFill>
                  <a:srgbClr val="FFFFFF"/>
                </a:solidFill>
                <a:latin typeface="Montserrat"/>
              </a:rPr>
              <a:t>Escenario</a:t>
            </a:r>
          </a:p>
        </p:txBody>
      </p:sp>
      <p:sp>
        <p:nvSpPr>
          <p:cNvPr id="7" name="TextBox 6"/>
          <p:cNvSpPr txBox="1"/>
          <p:nvPr/>
        </p:nvSpPr>
        <p:spPr>
          <a:xfrm>
            <a:off x="1920240" y="1170432"/>
            <a:ext cx="1005840" cy="320040"/>
          </a:xfrm>
          <a:prstGeom prst="rect">
            <a:avLst/>
          </a:prstGeom>
          <a:noFill/>
        </p:spPr>
        <p:txBody>
          <a:bodyPr wrap="square">
            <a:spAutoFit/>
          </a:bodyPr>
          <a:lstStyle/>
          <a:p>
            <a:pPr algn="ctr"/>
            <a:r>
              <a:rPr sz="1000" b="1" i="0">
                <a:solidFill>
                  <a:srgbClr val="FFFFFF"/>
                </a:solidFill>
                <a:latin typeface="Montserrat"/>
              </a:rPr>
              <a:t>Peso</a:t>
            </a:r>
          </a:p>
        </p:txBody>
      </p:sp>
      <p:sp>
        <p:nvSpPr>
          <p:cNvPr id="8" name="TextBox 7"/>
          <p:cNvSpPr txBox="1"/>
          <p:nvPr/>
        </p:nvSpPr>
        <p:spPr>
          <a:xfrm>
            <a:off x="3017520" y="1170432"/>
            <a:ext cx="1920240" cy="320040"/>
          </a:xfrm>
          <a:prstGeom prst="rect">
            <a:avLst/>
          </a:prstGeom>
          <a:noFill/>
        </p:spPr>
        <p:txBody>
          <a:bodyPr wrap="square">
            <a:spAutoFit/>
          </a:bodyPr>
          <a:lstStyle/>
          <a:p>
            <a:pPr algn="ctr"/>
            <a:r>
              <a:rPr sz="1000" b="1" i="0">
                <a:solidFill>
                  <a:srgbClr val="FFFFFF"/>
                </a:solidFill>
                <a:latin typeface="Montserrat"/>
              </a:rPr>
              <a:t>Tier 1</a:t>
            </a:r>
          </a:p>
        </p:txBody>
      </p:sp>
      <p:sp>
        <p:nvSpPr>
          <p:cNvPr id="9" name="TextBox 8"/>
          <p:cNvSpPr txBox="1"/>
          <p:nvPr/>
        </p:nvSpPr>
        <p:spPr>
          <a:xfrm>
            <a:off x="5029200" y="1170432"/>
            <a:ext cx="1920240" cy="320040"/>
          </a:xfrm>
          <a:prstGeom prst="rect">
            <a:avLst/>
          </a:prstGeom>
          <a:noFill/>
        </p:spPr>
        <p:txBody>
          <a:bodyPr wrap="square">
            <a:spAutoFit/>
          </a:bodyPr>
          <a:lstStyle/>
          <a:p>
            <a:pPr algn="ctr"/>
            <a:r>
              <a:rPr sz="1000" b="1" i="0">
                <a:solidFill>
                  <a:srgbClr val="FFFFFF"/>
                </a:solidFill>
                <a:latin typeface="Montserrat"/>
              </a:rPr>
              <a:t>Tier 2</a:t>
            </a:r>
          </a:p>
        </p:txBody>
      </p:sp>
      <p:sp>
        <p:nvSpPr>
          <p:cNvPr id="10" name="TextBox 9"/>
          <p:cNvSpPr txBox="1"/>
          <p:nvPr/>
        </p:nvSpPr>
        <p:spPr>
          <a:xfrm>
            <a:off x="7040880" y="1170432"/>
            <a:ext cx="1920240" cy="320040"/>
          </a:xfrm>
          <a:prstGeom prst="rect">
            <a:avLst/>
          </a:prstGeom>
          <a:noFill/>
        </p:spPr>
        <p:txBody>
          <a:bodyPr wrap="square">
            <a:spAutoFit/>
          </a:bodyPr>
          <a:lstStyle/>
          <a:p>
            <a:pPr algn="ctr"/>
            <a:r>
              <a:rPr sz="1000" b="1" i="0">
                <a:solidFill>
                  <a:srgbClr val="FFFFFF"/>
                </a:solidFill>
                <a:latin typeface="Montserrat"/>
              </a:rPr>
              <a:t>Tier 3</a:t>
            </a:r>
          </a:p>
        </p:txBody>
      </p:sp>
      <p:sp>
        <p:nvSpPr>
          <p:cNvPr id="11" name="TextBox 10"/>
          <p:cNvSpPr txBox="1"/>
          <p:nvPr/>
        </p:nvSpPr>
        <p:spPr>
          <a:xfrm>
            <a:off x="9052560" y="1170432"/>
            <a:ext cx="2743200" cy="320040"/>
          </a:xfrm>
          <a:prstGeom prst="rect">
            <a:avLst/>
          </a:prstGeom>
          <a:noFill/>
        </p:spPr>
        <p:txBody>
          <a:bodyPr wrap="square">
            <a:spAutoFit/>
          </a:bodyPr>
          <a:lstStyle/>
          <a:p>
            <a:pPr algn="ctr"/>
            <a:r>
              <a:rPr sz="1000" b="1" i="0">
                <a:solidFill>
                  <a:srgbClr val="FFFFFF"/>
                </a:solidFill>
                <a:latin typeface="Montserrat"/>
              </a:rPr>
              <a:t>TOTAL</a:t>
            </a:r>
          </a:p>
        </p:txBody>
      </p:sp>
      <p:sp>
        <p:nvSpPr>
          <p:cNvPr id="12" name="Rectangle 11"/>
          <p:cNvSpPr/>
          <p:nvPr/>
        </p:nvSpPr>
        <p:spPr>
          <a:xfrm>
            <a:off x="320040" y="1508760"/>
            <a:ext cx="11430000" cy="685800"/>
          </a:xfrm>
          <a:prstGeom prst="rect">
            <a:avLst/>
          </a:prstGeom>
          <a:solidFill>
            <a:srgbClr val="E0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645919"/>
            <a:ext cx="1463040" cy="438912"/>
          </a:xfrm>
          <a:prstGeom prst="rect">
            <a:avLst/>
          </a:prstGeom>
          <a:noFill/>
        </p:spPr>
        <p:txBody>
          <a:bodyPr wrap="square">
            <a:spAutoFit/>
          </a:bodyPr>
          <a:lstStyle/>
          <a:p>
            <a:pPr algn="ctr"/>
            <a:r>
              <a:rPr sz="1000" b="1" i="0">
                <a:solidFill>
                  <a:srgbClr val="00B38A"/>
                </a:solidFill>
                <a:latin typeface="Montserrat"/>
              </a:rPr>
              <a:t>OPTIMISTA</a:t>
            </a:r>
          </a:p>
        </p:txBody>
      </p:sp>
      <p:sp>
        <p:nvSpPr>
          <p:cNvPr id="14" name="TextBox 13"/>
          <p:cNvSpPr txBox="1"/>
          <p:nvPr/>
        </p:nvSpPr>
        <p:spPr>
          <a:xfrm>
            <a:off x="1920240" y="1645919"/>
            <a:ext cx="1005840" cy="438912"/>
          </a:xfrm>
          <a:prstGeom prst="rect">
            <a:avLst/>
          </a:prstGeom>
          <a:noFill/>
        </p:spPr>
        <p:txBody>
          <a:bodyPr wrap="square">
            <a:spAutoFit/>
          </a:bodyPr>
          <a:lstStyle/>
          <a:p>
            <a:pPr algn="ctr"/>
            <a:r>
              <a:rPr sz="1000" b="0" i="0">
                <a:solidFill>
                  <a:srgbClr val="1A2844"/>
                </a:solidFill>
                <a:latin typeface="Montserrat"/>
              </a:rPr>
              <a:t>25%</a:t>
            </a:r>
          </a:p>
        </p:txBody>
      </p:sp>
      <p:sp>
        <p:nvSpPr>
          <p:cNvPr id="15" name="TextBox 14"/>
          <p:cNvSpPr txBox="1"/>
          <p:nvPr/>
        </p:nvSpPr>
        <p:spPr>
          <a:xfrm>
            <a:off x="3017520" y="1645919"/>
            <a:ext cx="1920240" cy="438912"/>
          </a:xfrm>
          <a:prstGeom prst="rect">
            <a:avLst/>
          </a:prstGeom>
          <a:noFill/>
        </p:spPr>
        <p:txBody>
          <a:bodyPr wrap="square">
            <a:spAutoFit/>
          </a:bodyPr>
          <a:lstStyle/>
          <a:p>
            <a:pPr algn="ctr"/>
            <a:r>
              <a:rPr sz="1000" b="0" i="0">
                <a:solidFill>
                  <a:srgbClr val="1A2844"/>
                </a:solidFill>
                <a:latin typeface="Montserrat"/>
              </a:rPr>
              <a:t>$1,850,000</a:t>
            </a:r>
          </a:p>
        </p:txBody>
      </p:sp>
      <p:sp>
        <p:nvSpPr>
          <p:cNvPr id="16" name="TextBox 15"/>
          <p:cNvSpPr txBox="1"/>
          <p:nvPr/>
        </p:nvSpPr>
        <p:spPr>
          <a:xfrm>
            <a:off x="5029200" y="1645919"/>
            <a:ext cx="1920240" cy="438912"/>
          </a:xfrm>
          <a:prstGeom prst="rect">
            <a:avLst/>
          </a:prstGeom>
          <a:noFill/>
        </p:spPr>
        <p:txBody>
          <a:bodyPr wrap="square">
            <a:spAutoFit/>
          </a:bodyPr>
          <a:lstStyle/>
          <a:p>
            <a:pPr algn="ctr"/>
            <a:r>
              <a:rPr sz="1000" b="0" i="0">
                <a:solidFill>
                  <a:srgbClr val="1A2844"/>
                </a:solidFill>
                <a:latin typeface="Montserrat"/>
              </a:rPr>
              <a:t>$72,248</a:t>
            </a:r>
          </a:p>
        </p:txBody>
      </p:sp>
      <p:sp>
        <p:nvSpPr>
          <p:cNvPr id="17" name="TextBox 16"/>
          <p:cNvSpPr txBox="1"/>
          <p:nvPr/>
        </p:nvSpPr>
        <p:spPr>
          <a:xfrm>
            <a:off x="7040880" y="1645919"/>
            <a:ext cx="1920240" cy="438912"/>
          </a:xfrm>
          <a:prstGeom prst="rect">
            <a:avLst/>
          </a:prstGeom>
          <a:noFill/>
        </p:spPr>
        <p:txBody>
          <a:bodyPr wrap="square">
            <a:spAutoFit/>
          </a:bodyPr>
          <a:lstStyle/>
          <a:p>
            <a:pPr algn="ctr"/>
            <a:r>
              <a:rPr sz="1000" b="0" i="0">
                <a:solidFill>
                  <a:srgbClr val="1A2844"/>
                </a:solidFill>
                <a:latin typeface="Montserrat"/>
              </a:rPr>
              <a:t>$59,837</a:t>
            </a:r>
          </a:p>
        </p:txBody>
      </p:sp>
      <p:sp>
        <p:nvSpPr>
          <p:cNvPr id="18" name="TextBox 17"/>
          <p:cNvSpPr txBox="1"/>
          <p:nvPr/>
        </p:nvSpPr>
        <p:spPr>
          <a:xfrm>
            <a:off x="9052560" y="1645919"/>
            <a:ext cx="2743200" cy="438912"/>
          </a:xfrm>
          <a:prstGeom prst="rect">
            <a:avLst/>
          </a:prstGeom>
          <a:noFill/>
        </p:spPr>
        <p:txBody>
          <a:bodyPr wrap="square">
            <a:spAutoFit/>
          </a:bodyPr>
          <a:lstStyle/>
          <a:p>
            <a:pPr algn="ctr"/>
            <a:r>
              <a:rPr sz="1200" b="1" i="0">
                <a:solidFill>
                  <a:srgbClr val="00B38A"/>
                </a:solidFill>
                <a:latin typeface="Montserrat"/>
              </a:rPr>
              <a:t>$1,982,085</a:t>
            </a:r>
          </a:p>
        </p:txBody>
      </p:sp>
      <p:sp>
        <p:nvSpPr>
          <p:cNvPr id="19" name="Rectangle 18"/>
          <p:cNvSpPr/>
          <p:nvPr/>
        </p:nvSpPr>
        <p:spPr>
          <a:xfrm>
            <a:off x="320040" y="2221991"/>
            <a:ext cx="11430000" cy="6858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2359151"/>
            <a:ext cx="1463040" cy="438912"/>
          </a:xfrm>
          <a:prstGeom prst="rect">
            <a:avLst/>
          </a:prstGeom>
          <a:noFill/>
        </p:spPr>
        <p:txBody>
          <a:bodyPr wrap="square">
            <a:spAutoFit/>
          </a:bodyPr>
          <a:lstStyle/>
          <a:p>
            <a:pPr algn="ctr"/>
            <a:r>
              <a:rPr sz="1000" b="1" i="0">
                <a:solidFill>
                  <a:srgbClr val="0D1F3C"/>
                </a:solidFill>
                <a:latin typeface="Montserrat"/>
              </a:rPr>
              <a:t>CONSERVADOR</a:t>
            </a:r>
          </a:p>
        </p:txBody>
      </p:sp>
      <p:sp>
        <p:nvSpPr>
          <p:cNvPr id="21" name="TextBox 20"/>
          <p:cNvSpPr txBox="1"/>
          <p:nvPr/>
        </p:nvSpPr>
        <p:spPr>
          <a:xfrm>
            <a:off x="1920240" y="2359151"/>
            <a:ext cx="1005840" cy="438912"/>
          </a:xfrm>
          <a:prstGeom prst="rect">
            <a:avLst/>
          </a:prstGeom>
          <a:noFill/>
        </p:spPr>
        <p:txBody>
          <a:bodyPr wrap="square">
            <a:spAutoFit/>
          </a:bodyPr>
          <a:lstStyle/>
          <a:p>
            <a:pPr algn="ctr"/>
            <a:r>
              <a:rPr sz="1000" b="0" i="0">
                <a:solidFill>
                  <a:srgbClr val="1A2844"/>
                </a:solidFill>
                <a:latin typeface="Montserrat"/>
              </a:rPr>
              <a:t>50%</a:t>
            </a:r>
          </a:p>
        </p:txBody>
      </p:sp>
      <p:sp>
        <p:nvSpPr>
          <p:cNvPr id="22" name="TextBox 21"/>
          <p:cNvSpPr txBox="1"/>
          <p:nvPr/>
        </p:nvSpPr>
        <p:spPr>
          <a:xfrm>
            <a:off x="3017520" y="2359151"/>
            <a:ext cx="1920240" cy="438912"/>
          </a:xfrm>
          <a:prstGeom prst="rect">
            <a:avLst/>
          </a:prstGeom>
          <a:noFill/>
        </p:spPr>
        <p:txBody>
          <a:bodyPr wrap="square">
            <a:spAutoFit/>
          </a:bodyPr>
          <a:lstStyle/>
          <a:p>
            <a:pPr algn="ctr"/>
            <a:r>
              <a:rPr sz="1000" b="0" i="0">
                <a:solidFill>
                  <a:srgbClr val="1A2844"/>
                </a:solidFill>
                <a:latin typeface="Montserrat"/>
              </a:rPr>
              <a:t>$1,300,000</a:t>
            </a:r>
          </a:p>
        </p:txBody>
      </p:sp>
      <p:sp>
        <p:nvSpPr>
          <p:cNvPr id="23" name="TextBox 22"/>
          <p:cNvSpPr txBox="1"/>
          <p:nvPr/>
        </p:nvSpPr>
        <p:spPr>
          <a:xfrm>
            <a:off x="5029200" y="2359151"/>
            <a:ext cx="1920240" cy="438912"/>
          </a:xfrm>
          <a:prstGeom prst="rect">
            <a:avLst/>
          </a:prstGeom>
          <a:noFill/>
        </p:spPr>
        <p:txBody>
          <a:bodyPr wrap="square">
            <a:spAutoFit/>
          </a:bodyPr>
          <a:lstStyle/>
          <a:p>
            <a:pPr algn="ctr"/>
            <a:r>
              <a:rPr sz="1000" b="0" i="0">
                <a:solidFill>
                  <a:srgbClr val="1A2844"/>
                </a:solidFill>
                <a:latin typeface="Montserrat"/>
              </a:rPr>
              <a:t>$55,390</a:t>
            </a:r>
          </a:p>
        </p:txBody>
      </p:sp>
      <p:sp>
        <p:nvSpPr>
          <p:cNvPr id="24" name="TextBox 23"/>
          <p:cNvSpPr txBox="1"/>
          <p:nvPr/>
        </p:nvSpPr>
        <p:spPr>
          <a:xfrm>
            <a:off x="7040880" y="2359151"/>
            <a:ext cx="1920240" cy="438912"/>
          </a:xfrm>
          <a:prstGeom prst="rect">
            <a:avLst/>
          </a:prstGeom>
          <a:noFill/>
        </p:spPr>
        <p:txBody>
          <a:bodyPr wrap="square">
            <a:spAutoFit/>
          </a:bodyPr>
          <a:lstStyle/>
          <a:p>
            <a:pPr algn="ctr"/>
            <a:r>
              <a:rPr sz="1000" b="0" i="0">
                <a:solidFill>
                  <a:srgbClr val="1A2844"/>
                </a:solidFill>
                <a:latin typeface="Montserrat"/>
              </a:rPr>
              <a:t>$49,277</a:t>
            </a:r>
          </a:p>
        </p:txBody>
      </p:sp>
      <p:sp>
        <p:nvSpPr>
          <p:cNvPr id="25" name="TextBox 24"/>
          <p:cNvSpPr txBox="1"/>
          <p:nvPr/>
        </p:nvSpPr>
        <p:spPr>
          <a:xfrm>
            <a:off x="9052560" y="2359151"/>
            <a:ext cx="2743200" cy="438912"/>
          </a:xfrm>
          <a:prstGeom prst="rect">
            <a:avLst/>
          </a:prstGeom>
          <a:noFill/>
        </p:spPr>
        <p:txBody>
          <a:bodyPr wrap="square">
            <a:spAutoFit/>
          </a:bodyPr>
          <a:lstStyle/>
          <a:p>
            <a:pPr algn="ctr"/>
            <a:r>
              <a:rPr sz="1200" b="1" i="0">
                <a:solidFill>
                  <a:srgbClr val="0D1F3C"/>
                </a:solidFill>
                <a:latin typeface="Montserrat"/>
              </a:rPr>
              <a:t>$1,404,667</a:t>
            </a:r>
          </a:p>
        </p:txBody>
      </p:sp>
      <p:sp>
        <p:nvSpPr>
          <p:cNvPr id="26" name="Rectangle 25"/>
          <p:cNvSpPr/>
          <p:nvPr/>
        </p:nvSpPr>
        <p:spPr>
          <a:xfrm>
            <a:off x="320040" y="2935224"/>
            <a:ext cx="11430000" cy="685800"/>
          </a:xfrm>
          <a:prstGeom prst="rect">
            <a:avLst/>
          </a:prstGeom>
          <a:solidFill>
            <a:srgbClr val="FEF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3072384"/>
            <a:ext cx="1463040" cy="438912"/>
          </a:xfrm>
          <a:prstGeom prst="rect">
            <a:avLst/>
          </a:prstGeom>
          <a:noFill/>
        </p:spPr>
        <p:txBody>
          <a:bodyPr wrap="square">
            <a:spAutoFit/>
          </a:bodyPr>
          <a:lstStyle/>
          <a:p>
            <a:pPr algn="ctr"/>
            <a:r>
              <a:rPr sz="1000" b="1" i="0">
                <a:solidFill>
                  <a:srgbClr val="E54B4B"/>
                </a:solidFill>
                <a:latin typeface="Montserrat"/>
              </a:rPr>
              <a:t>PESIMISTA</a:t>
            </a:r>
          </a:p>
        </p:txBody>
      </p:sp>
      <p:sp>
        <p:nvSpPr>
          <p:cNvPr id="28" name="TextBox 27"/>
          <p:cNvSpPr txBox="1"/>
          <p:nvPr/>
        </p:nvSpPr>
        <p:spPr>
          <a:xfrm>
            <a:off x="1920240" y="3072384"/>
            <a:ext cx="1005840" cy="438912"/>
          </a:xfrm>
          <a:prstGeom prst="rect">
            <a:avLst/>
          </a:prstGeom>
          <a:noFill/>
        </p:spPr>
        <p:txBody>
          <a:bodyPr wrap="square">
            <a:spAutoFit/>
          </a:bodyPr>
          <a:lstStyle/>
          <a:p>
            <a:pPr algn="ctr"/>
            <a:r>
              <a:rPr sz="1000" b="0" i="0">
                <a:solidFill>
                  <a:srgbClr val="1A2844"/>
                </a:solidFill>
                <a:latin typeface="Montserrat"/>
              </a:rPr>
              <a:t>25%</a:t>
            </a:r>
          </a:p>
        </p:txBody>
      </p:sp>
      <p:sp>
        <p:nvSpPr>
          <p:cNvPr id="29" name="TextBox 28"/>
          <p:cNvSpPr txBox="1"/>
          <p:nvPr/>
        </p:nvSpPr>
        <p:spPr>
          <a:xfrm>
            <a:off x="3017520" y="3072384"/>
            <a:ext cx="1920240" cy="438912"/>
          </a:xfrm>
          <a:prstGeom prst="rect">
            <a:avLst/>
          </a:prstGeom>
          <a:noFill/>
        </p:spPr>
        <p:txBody>
          <a:bodyPr wrap="square">
            <a:spAutoFit/>
          </a:bodyPr>
          <a:lstStyle/>
          <a:p>
            <a:pPr algn="ctr"/>
            <a:r>
              <a:rPr sz="1000" b="0" i="0">
                <a:solidFill>
                  <a:srgbClr val="1A2844"/>
                </a:solidFill>
                <a:latin typeface="Montserrat"/>
              </a:rPr>
              <a:t>$950,000</a:t>
            </a:r>
          </a:p>
        </p:txBody>
      </p:sp>
      <p:sp>
        <p:nvSpPr>
          <p:cNvPr id="30" name="TextBox 29"/>
          <p:cNvSpPr txBox="1"/>
          <p:nvPr/>
        </p:nvSpPr>
        <p:spPr>
          <a:xfrm>
            <a:off x="5029200" y="3072384"/>
            <a:ext cx="1920240" cy="438912"/>
          </a:xfrm>
          <a:prstGeom prst="rect">
            <a:avLst/>
          </a:prstGeom>
          <a:noFill/>
        </p:spPr>
        <p:txBody>
          <a:bodyPr wrap="square">
            <a:spAutoFit/>
          </a:bodyPr>
          <a:lstStyle/>
          <a:p>
            <a:pPr algn="ctr"/>
            <a:r>
              <a:rPr sz="1000" b="0" i="0">
                <a:solidFill>
                  <a:srgbClr val="1A2844"/>
                </a:solidFill>
                <a:latin typeface="Montserrat"/>
              </a:rPr>
              <a:t>$9,633</a:t>
            </a:r>
          </a:p>
        </p:txBody>
      </p:sp>
      <p:sp>
        <p:nvSpPr>
          <p:cNvPr id="31" name="TextBox 30"/>
          <p:cNvSpPr txBox="1"/>
          <p:nvPr/>
        </p:nvSpPr>
        <p:spPr>
          <a:xfrm>
            <a:off x="7040880" y="3072384"/>
            <a:ext cx="1920240" cy="438912"/>
          </a:xfrm>
          <a:prstGeom prst="rect">
            <a:avLst/>
          </a:prstGeom>
          <a:noFill/>
        </p:spPr>
        <p:txBody>
          <a:bodyPr wrap="square">
            <a:spAutoFit/>
          </a:bodyPr>
          <a:lstStyle/>
          <a:p>
            <a:pPr algn="ctr"/>
            <a:r>
              <a:rPr sz="1000" b="0" i="0">
                <a:solidFill>
                  <a:srgbClr val="1A2844"/>
                </a:solidFill>
                <a:latin typeface="Montserrat"/>
              </a:rPr>
              <a:t>$28,158</a:t>
            </a:r>
          </a:p>
        </p:txBody>
      </p:sp>
      <p:sp>
        <p:nvSpPr>
          <p:cNvPr id="32" name="TextBox 31"/>
          <p:cNvSpPr txBox="1"/>
          <p:nvPr/>
        </p:nvSpPr>
        <p:spPr>
          <a:xfrm>
            <a:off x="9052560" y="3072384"/>
            <a:ext cx="2743200" cy="438912"/>
          </a:xfrm>
          <a:prstGeom prst="rect">
            <a:avLst/>
          </a:prstGeom>
          <a:noFill/>
        </p:spPr>
        <p:txBody>
          <a:bodyPr wrap="square">
            <a:spAutoFit/>
          </a:bodyPr>
          <a:lstStyle/>
          <a:p>
            <a:pPr algn="ctr"/>
            <a:r>
              <a:rPr sz="1200" b="1" i="0">
                <a:solidFill>
                  <a:srgbClr val="E54B4B"/>
                </a:solidFill>
                <a:latin typeface="Montserrat"/>
              </a:rPr>
              <a:t>$987,791</a:t>
            </a:r>
          </a:p>
        </p:txBody>
      </p:sp>
      <p:sp>
        <p:nvSpPr>
          <p:cNvPr id="33" name="Rectangle 32"/>
          <p:cNvSpPr/>
          <p:nvPr/>
        </p:nvSpPr>
        <p:spPr>
          <a:xfrm>
            <a:off x="320040" y="3648456"/>
            <a:ext cx="11430000" cy="685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3785615"/>
            <a:ext cx="1463040" cy="438912"/>
          </a:xfrm>
          <a:prstGeom prst="rect">
            <a:avLst/>
          </a:prstGeom>
          <a:noFill/>
        </p:spPr>
        <p:txBody>
          <a:bodyPr wrap="square">
            <a:spAutoFit/>
          </a:bodyPr>
          <a:lstStyle/>
          <a:p>
            <a:pPr algn="ctr"/>
            <a:r>
              <a:rPr sz="1000" b="1" i="0">
                <a:solidFill>
                  <a:srgbClr val="FFFFFF"/>
                </a:solidFill>
                <a:latin typeface="Montserrat"/>
              </a:rPr>
              <a:t>PONDERADO★</a:t>
            </a:r>
          </a:p>
        </p:txBody>
      </p:sp>
      <p:sp>
        <p:nvSpPr>
          <p:cNvPr id="35" name="TextBox 34"/>
          <p:cNvSpPr txBox="1"/>
          <p:nvPr/>
        </p:nvSpPr>
        <p:spPr>
          <a:xfrm>
            <a:off x="1920240" y="3785615"/>
            <a:ext cx="1005840" cy="438912"/>
          </a:xfrm>
          <a:prstGeom prst="rect">
            <a:avLst/>
          </a:prstGeom>
          <a:noFill/>
        </p:spPr>
        <p:txBody>
          <a:bodyPr wrap="square">
            <a:spAutoFit/>
          </a:bodyPr>
          <a:lstStyle/>
          <a:p>
            <a:pPr algn="ctr"/>
            <a:r>
              <a:rPr sz="1000" b="0" i="0">
                <a:solidFill>
                  <a:srgbClr val="FFFFFF"/>
                </a:solidFill>
                <a:latin typeface="Montserrat"/>
              </a:rPr>
              <a:t>100%</a:t>
            </a:r>
          </a:p>
        </p:txBody>
      </p:sp>
      <p:sp>
        <p:nvSpPr>
          <p:cNvPr id="36" name="TextBox 35"/>
          <p:cNvSpPr txBox="1"/>
          <p:nvPr/>
        </p:nvSpPr>
        <p:spPr>
          <a:xfrm>
            <a:off x="3017520" y="3785615"/>
            <a:ext cx="1920240" cy="438912"/>
          </a:xfrm>
          <a:prstGeom prst="rect">
            <a:avLst/>
          </a:prstGeom>
          <a:noFill/>
        </p:spPr>
        <p:txBody>
          <a:bodyPr wrap="square">
            <a:spAutoFit/>
          </a:bodyPr>
          <a:lstStyle/>
          <a:p>
            <a:pPr algn="ctr"/>
            <a:r>
              <a:rPr sz="1000" b="0" i="0">
                <a:solidFill>
                  <a:srgbClr val="FFFFFF"/>
                </a:solidFill>
                <a:latin typeface="Montserrat"/>
              </a:rPr>
              <a:t>—</a:t>
            </a:r>
          </a:p>
        </p:txBody>
      </p:sp>
      <p:sp>
        <p:nvSpPr>
          <p:cNvPr id="37" name="TextBox 36"/>
          <p:cNvSpPr txBox="1"/>
          <p:nvPr/>
        </p:nvSpPr>
        <p:spPr>
          <a:xfrm>
            <a:off x="5029200" y="3785615"/>
            <a:ext cx="1920240" cy="438912"/>
          </a:xfrm>
          <a:prstGeom prst="rect">
            <a:avLst/>
          </a:prstGeom>
          <a:noFill/>
        </p:spPr>
        <p:txBody>
          <a:bodyPr wrap="square">
            <a:spAutoFit/>
          </a:bodyPr>
          <a:lstStyle/>
          <a:p>
            <a:pPr algn="ctr"/>
            <a:r>
              <a:rPr sz="1000" b="0" i="0">
                <a:solidFill>
                  <a:srgbClr val="FFFFFF"/>
                </a:solidFill>
                <a:latin typeface="Montserrat"/>
              </a:rPr>
              <a:t>—</a:t>
            </a:r>
          </a:p>
        </p:txBody>
      </p:sp>
      <p:sp>
        <p:nvSpPr>
          <p:cNvPr id="38" name="TextBox 37"/>
          <p:cNvSpPr txBox="1"/>
          <p:nvPr/>
        </p:nvSpPr>
        <p:spPr>
          <a:xfrm>
            <a:off x="7040880" y="3785615"/>
            <a:ext cx="1920240" cy="438912"/>
          </a:xfrm>
          <a:prstGeom prst="rect">
            <a:avLst/>
          </a:prstGeom>
          <a:noFill/>
        </p:spPr>
        <p:txBody>
          <a:bodyPr wrap="square">
            <a:spAutoFit/>
          </a:bodyPr>
          <a:lstStyle/>
          <a:p>
            <a:pPr algn="ctr"/>
            <a:r>
              <a:rPr sz="1000" b="0" i="0">
                <a:solidFill>
                  <a:srgbClr val="FFFFFF"/>
                </a:solidFill>
                <a:latin typeface="Montserrat"/>
              </a:rPr>
              <a:t>—</a:t>
            </a:r>
          </a:p>
        </p:txBody>
      </p:sp>
      <p:sp>
        <p:nvSpPr>
          <p:cNvPr id="39" name="TextBox 38"/>
          <p:cNvSpPr txBox="1"/>
          <p:nvPr/>
        </p:nvSpPr>
        <p:spPr>
          <a:xfrm>
            <a:off x="9052560" y="3785615"/>
            <a:ext cx="2743200" cy="438912"/>
          </a:xfrm>
          <a:prstGeom prst="rect">
            <a:avLst/>
          </a:prstGeom>
          <a:noFill/>
        </p:spPr>
        <p:txBody>
          <a:bodyPr wrap="square">
            <a:spAutoFit/>
          </a:bodyPr>
          <a:lstStyle/>
          <a:p>
            <a:pPr algn="ctr"/>
            <a:r>
              <a:rPr sz="1200" b="1" i="0">
                <a:solidFill>
                  <a:srgbClr val="FFFFFF"/>
                </a:solidFill>
                <a:latin typeface="Montserrat"/>
              </a:rPr>
              <a:t>$1,444,802</a:t>
            </a:r>
          </a:p>
        </p:txBody>
      </p:sp>
      <p:sp>
        <p:nvSpPr>
          <p:cNvPr id="40" name="Rectangle 39"/>
          <p:cNvSpPr/>
          <p:nvPr/>
        </p:nvSpPr>
        <p:spPr>
          <a:xfrm>
            <a:off x="320040" y="4297680"/>
            <a:ext cx="5303520" cy="173736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389120"/>
            <a:ext cx="5029200" cy="320040"/>
          </a:xfrm>
          <a:prstGeom prst="rect">
            <a:avLst/>
          </a:prstGeom>
          <a:noFill/>
        </p:spPr>
        <p:txBody>
          <a:bodyPr wrap="square">
            <a:spAutoFit/>
          </a:bodyPr>
          <a:lstStyle/>
          <a:p>
            <a:pPr algn="l"/>
            <a:r>
              <a:rPr sz="1000" b="1" i="0">
                <a:solidFill>
                  <a:srgbClr val="FFFFFF"/>
                </a:solidFill>
                <a:latin typeface="Montserrat"/>
              </a:rPr>
              <a:t>TRAYECTORIA DE VALOR</a:t>
            </a:r>
          </a:p>
        </p:txBody>
      </p:sp>
      <p:sp>
        <p:nvSpPr>
          <p:cNvPr id="42" name="TextBox 41"/>
          <p:cNvSpPr txBox="1"/>
          <p:nvPr/>
        </p:nvSpPr>
        <p:spPr>
          <a:xfrm>
            <a:off x="457200" y="4754880"/>
            <a:ext cx="2286000" cy="502920"/>
          </a:xfrm>
          <a:prstGeom prst="rect">
            <a:avLst/>
          </a:prstGeom>
          <a:noFill/>
        </p:spPr>
        <p:txBody>
          <a:bodyPr wrap="square">
            <a:spAutoFit/>
          </a:bodyPr>
          <a:lstStyle/>
          <a:p>
            <a:pPr algn="ctr"/>
            <a:r>
              <a:rPr sz="2200" b="1" i="0">
                <a:solidFill>
                  <a:srgbClr val="A0AABB"/>
                </a:solidFill>
                <a:latin typeface="Montserrat"/>
              </a:rPr>
              <a:t>$916,881</a:t>
            </a:r>
          </a:p>
        </p:txBody>
      </p:sp>
      <p:sp>
        <p:nvSpPr>
          <p:cNvPr id="43" name="TextBox 42"/>
          <p:cNvSpPr txBox="1"/>
          <p:nvPr/>
        </p:nvSpPr>
        <p:spPr>
          <a:xfrm>
            <a:off x="457200" y="5257800"/>
            <a:ext cx="2286000" cy="274320"/>
          </a:xfrm>
          <a:prstGeom prst="rect">
            <a:avLst/>
          </a:prstGeom>
          <a:noFill/>
        </p:spPr>
        <p:txBody>
          <a:bodyPr wrap="square">
            <a:spAutoFit/>
          </a:bodyPr>
          <a:lstStyle/>
          <a:p>
            <a:pPr algn="ctr"/>
            <a:r>
              <a:rPr sz="900" b="0" i="0">
                <a:solidFill>
                  <a:srgbClr val="A0AABB"/>
                </a:solidFill>
                <a:latin typeface="Montserrat"/>
              </a:rPr>
              <a:t>Hoy</a:t>
            </a:r>
          </a:p>
        </p:txBody>
      </p:sp>
      <p:sp>
        <p:nvSpPr>
          <p:cNvPr id="44" name="TextBox 43"/>
          <p:cNvSpPr txBox="1"/>
          <p:nvPr/>
        </p:nvSpPr>
        <p:spPr>
          <a:xfrm>
            <a:off x="2743200" y="4800600"/>
            <a:ext cx="548640" cy="457200"/>
          </a:xfrm>
          <a:prstGeom prst="rect">
            <a:avLst/>
          </a:prstGeom>
          <a:noFill/>
        </p:spPr>
        <p:txBody>
          <a:bodyPr wrap="square">
            <a:spAutoFit/>
          </a:bodyPr>
          <a:lstStyle/>
          <a:p>
            <a:pPr algn="ctr"/>
            <a:r>
              <a:rPr sz="2200" b="1" i="0">
                <a:solidFill>
                  <a:srgbClr val="00B38A"/>
                </a:solidFill>
                <a:latin typeface="Montserrat"/>
              </a:rPr>
              <a:t>→</a:t>
            </a:r>
          </a:p>
        </p:txBody>
      </p:sp>
      <p:sp>
        <p:nvSpPr>
          <p:cNvPr id="45" name="TextBox 44"/>
          <p:cNvSpPr txBox="1"/>
          <p:nvPr/>
        </p:nvSpPr>
        <p:spPr>
          <a:xfrm>
            <a:off x="3291840" y="4754880"/>
            <a:ext cx="2103120" cy="502920"/>
          </a:xfrm>
          <a:prstGeom prst="rect">
            <a:avLst/>
          </a:prstGeom>
          <a:noFill/>
        </p:spPr>
        <p:txBody>
          <a:bodyPr wrap="square">
            <a:spAutoFit/>
          </a:bodyPr>
          <a:lstStyle/>
          <a:p>
            <a:pPr algn="ctr"/>
            <a:r>
              <a:rPr sz="2200" b="1" i="0">
                <a:solidFill>
                  <a:srgbClr val="00B38A"/>
                </a:solidFill>
                <a:latin typeface="Montserrat"/>
              </a:rPr>
              <a:t>$1,444,802</a:t>
            </a:r>
          </a:p>
        </p:txBody>
      </p:sp>
      <p:sp>
        <p:nvSpPr>
          <p:cNvPr id="46" name="TextBox 45"/>
          <p:cNvSpPr txBox="1"/>
          <p:nvPr/>
        </p:nvSpPr>
        <p:spPr>
          <a:xfrm>
            <a:off x="3291840" y="5257800"/>
            <a:ext cx="2103120" cy="274320"/>
          </a:xfrm>
          <a:prstGeom prst="rect">
            <a:avLst/>
          </a:prstGeom>
          <a:noFill/>
        </p:spPr>
        <p:txBody>
          <a:bodyPr wrap="square">
            <a:spAutoFit/>
          </a:bodyPr>
          <a:lstStyle/>
          <a:p>
            <a:pPr algn="ctr"/>
            <a:r>
              <a:rPr sz="900" b="0" i="0">
                <a:solidFill>
                  <a:srgbClr val="00B38A"/>
                </a:solidFill>
                <a:latin typeface="Montserrat"/>
              </a:rPr>
              <a:t>Potencial 2026</a:t>
            </a:r>
          </a:p>
        </p:txBody>
      </p:sp>
      <p:sp>
        <p:nvSpPr>
          <p:cNvPr id="47" name="Rectangle 46"/>
          <p:cNvSpPr/>
          <p:nvPr/>
        </p:nvSpPr>
        <p:spPr>
          <a:xfrm>
            <a:off x="5943600" y="4297680"/>
            <a:ext cx="5760720" cy="1737360"/>
          </a:xfrm>
          <a:prstGeom prst="rect">
            <a:avLst/>
          </a:prstGeom>
          <a:solidFill>
            <a:srgbClr val="E0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035040" y="4370832"/>
            <a:ext cx="5486400" cy="347472"/>
          </a:xfrm>
          <a:prstGeom prst="rect">
            <a:avLst/>
          </a:prstGeom>
          <a:noFill/>
        </p:spPr>
        <p:txBody>
          <a:bodyPr wrap="square">
            <a:spAutoFit/>
          </a:bodyPr>
          <a:lstStyle/>
          <a:p>
            <a:pPr algn="l"/>
            <a:r>
              <a:rPr sz="950" b="1" i="0">
                <a:solidFill>
                  <a:srgbClr val="0D1F3C"/>
                </a:solidFill>
                <a:latin typeface="Montserrat"/>
              </a:rPr>
              <a:t>+57.6% DE CRECIMIENTO POTENCIAL REQUIERE:</a:t>
            </a:r>
          </a:p>
        </p:txBody>
      </p:sp>
      <p:sp>
        <p:nvSpPr>
          <p:cNvPr id="49" name="TextBox 48"/>
          <p:cNvSpPr txBox="1"/>
          <p:nvPr/>
        </p:nvSpPr>
        <p:spPr>
          <a:xfrm>
            <a:off x="6080760" y="4736592"/>
            <a:ext cx="5486400" cy="274320"/>
          </a:xfrm>
          <a:prstGeom prst="rect">
            <a:avLst/>
          </a:prstGeom>
          <a:noFill/>
        </p:spPr>
        <p:txBody>
          <a:bodyPr wrap="square">
            <a:spAutoFit/>
          </a:bodyPr>
          <a:lstStyle/>
          <a:p>
            <a:pPr algn="l"/>
            <a:r>
              <a:rPr sz="850" b="0" i="0">
                <a:solidFill>
                  <a:srgbClr val="1A2844"/>
                </a:solidFill>
                <a:latin typeface="Montserrat"/>
              </a:rPr>
              <a:t>✓ Eventos de exit (M&amp;A / Secundario) en Geacco o Bmotik</a:t>
            </a:r>
          </a:p>
        </p:txBody>
      </p:sp>
      <p:sp>
        <p:nvSpPr>
          <p:cNvPr id="50" name="TextBox 49"/>
          <p:cNvSpPr txBox="1"/>
          <p:nvPr/>
        </p:nvSpPr>
        <p:spPr>
          <a:xfrm>
            <a:off x="6080760" y="5029200"/>
            <a:ext cx="5486400" cy="274320"/>
          </a:xfrm>
          <a:prstGeom prst="rect">
            <a:avLst/>
          </a:prstGeom>
          <a:noFill/>
        </p:spPr>
        <p:txBody>
          <a:bodyPr wrap="square">
            <a:spAutoFit/>
          </a:bodyPr>
          <a:lstStyle/>
          <a:p>
            <a:pPr algn="l"/>
            <a:r>
              <a:rPr sz="850" b="0" i="0">
                <a:solidFill>
                  <a:srgbClr val="1A2844"/>
                </a:solidFill>
                <a:latin typeface="Montserrat"/>
              </a:rPr>
              <a:t>✓ Geacco alcanza valoración ≥ US$3M (en curso con 2x revenue)</a:t>
            </a:r>
          </a:p>
        </p:txBody>
      </p:sp>
      <p:sp>
        <p:nvSpPr>
          <p:cNvPr id="51" name="TextBox 50"/>
          <p:cNvSpPr txBox="1"/>
          <p:nvPr/>
        </p:nvSpPr>
        <p:spPr>
          <a:xfrm>
            <a:off x="6080760" y="5321807"/>
            <a:ext cx="5486400" cy="274320"/>
          </a:xfrm>
          <a:prstGeom prst="rect">
            <a:avLst/>
          </a:prstGeom>
          <a:noFill/>
        </p:spPr>
        <p:txBody>
          <a:bodyPr wrap="square">
            <a:spAutoFit/>
          </a:bodyPr>
          <a:lstStyle/>
          <a:p>
            <a:pPr algn="l"/>
            <a:r>
              <a:rPr sz="850" b="0" i="0">
                <a:solidFill>
                  <a:srgbClr val="1A2844"/>
                </a:solidFill>
                <a:latin typeface="Montserrat"/>
              </a:rPr>
              <a:t>✓ Bmotik cruza US$800K–1M ARR → Constellation deal</a:t>
            </a:r>
          </a:p>
        </p:txBody>
      </p:sp>
      <p:sp>
        <p:nvSpPr>
          <p:cNvPr id="52" name="TextBox 51"/>
          <p:cNvSpPr txBox="1"/>
          <p:nvPr/>
        </p:nvSpPr>
        <p:spPr>
          <a:xfrm>
            <a:off x="6080760" y="5614416"/>
            <a:ext cx="5486400" cy="274320"/>
          </a:xfrm>
          <a:prstGeom prst="rect">
            <a:avLst/>
          </a:prstGeom>
          <a:noFill/>
        </p:spPr>
        <p:txBody>
          <a:bodyPr wrap="square">
            <a:spAutoFit/>
          </a:bodyPr>
          <a:lstStyle/>
          <a:p>
            <a:pPr algn="l"/>
            <a:r>
              <a:rPr sz="850" b="0" i="0">
                <a:solidFill>
                  <a:srgbClr val="1A2844"/>
                </a:solidFill>
                <a:latin typeface="Montserrat"/>
              </a:rPr>
              <a:t>✓ Trii mantiene momentum de AUM hacia ronda / IPO</a:t>
            </a:r>
          </a:p>
        </p:txBody>
      </p:sp>
      <p:sp>
        <p:nvSpPr>
          <p:cNvPr id="53" name="TextBox 52"/>
          <p:cNvSpPr txBox="1"/>
          <p:nvPr/>
        </p:nvSpPr>
        <p:spPr>
          <a:xfrm>
            <a:off x="365760" y="6583680"/>
            <a:ext cx="11430000" cy="228600"/>
          </a:xfrm>
          <a:prstGeom prst="rect">
            <a:avLst/>
          </a:prstGeom>
          <a:noFill/>
        </p:spPr>
        <p:txBody>
          <a:bodyPr wrap="square">
            <a:spAutoFit/>
          </a:bodyPr>
          <a:lstStyle/>
          <a:p>
            <a:pPr algn="l"/>
            <a:r>
              <a:rPr sz="700" b="0" i="0">
                <a:solidFill>
                  <a:srgbClr val="A0AABB"/>
                </a:solidFill>
                <a:latin typeface="Montserrat"/>
              </a:rPr>
              <a:t>Las cifras son estimaciones prospectivas basadas en desempeño observado y supuestos de mercado. No constituyen garantía de resultados.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502920"/>
          </a:xfrm>
          <a:prstGeom prst="rect">
            <a:avLst/>
          </a:prstGeom>
          <a:noFill/>
        </p:spPr>
        <p:txBody>
          <a:bodyPr wrap="square">
            <a:spAutoFit/>
          </a:bodyPr>
          <a:lstStyle/>
          <a:p>
            <a:pPr algn="l"/>
            <a:r>
              <a:rPr sz="2200" b="1" i="0">
                <a:solidFill>
                  <a:srgbClr val="FFFFFF"/>
                </a:solidFill>
                <a:latin typeface="Montserrat"/>
              </a:rPr>
              <a:t>Ecosistema del Portafolio: Análisis Sectorial 2025</a:t>
            </a:r>
          </a:p>
        </p:txBody>
      </p:sp>
      <p:sp>
        <p:nvSpPr>
          <p:cNvPr id="4" name="TextBox 3"/>
          <p:cNvSpPr txBox="1"/>
          <p:nvPr/>
        </p:nvSpPr>
        <p:spPr>
          <a:xfrm>
            <a:off x="457200" y="566928"/>
            <a:ext cx="10058400" cy="384048"/>
          </a:xfrm>
          <a:prstGeom prst="rect">
            <a:avLst/>
          </a:prstGeom>
          <a:noFill/>
        </p:spPr>
        <p:txBody>
          <a:bodyPr wrap="square">
            <a:spAutoFit/>
          </a:bodyPr>
          <a:lstStyle/>
          <a:p>
            <a:pPr algn="l"/>
            <a:r>
              <a:rPr sz="1100" b="0" i="0">
                <a:solidFill>
                  <a:srgbClr val="00B38A"/>
                </a:solidFill>
                <a:latin typeface="Montserrat"/>
              </a:rPr>
              <a:t>23 startups activas · IA como factor diferenciador transversal · Fintech lidera el valor</a:t>
            </a:r>
          </a:p>
        </p:txBody>
      </p:sp>
      <p:sp>
        <p:nvSpPr>
          <p:cNvPr id="5" name="Rectangle 4"/>
          <p:cNvSpPr/>
          <p:nvPr/>
        </p:nvSpPr>
        <p:spPr>
          <a:xfrm>
            <a:off x="320040" y="1188720"/>
            <a:ext cx="5669280" cy="16002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188720"/>
            <a:ext cx="457200" cy="160020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1645920"/>
            <a:ext cx="438912" cy="502920"/>
          </a:xfrm>
          <a:prstGeom prst="rect">
            <a:avLst/>
          </a:prstGeom>
          <a:noFill/>
        </p:spPr>
        <p:txBody>
          <a:bodyPr wrap="square">
            <a:spAutoFit/>
          </a:bodyPr>
          <a:lstStyle/>
          <a:p>
            <a:pPr algn="ctr"/>
            <a:r>
              <a:rPr sz="1800" b="1" i="0">
                <a:solidFill>
                  <a:srgbClr val="FFFFFF"/>
                </a:solidFill>
                <a:latin typeface="Montserrat"/>
              </a:rPr>
              <a:t>4</a:t>
            </a:r>
          </a:p>
        </p:txBody>
      </p:sp>
      <p:sp>
        <p:nvSpPr>
          <p:cNvPr id="8" name="TextBox 7"/>
          <p:cNvSpPr txBox="1"/>
          <p:nvPr/>
        </p:nvSpPr>
        <p:spPr>
          <a:xfrm>
            <a:off x="914400" y="1280160"/>
            <a:ext cx="2743200" cy="411480"/>
          </a:xfrm>
          <a:prstGeom prst="rect">
            <a:avLst/>
          </a:prstGeom>
          <a:noFill/>
        </p:spPr>
        <p:txBody>
          <a:bodyPr wrap="square">
            <a:spAutoFit/>
          </a:bodyPr>
          <a:lstStyle/>
          <a:p>
            <a:pPr algn="l"/>
            <a:r>
              <a:rPr sz="1400" b="1" i="0">
                <a:solidFill>
                  <a:srgbClr val="1A2844"/>
                </a:solidFill>
                <a:latin typeface="Montserrat"/>
              </a:rPr>
              <a:t>Fintech</a:t>
            </a:r>
          </a:p>
        </p:txBody>
      </p:sp>
      <p:sp>
        <p:nvSpPr>
          <p:cNvPr id="9" name="TextBox 8"/>
          <p:cNvSpPr txBox="1"/>
          <p:nvPr/>
        </p:nvSpPr>
        <p:spPr>
          <a:xfrm>
            <a:off x="914400" y="1664208"/>
            <a:ext cx="3200400" cy="274320"/>
          </a:xfrm>
          <a:prstGeom prst="rect">
            <a:avLst/>
          </a:prstGeom>
          <a:noFill/>
        </p:spPr>
        <p:txBody>
          <a:bodyPr wrap="square">
            <a:spAutoFit/>
          </a:bodyPr>
          <a:lstStyle/>
          <a:p>
            <a:pPr algn="l"/>
            <a:r>
              <a:rPr sz="800" b="0" i="0">
                <a:solidFill>
                  <a:srgbClr val="A0AABB"/>
                </a:solidFill>
                <a:latin typeface="Montserrat"/>
              </a:rPr>
              <a:t>4 startups · 17% del portafolio activo</a:t>
            </a:r>
          </a:p>
        </p:txBody>
      </p:sp>
      <p:sp>
        <p:nvSpPr>
          <p:cNvPr id="10" name="TextBox 9"/>
          <p:cNvSpPr txBox="1"/>
          <p:nvPr/>
        </p:nvSpPr>
        <p:spPr>
          <a:xfrm>
            <a:off x="914400" y="1965960"/>
            <a:ext cx="4937760" cy="685800"/>
          </a:xfrm>
          <a:prstGeom prst="rect">
            <a:avLst/>
          </a:prstGeom>
          <a:noFill/>
        </p:spPr>
        <p:txBody>
          <a:bodyPr wrap="square">
            <a:spAutoFit/>
          </a:bodyPr>
          <a:lstStyle/>
          <a:p>
            <a:pPr algn="l"/>
            <a:r>
              <a:rPr sz="850" b="0" i="0">
                <a:solidFill>
                  <a:srgbClr val="1A2844"/>
                </a:solidFill>
                <a:latin typeface="Montserrat"/>
              </a:rPr>
              <a:t>Vertical con mayor tracción. Concentra 59% del capital Colombia. Candidata #1 a exits.</a:t>
            </a:r>
          </a:p>
        </p:txBody>
      </p:sp>
      <p:sp>
        <p:nvSpPr>
          <p:cNvPr id="11" name="Rectangle 10"/>
          <p:cNvSpPr/>
          <p:nvPr/>
        </p:nvSpPr>
        <p:spPr>
          <a:xfrm>
            <a:off x="4709159" y="1261872"/>
            <a:ext cx="1143000" cy="292608"/>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27448" y="1280160"/>
            <a:ext cx="1106424" cy="256032"/>
          </a:xfrm>
          <a:prstGeom prst="rect">
            <a:avLst/>
          </a:prstGeom>
          <a:noFill/>
        </p:spPr>
        <p:txBody>
          <a:bodyPr wrap="square">
            <a:spAutoFit/>
          </a:bodyPr>
          <a:lstStyle/>
          <a:p>
            <a:pPr algn="ctr"/>
            <a:r>
              <a:rPr sz="750" b="1" i="0">
                <a:solidFill>
                  <a:srgbClr val="FFFFFF"/>
                </a:solidFill>
                <a:latin typeface="Montserrat"/>
              </a:rPr>
              <a:t>$505M cap Colombia</a:t>
            </a:r>
          </a:p>
        </p:txBody>
      </p:sp>
      <p:sp>
        <p:nvSpPr>
          <p:cNvPr id="13" name="Rectangle 12"/>
          <p:cNvSpPr/>
          <p:nvPr/>
        </p:nvSpPr>
        <p:spPr>
          <a:xfrm>
            <a:off x="6263640" y="1188720"/>
            <a:ext cx="5669280" cy="16002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188720"/>
            <a:ext cx="457200" cy="16002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81927" y="1645920"/>
            <a:ext cx="438912" cy="502920"/>
          </a:xfrm>
          <a:prstGeom prst="rect">
            <a:avLst/>
          </a:prstGeom>
          <a:noFill/>
        </p:spPr>
        <p:txBody>
          <a:bodyPr wrap="square">
            <a:spAutoFit/>
          </a:bodyPr>
          <a:lstStyle/>
          <a:p>
            <a:pPr algn="ctr"/>
            <a:r>
              <a:rPr sz="1800" b="1" i="0">
                <a:solidFill>
                  <a:srgbClr val="FFFFFF"/>
                </a:solidFill>
                <a:latin typeface="Montserrat"/>
              </a:rPr>
              <a:t>3</a:t>
            </a:r>
          </a:p>
        </p:txBody>
      </p:sp>
      <p:sp>
        <p:nvSpPr>
          <p:cNvPr id="16" name="TextBox 15"/>
          <p:cNvSpPr txBox="1"/>
          <p:nvPr/>
        </p:nvSpPr>
        <p:spPr>
          <a:xfrm>
            <a:off x="6858000" y="1280160"/>
            <a:ext cx="2743200" cy="411480"/>
          </a:xfrm>
          <a:prstGeom prst="rect">
            <a:avLst/>
          </a:prstGeom>
          <a:noFill/>
        </p:spPr>
        <p:txBody>
          <a:bodyPr wrap="square">
            <a:spAutoFit/>
          </a:bodyPr>
          <a:lstStyle/>
          <a:p>
            <a:pPr algn="l"/>
            <a:r>
              <a:rPr sz="1400" b="1" i="0">
                <a:solidFill>
                  <a:srgbClr val="1A2844"/>
                </a:solidFill>
                <a:latin typeface="Montserrat"/>
              </a:rPr>
              <a:t>Healthtech</a:t>
            </a:r>
          </a:p>
        </p:txBody>
      </p:sp>
      <p:sp>
        <p:nvSpPr>
          <p:cNvPr id="17" name="TextBox 16"/>
          <p:cNvSpPr txBox="1"/>
          <p:nvPr/>
        </p:nvSpPr>
        <p:spPr>
          <a:xfrm>
            <a:off x="6858000" y="1664208"/>
            <a:ext cx="3200400" cy="274320"/>
          </a:xfrm>
          <a:prstGeom prst="rect">
            <a:avLst/>
          </a:prstGeom>
          <a:noFill/>
        </p:spPr>
        <p:txBody>
          <a:bodyPr wrap="square">
            <a:spAutoFit/>
          </a:bodyPr>
          <a:lstStyle/>
          <a:p>
            <a:pPr algn="l"/>
            <a:r>
              <a:rPr sz="800" b="0" i="0">
                <a:solidFill>
                  <a:srgbClr val="A0AABB"/>
                </a:solidFill>
                <a:latin typeface="Montserrat"/>
              </a:rPr>
              <a:t>3 startups · 13% del portafolio activo</a:t>
            </a:r>
          </a:p>
        </p:txBody>
      </p:sp>
      <p:sp>
        <p:nvSpPr>
          <p:cNvPr id="18" name="TextBox 17"/>
          <p:cNvSpPr txBox="1"/>
          <p:nvPr/>
        </p:nvSpPr>
        <p:spPr>
          <a:xfrm>
            <a:off x="6858000" y="1965960"/>
            <a:ext cx="4937760" cy="685800"/>
          </a:xfrm>
          <a:prstGeom prst="rect">
            <a:avLst/>
          </a:prstGeom>
          <a:noFill/>
        </p:spPr>
        <p:txBody>
          <a:bodyPr wrap="square">
            <a:spAutoFit/>
          </a:bodyPr>
          <a:lstStyle/>
          <a:p>
            <a:pPr algn="l"/>
            <a:r>
              <a:rPr sz="850" b="0" i="0">
                <a:solidFill>
                  <a:srgbClr val="1A2844"/>
                </a:solidFill>
                <a:latin typeface="Montserrat"/>
              </a:rPr>
              <a:t>Alta estabilidad. Demanda institucional creciente. US$71.7B global 2025.</a:t>
            </a:r>
          </a:p>
        </p:txBody>
      </p:sp>
      <p:sp>
        <p:nvSpPr>
          <p:cNvPr id="19" name="Rectangle 18"/>
          <p:cNvSpPr/>
          <p:nvPr/>
        </p:nvSpPr>
        <p:spPr>
          <a:xfrm>
            <a:off x="10652759" y="1261872"/>
            <a:ext cx="1143000" cy="29260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71048" y="1280160"/>
            <a:ext cx="1106424" cy="256032"/>
          </a:xfrm>
          <a:prstGeom prst="rect">
            <a:avLst/>
          </a:prstGeom>
          <a:noFill/>
        </p:spPr>
        <p:txBody>
          <a:bodyPr wrap="square">
            <a:spAutoFit/>
          </a:bodyPr>
          <a:lstStyle/>
          <a:p>
            <a:pPr algn="ctr"/>
            <a:r>
              <a:rPr sz="750" b="1" i="0">
                <a:solidFill>
                  <a:srgbClr val="FFFFFF"/>
                </a:solidFill>
                <a:latin typeface="Montserrat"/>
              </a:rPr>
              <a:t>Sector #3 Colombia</a:t>
            </a:r>
          </a:p>
        </p:txBody>
      </p:sp>
      <p:sp>
        <p:nvSpPr>
          <p:cNvPr id="21" name="Rectangle 20"/>
          <p:cNvSpPr/>
          <p:nvPr/>
        </p:nvSpPr>
        <p:spPr>
          <a:xfrm>
            <a:off x="320040" y="2926080"/>
            <a:ext cx="5669280" cy="16002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0040" y="2926080"/>
            <a:ext cx="457200" cy="16002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8328" y="3383280"/>
            <a:ext cx="438912" cy="502920"/>
          </a:xfrm>
          <a:prstGeom prst="rect">
            <a:avLst/>
          </a:prstGeom>
          <a:noFill/>
        </p:spPr>
        <p:txBody>
          <a:bodyPr wrap="square">
            <a:spAutoFit/>
          </a:bodyPr>
          <a:lstStyle/>
          <a:p>
            <a:pPr algn="ctr"/>
            <a:r>
              <a:rPr sz="1800" b="1" i="0">
                <a:solidFill>
                  <a:srgbClr val="FFFFFF"/>
                </a:solidFill>
                <a:latin typeface="Montserrat"/>
              </a:rPr>
              <a:t>2</a:t>
            </a:r>
          </a:p>
        </p:txBody>
      </p:sp>
      <p:sp>
        <p:nvSpPr>
          <p:cNvPr id="24" name="TextBox 23"/>
          <p:cNvSpPr txBox="1"/>
          <p:nvPr/>
        </p:nvSpPr>
        <p:spPr>
          <a:xfrm>
            <a:off x="914400" y="3017520"/>
            <a:ext cx="2743200" cy="411480"/>
          </a:xfrm>
          <a:prstGeom prst="rect">
            <a:avLst/>
          </a:prstGeom>
          <a:noFill/>
        </p:spPr>
        <p:txBody>
          <a:bodyPr wrap="square">
            <a:spAutoFit/>
          </a:bodyPr>
          <a:lstStyle/>
          <a:p>
            <a:pPr algn="l"/>
            <a:r>
              <a:rPr sz="1400" b="1" i="0">
                <a:solidFill>
                  <a:srgbClr val="1A2844"/>
                </a:solidFill>
                <a:latin typeface="Montserrat"/>
              </a:rPr>
              <a:t>Edtech</a:t>
            </a:r>
          </a:p>
        </p:txBody>
      </p:sp>
      <p:sp>
        <p:nvSpPr>
          <p:cNvPr id="25" name="TextBox 24"/>
          <p:cNvSpPr txBox="1"/>
          <p:nvPr/>
        </p:nvSpPr>
        <p:spPr>
          <a:xfrm>
            <a:off x="914400" y="3401568"/>
            <a:ext cx="3200400" cy="274320"/>
          </a:xfrm>
          <a:prstGeom prst="rect">
            <a:avLst/>
          </a:prstGeom>
          <a:noFill/>
        </p:spPr>
        <p:txBody>
          <a:bodyPr wrap="square">
            <a:spAutoFit/>
          </a:bodyPr>
          <a:lstStyle/>
          <a:p>
            <a:pPr algn="l"/>
            <a:r>
              <a:rPr sz="800" b="0" i="0">
                <a:solidFill>
                  <a:srgbClr val="A0AABB"/>
                </a:solidFill>
                <a:latin typeface="Montserrat"/>
              </a:rPr>
              <a:t>2 startups · 9% del portafolio activo</a:t>
            </a:r>
          </a:p>
        </p:txBody>
      </p:sp>
      <p:sp>
        <p:nvSpPr>
          <p:cNvPr id="26" name="TextBox 25"/>
          <p:cNvSpPr txBox="1"/>
          <p:nvPr/>
        </p:nvSpPr>
        <p:spPr>
          <a:xfrm>
            <a:off x="914400" y="3703320"/>
            <a:ext cx="4937760" cy="685800"/>
          </a:xfrm>
          <a:prstGeom prst="rect">
            <a:avLst/>
          </a:prstGeom>
          <a:noFill/>
        </p:spPr>
        <p:txBody>
          <a:bodyPr wrap="square">
            <a:spAutoFit/>
          </a:bodyPr>
          <a:lstStyle/>
          <a:p>
            <a:pPr algn="l"/>
            <a:r>
              <a:rPr sz="850" b="0" i="0">
                <a:solidFill>
                  <a:srgbClr val="1A2844"/>
                </a:solidFill>
                <a:latin typeface="Montserrat"/>
              </a:rPr>
              <a:t>Mercado amplio y demanda estructural. Diferenciación clave para 2026.</a:t>
            </a:r>
          </a:p>
        </p:txBody>
      </p:sp>
      <p:sp>
        <p:nvSpPr>
          <p:cNvPr id="27" name="Rectangle 26"/>
          <p:cNvSpPr/>
          <p:nvPr/>
        </p:nvSpPr>
        <p:spPr>
          <a:xfrm>
            <a:off x="4709159" y="2999232"/>
            <a:ext cx="1143000" cy="2926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27448" y="3017520"/>
            <a:ext cx="1106424" cy="256032"/>
          </a:xfrm>
          <a:prstGeom prst="rect">
            <a:avLst/>
          </a:prstGeom>
          <a:noFill/>
        </p:spPr>
        <p:txBody>
          <a:bodyPr wrap="square">
            <a:spAutoFit/>
          </a:bodyPr>
          <a:lstStyle/>
          <a:p>
            <a:pPr algn="ctr"/>
            <a:r>
              <a:rPr sz="750" b="1" i="0">
                <a:solidFill>
                  <a:srgbClr val="FFFFFF"/>
                </a:solidFill>
                <a:latin typeface="Montserrat"/>
              </a:rPr>
              <a:t>Crecimiento sostenido</a:t>
            </a:r>
          </a:p>
        </p:txBody>
      </p:sp>
      <p:sp>
        <p:nvSpPr>
          <p:cNvPr id="29" name="Rectangle 28"/>
          <p:cNvSpPr/>
          <p:nvPr/>
        </p:nvSpPr>
        <p:spPr>
          <a:xfrm>
            <a:off x="6263640" y="2926080"/>
            <a:ext cx="5669280" cy="16002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63640" y="2926080"/>
            <a:ext cx="457200" cy="160020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81927" y="3383280"/>
            <a:ext cx="438912" cy="502920"/>
          </a:xfrm>
          <a:prstGeom prst="rect">
            <a:avLst/>
          </a:prstGeom>
          <a:noFill/>
        </p:spPr>
        <p:txBody>
          <a:bodyPr wrap="square">
            <a:spAutoFit/>
          </a:bodyPr>
          <a:lstStyle/>
          <a:p>
            <a:pPr algn="ctr"/>
            <a:r>
              <a:rPr sz="1800" b="1" i="0">
                <a:solidFill>
                  <a:srgbClr val="FFFFFF"/>
                </a:solidFill>
                <a:latin typeface="Montserrat"/>
              </a:rPr>
              <a:t>2</a:t>
            </a:r>
          </a:p>
        </p:txBody>
      </p:sp>
      <p:sp>
        <p:nvSpPr>
          <p:cNvPr id="32" name="TextBox 31"/>
          <p:cNvSpPr txBox="1"/>
          <p:nvPr/>
        </p:nvSpPr>
        <p:spPr>
          <a:xfrm>
            <a:off x="6858000" y="3017520"/>
            <a:ext cx="2743200" cy="411480"/>
          </a:xfrm>
          <a:prstGeom prst="rect">
            <a:avLst/>
          </a:prstGeom>
          <a:noFill/>
        </p:spPr>
        <p:txBody>
          <a:bodyPr wrap="square">
            <a:spAutoFit/>
          </a:bodyPr>
          <a:lstStyle/>
          <a:p>
            <a:pPr algn="l"/>
            <a:r>
              <a:rPr sz="1400" b="1" i="0">
                <a:solidFill>
                  <a:srgbClr val="1A2844"/>
                </a:solidFill>
                <a:latin typeface="Montserrat"/>
              </a:rPr>
              <a:t>Legaltech</a:t>
            </a:r>
          </a:p>
        </p:txBody>
      </p:sp>
      <p:sp>
        <p:nvSpPr>
          <p:cNvPr id="33" name="TextBox 32"/>
          <p:cNvSpPr txBox="1"/>
          <p:nvPr/>
        </p:nvSpPr>
        <p:spPr>
          <a:xfrm>
            <a:off x="6858000" y="3401568"/>
            <a:ext cx="3200400" cy="274320"/>
          </a:xfrm>
          <a:prstGeom prst="rect">
            <a:avLst/>
          </a:prstGeom>
          <a:noFill/>
        </p:spPr>
        <p:txBody>
          <a:bodyPr wrap="square">
            <a:spAutoFit/>
          </a:bodyPr>
          <a:lstStyle/>
          <a:p>
            <a:pPr algn="l"/>
            <a:r>
              <a:rPr sz="800" b="0" i="0">
                <a:solidFill>
                  <a:srgbClr val="A0AABB"/>
                </a:solidFill>
                <a:latin typeface="Montserrat"/>
              </a:rPr>
              <a:t>2 startups · 9% del portafolio activo</a:t>
            </a:r>
          </a:p>
        </p:txBody>
      </p:sp>
      <p:sp>
        <p:nvSpPr>
          <p:cNvPr id="34" name="TextBox 33"/>
          <p:cNvSpPr txBox="1"/>
          <p:nvPr/>
        </p:nvSpPr>
        <p:spPr>
          <a:xfrm>
            <a:off x="6858000" y="3703320"/>
            <a:ext cx="4937760" cy="685800"/>
          </a:xfrm>
          <a:prstGeom prst="rect">
            <a:avLst/>
          </a:prstGeom>
          <a:noFill/>
        </p:spPr>
        <p:txBody>
          <a:bodyPr wrap="square">
            <a:spAutoFit/>
          </a:bodyPr>
          <a:lstStyle/>
          <a:p>
            <a:pPr algn="l"/>
            <a:r>
              <a:rPr sz="850" b="0" i="0">
                <a:solidFill>
                  <a:srgbClr val="1A2844"/>
                </a:solidFill>
                <a:latin typeface="Montserrat"/>
              </a:rPr>
              <a:t>IA transforma procesos jurídicos. Brechas sin resolver. Alta adopción temprana.</a:t>
            </a:r>
          </a:p>
        </p:txBody>
      </p:sp>
      <p:sp>
        <p:nvSpPr>
          <p:cNvPr id="35" name="Rectangle 34"/>
          <p:cNvSpPr/>
          <p:nvPr/>
        </p:nvSpPr>
        <p:spPr>
          <a:xfrm>
            <a:off x="10652759" y="2999232"/>
            <a:ext cx="1143000" cy="292608"/>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671048" y="3017520"/>
            <a:ext cx="1106424" cy="256032"/>
          </a:xfrm>
          <a:prstGeom prst="rect">
            <a:avLst/>
          </a:prstGeom>
          <a:noFill/>
        </p:spPr>
        <p:txBody>
          <a:bodyPr wrap="square">
            <a:spAutoFit/>
          </a:bodyPr>
          <a:lstStyle/>
          <a:p>
            <a:pPr algn="ctr"/>
            <a:r>
              <a:rPr sz="750" b="1" i="0">
                <a:solidFill>
                  <a:srgbClr val="FFFFFF"/>
                </a:solidFill>
                <a:latin typeface="Montserrat"/>
              </a:rPr>
              <a:t>IA aceleradora</a:t>
            </a:r>
          </a:p>
        </p:txBody>
      </p:sp>
      <p:sp>
        <p:nvSpPr>
          <p:cNvPr id="37" name="Rectangle 36"/>
          <p:cNvSpPr/>
          <p:nvPr/>
        </p:nvSpPr>
        <p:spPr>
          <a:xfrm>
            <a:off x="320040" y="4663440"/>
            <a:ext cx="5669280" cy="16002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20040" y="4663440"/>
            <a:ext cx="457200" cy="16002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8328" y="5120640"/>
            <a:ext cx="438912" cy="502920"/>
          </a:xfrm>
          <a:prstGeom prst="rect">
            <a:avLst/>
          </a:prstGeom>
          <a:noFill/>
        </p:spPr>
        <p:txBody>
          <a:bodyPr wrap="square">
            <a:spAutoFit/>
          </a:bodyPr>
          <a:lstStyle/>
          <a:p>
            <a:pPr algn="ctr"/>
            <a:r>
              <a:rPr sz="1800" b="1" i="0">
                <a:solidFill>
                  <a:srgbClr val="FFFFFF"/>
                </a:solidFill>
                <a:latin typeface="Montserrat"/>
              </a:rPr>
              <a:t>2</a:t>
            </a:r>
          </a:p>
        </p:txBody>
      </p:sp>
      <p:sp>
        <p:nvSpPr>
          <p:cNvPr id="40" name="TextBox 39"/>
          <p:cNvSpPr txBox="1"/>
          <p:nvPr/>
        </p:nvSpPr>
        <p:spPr>
          <a:xfrm>
            <a:off x="914400" y="4754879"/>
            <a:ext cx="2743200" cy="411480"/>
          </a:xfrm>
          <a:prstGeom prst="rect">
            <a:avLst/>
          </a:prstGeom>
          <a:noFill/>
        </p:spPr>
        <p:txBody>
          <a:bodyPr wrap="square">
            <a:spAutoFit/>
          </a:bodyPr>
          <a:lstStyle/>
          <a:p>
            <a:pPr algn="l"/>
            <a:r>
              <a:rPr sz="1400" b="1" i="0">
                <a:solidFill>
                  <a:srgbClr val="1A2844"/>
                </a:solidFill>
                <a:latin typeface="Montserrat"/>
              </a:rPr>
              <a:t>Climatech</a:t>
            </a:r>
          </a:p>
        </p:txBody>
      </p:sp>
      <p:sp>
        <p:nvSpPr>
          <p:cNvPr id="41" name="TextBox 40"/>
          <p:cNvSpPr txBox="1"/>
          <p:nvPr/>
        </p:nvSpPr>
        <p:spPr>
          <a:xfrm>
            <a:off x="914400" y="5138927"/>
            <a:ext cx="3200400" cy="274320"/>
          </a:xfrm>
          <a:prstGeom prst="rect">
            <a:avLst/>
          </a:prstGeom>
          <a:noFill/>
        </p:spPr>
        <p:txBody>
          <a:bodyPr wrap="square">
            <a:spAutoFit/>
          </a:bodyPr>
          <a:lstStyle/>
          <a:p>
            <a:pPr algn="l"/>
            <a:r>
              <a:rPr sz="800" b="0" i="0">
                <a:solidFill>
                  <a:srgbClr val="A0AABB"/>
                </a:solidFill>
                <a:latin typeface="Montserrat"/>
              </a:rPr>
              <a:t>2 startups · 9% del portafolio activo</a:t>
            </a:r>
          </a:p>
        </p:txBody>
      </p:sp>
      <p:sp>
        <p:nvSpPr>
          <p:cNvPr id="42" name="TextBox 41"/>
          <p:cNvSpPr txBox="1"/>
          <p:nvPr/>
        </p:nvSpPr>
        <p:spPr>
          <a:xfrm>
            <a:off x="914400" y="5440679"/>
            <a:ext cx="4937760" cy="685800"/>
          </a:xfrm>
          <a:prstGeom prst="rect">
            <a:avLst/>
          </a:prstGeom>
          <a:noFill/>
        </p:spPr>
        <p:txBody>
          <a:bodyPr wrap="square">
            <a:spAutoFit/>
          </a:bodyPr>
          <a:lstStyle/>
          <a:p>
            <a:pPr algn="l"/>
            <a:r>
              <a:rPr sz="850" b="0" i="0">
                <a:solidFill>
                  <a:srgbClr val="1A2844"/>
                </a:solidFill>
                <a:latin typeface="Montserrat"/>
              </a:rPr>
              <a:t>Emergente estratégico. Capital institucional en crecimiento. ESG momentum.</a:t>
            </a:r>
          </a:p>
        </p:txBody>
      </p:sp>
      <p:sp>
        <p:nvSpPr>
          <p:cNvPr id="43" name="Rectangle 42"/>
          <p:cNvSpPr/>
          <p:nvPr/>
        </p:nvSpPr>
        <p:spPr>
          <a:xfrm>
            <a:off x="4709159" y="4736592"/>
            <a:ext cx="1143000" cy="29260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27448" y="4754879"/>
            <a:ext cx="1106424" cy="256032"/>
          </a:xfrm>
          <a:prstGeom prst="rect">
            <a:avLst/>
          </a:prstGeom>
          <a:noFill/>
        </p:spPr>
        <p:txBody>
          <a:bodyPr wrap="square">
            <a:spAutoFit/>
          </a:bodyPr>
          <a:lstStyle/>
          <a:p>
            <a:pPr algn="ctr"/>
            <a:r>
              <a:rPr sz="750" b="1" i="0">
                <a:solidFill>
                  <a:srgbClr val="FFFFFF"/>
                </a:solidFill>
                <a:latin typeface="Montserrat"/>
              </a:rPr>
              <a:t>Monitor LP impact</a:t>
            </a:r>
          </a:p>
        </p:txBody>
      </p:sp>
      <p:sp>
        <p:nvSpPr>
          <p:cNvPr id="45" name="Rectangle 44"/>
          <p:cNvSpPr/>
          <p:nvPr/>
        </p:nvSpPr>
        <p:spPr>
          <a:xfrm>
            <a:off x="6263640" y="4663440"/>
            <a:ext cx="5669280" cy="16002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63640" y="4663440"/>
            <a:ext cx="457200" cy="16002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81927" y="5120640"/>
            <a:ext cx="438912" cy="502920"/>
          </a:xfrm>
          <a:prstGeom prst="rect">
            <a:avLst/>
          </a:prstGeom>
          <a:noFill/>
        </p:spPr>
        <p:txBody>
          <a:bodyPr wrap="square">
            <a:spAutoFit/>
          </a:bodyPr>
          <a:lstStyle/>
          <a:p>
            <a:pPr algn="ctr"/>
            <a:r>
              <a:rPr sz="1800" b="1" i="0">
                <a:solidFill>
                  <a:srgbClr val="FFFFFF"/>
                </a:solidFill>
                <a:latin typeface="Montserrat"/>
              </a:rPr>
              <a:t>2</a:t>
            </a:r>
          </a:p>
        </p:txBody>
      </p:sp>
      <p:sp>
        <p:nvSpPr>
          <p:cNvPr id="48" name="TextBox 47"/>
          <p:cNvSpPr txBox="1"/>
          <p:nvPr/>
        </p:nvSpPr>
        <p:spPr>
          <a:xfrm>
            <a:off x="6858000" y="4754879"/>
            <a:ext cx="2743200" cy="411480"/>
          </a:xfrm>
          <a:prstGeom prst="rect">
            <a:avLst/>
          </a:prstGeom>
          <a:noFill/>
        </p:spPr>
        <p:txBody>
          <a:bodyPr wrap="square">
            <a:spAutoFit/>
          </a:bodyPr>
          <a:lstStyle/>
          <a:p>
            <a:pPr algn="l"/>
            <a:r>
              <a:rPr sz="1400" b="1" i="0">
                <a:solidFill>
                  <a:srgbClr val="1A2844"/>
                </a:solidFill>
                <a:latin typeface="Montserrat"/>
              </a:rPr>
              <a:t>Biztech/SaaS</a:t>
            </a:r>
          </a:p>
        </p:txBody>
      </p:sp>
      <p:sp>
        <p:nvSpPr>
          <p:cNvPr id="49" name="TextBox 48"/>
          <p:cNvSpPr txBox="1"/>
          <p:nvPr/>
        </p:nvSpPr>
        <p:spPr>
          <a:xfrm>
            <a:off x="6858000" y="5138927"/>
            <a:ext cx="3200400" cy="274320"/>
          </a:xfrm>
          <a:prstGeom prst="rect">
            <a:avLst/>
          </a:prstGeom>
          <a:noFill/>
        </p:spPr>
        <p:txBody>
          <a:bodyPr wrap="square">
            <a:spAutoFit/>
          </a:bodyPr>
          <a:lstStyle/>
          <a:p>
            <a:pPr algn="l"/>
            <a:r>
              <a:rPr sz="800" b="0" i="0">
                <a:solidFill>
                  <a:srgbClr val="A0AABB"/>
                </a:solidFill>
                <a:latin typeface="Montserrat"/>
              </a:rPr>
              <a:t>2 startups · 9% del portafolio activo</a:t>
            </a:r>
          </a:p>
        </p:txBody>
      </p:sp>
      <p:sp>
        <p:nvSpPr>
          <p:cNvPr id="50" name="TextBox 49"/>
          <p:cNvSpPr txBox="1"/>
          <p:nvPr/>
        </p:nvSpPr>
        <p:spPr>
          <a:xfrm>
            <a:off x="6858000" y="5440679"/>
            <a:ext cx="4937760" cy="685800"/>
          </a:xfrm>
          <a:prstGeom prst="rect">
            <a:avLst/>
          </a:prstGeom>
          <a:noFill/>
        </p:spPr>
        <p:txBody>
          <a:bodyPr wrap="square">
            <a:spAutoFit/>
          </a:bodyPr>
          <a:lstStyle/>
          <a:p>
            <a:pPr algn="l"/>
            <a:r>
              <a:rPr sz="850" b="0" i="0">
                <a:solidFill>
                  <a:srgbClr val="1A2844"/>
                </a:solidFill>
                <a:latin typeface="Montserrat"/>
              </a:rPr>
              <a:t>B2B predecible. SaaS Enterprise lidera Colombia con 27% de startups activas.</a:t>
            </a:r>
          </a:p>
        </p:txBody>
      </p:sp>
      <p:sp>
        <p:nvSpPr>
          <p:cNvPr id="51" name="Rectangle 50"/>
          <p:cNvSpPr/>
          <p:nvPr/>
        </p:nvSpPr>
        <p:spPr>
          <a:xfrm>
            <a:off x="10652759" y="4736592"/>
            <a:ext cx="1143000" cy="2926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671048" y="4754879"/>
            <a:ext cx="1106424" cy="256032"/>
          </a:xfrm>
          <a:prstGeom prst="rect">
            <a:avLst/>
          </a:prstGeom>
          <a:noFill/>
        </p:spPr>
        <p:txBody>
          <a:bodyPr wrap="square">
            <a:spAutoFit/>
          </a:bodyPr>
          <a:lstStyle/>
          <a:p>
            <a:pPr algn="ctr"/>
            <a:r>
              <a:rPr sz="750" b="1" i="0">
                <a:solidFill>
                  <a:srgbClr val="FFFFFF"/>
                </a:solidFill>
                <a:latin typeface="Montserrat"/>
              </a:rPr>
              <a:t>#1 Colombia 2026</a:t>
            </a:r>
          </a:p>
        </p:txBody>
      </p:sp>
      <p:sp>
        <p:nvSpPr>
          <p:cNvPr id="53" name="Rectangle 52"/>
          <p:cNvSpPr/>
          <p:nvPr/>
        </p:nvSpPr>
        <p:spPr>
          <a:xfrm>
            <a:off x="320040" y="6400800"/>
            <a:ext cx="11430000" cy="29260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2920" y="6428232"/>
            <a:ext cx="11064240" cy="246888"/>
          </a:xfrm>
          <a:prstGeom prst="rect">
            <a:avLst/>
          </a:prstGeom>
          <a:noFill/>
        </p:spPr>
        <p:txBody>
          <a:bodyPr wrap="square">
            <a:spAutoFit/>
          </a:bodyPr>
          <a:lstStyle/>
          <a:p>
            <a:pPr algn="l"/>
            <a:r>
              <a:rPr sz="850" b="0" i="0">
                <a:solidFill>
                  <a:srgbClr val="FFFFFF"/>
                </a:solidFill>
                <a:latin typeface="Montserrat"/>
              </a:rPr>
              <a:t>IA TRANSVERSAL: Geacco +89% revenue con IA operativa · Legalítica y Healthtech en adopción · Ausencia de IA fue factor determinante en cierres durante 2025.</a:t>
            </a:r>
          </a:p>
        </p:txBody>
      </p:sp>
      <p:sp>
        <p:nvSpPr>
          <p:cNvPr id="55" name="TextBox 54"/>
          <p:cNvSpPr txBox="1"/>
          <p:nvPr/>
        </p:nvSpPr>
        <p:spPr>
          <a:xfrm>
            <a:off x="365760" y="6583680"/>
            <a:ext cx="11430000" cy="228600"/>
          </a:xfrm>
          <a:prstGeom prst="rect">
            <a:avLst/>
          </a:prstGeom>
          <a:noFill/>
        </p:spPr>
        <p:txBody>
          <a:bodyPr wrap="square">
            <a:spAutoFit/>
          </a:bodyPr>
          <a:lstStyle/>
          <a:p>
            <a:pPr algn="l"/>
            <a:r>
              <a:rPr sz="700" b="0" i="0">
                <a:solidFill>
                  <a:srgbClr val="A0AABB"/>
                </a:solidFill>
                <a:latin typeface="Montserrat"/>
              </a:rPr>
              <a:t>Colombia Tech Report 2026 (KPMG) · Latin America VC Report 2026 (Cuántico VP) · Crunchbase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502920"/>
          </a:xfrm>
          <a:prstGeom prst="rect">
            <a:avLst/>
          </a:prstGeom>
          <a:noFill/>
        </p:spPr>
        <p:txBody>
          <a:bodyPr wrap="square">
            <a:spAutoFit/>
          </a:bodyPr>
          <a:lstStyle/>
          <a:p>
            <a:pPr algn="l"/>
            <a:r>
              <a:rPr sz="2200" b="1" i="0">
                <a:solidFill>
                  <a:srgbClr val="FFFFFF"/>
                </a:solidFill>
                <a:latin typeface="Montserrat"/>
              </a:rPr>
              <a:t>Cierres 2025: Contexto, Causas y Conclusiones</a:t>
            </a:r>
          </a:p>
        </p:txBody>
      </p:sp>
      <p:sp>
        <p:nvSpPr>
          <p:cNvPr id="4" name="TextBox 3"/>
          <p:cNvSpPr txBox="1"/>
          <p:nvPr/>
        </p:nvSpPr>
        <p:spPr>
          <a:xfrm>
            <a:off x="457200" y="566928"/>
            <a:ext cx="10058400" cy="384048"/>
          </a:xfrm>
          <a:prstGeom prst="rect">
            <a:avLst/>
          </a:prstGeom>
          <a:noFill/>
        </p:spPr>
        <p:txBody>
          <a:bodyPr wrap="square">
            <a:spAutoFit/>
          </a:bodyPr>
          <a:lstStyle/>
          <a:p>
            <a:pPr algn="l"/>
            <a:r>
              <a:rPr sz="1100" b="0" i="0">
                <a:solidFill>
                  <a:srgbClr val="00B38A"/>
                </a:solidFill>
                <a:latin typeface="Montserrat"/>
              </a:rPr>
              <a:t>76% de cierres refleja madurez del portafolio, no anomalía · Base activa con calidad superior</a:t>
            </a:r>
          </a:p>
        </p:txBody>
      </p:sp>
      <p:sp>
        <p:nvSpPr>
          <p:cNvPr id="5" name="Rectangle 4"/>
          <p:cNvSpPr/>
          <p:nvPr/>
        </p:nvSpPr>
        <p:spPr>
          <a:xfrm>
            <a:off x="320040" y="1143000"/>
            <a:ext cx="11430000" cy="8229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70432"/>
            <a:ext cx="1737360" cy="411480"/>
          </a:xfrm>
          <a:prstGeom prst="rect">
            <a:avLst/>
          </a:prstGeom>
          <a:noFill/>
        </p:spPr>
        <p:txBody>
          <a:bodyPr wrap="square">
            <a:spAutoFit/>
          </a:bodyPr>
          <a:lstStyle/>
          <a:p>
            <a:pPr algn="ctr"/>
            <a:r>
              <a:rPr sz="2200" b="1" i="0">
                <a:solidFill>
                  <a:srgbClr val="0D1F3C"/>
                </a:solidFill>
                <a:latin typeface="Montserrat"/>
              </a:rPr>
              <a:t>84</a:t>
            </a:r>
          </a:p>
        </p:txBody>
      </p:sp>
      <p:sp>
        <p:nvSpPr>
          <p:cNvPr id="7" name="TextBox 6"/>
          <p:cNvSpPr txBox="1"/>
          <p:nvPr/>
        </p:nvSpPr>
        <p:spPr>
          <a:xfrm>
            <a:off x="457200" y="1572768"/>
            <a:ext cx="1737360" cy="347472"/>
          </a:xfrm>
          <a:prstGeom prst="rect">
            <a:avLst/>
          </a:prstGeom>
          <a:noFill/>
        </p:spPr>
        <p:txBody>
          <a:bodyPr wrap="square">
            <a:spAutoFit/>
          </a:bodyPr>
          <a:lstStyle/>
          <a:p>
            <a:pPr algn="ctr"/>
            <a:r>
              <a:rPr sz="750" b="0" i="0">
                <a:solidFill>
                  <a:srgbClr val="1A2844"/>
                </a:solidFill>
                <a:latin typeface="Montserrat"/>
              </a:rPr>
              <a:t>Startups cerradas</a:t>
            </a:r>
          </a:p>
        </p:txBody>
      </p:sp>
      <p:sp>
        <p:nvSpPr>
          <p:cNvPr id="8" name="TextBox 7"/>
          <p:cNvSpPr txBox="1"/>
          <p:nvPr/>
        </p:nvSpPr>
        <p:spPr>
          <a:xfrm>
            <a:off x="2340864" y="1170432"/>
            <a:ext cx="1737360" cy="411480"/>
          </a:xfrm>
          <a:prstGeom prst="rect">
            <a:avLst/>
          </a:prstGeom>
          <a:noFill/>
        </p:spPr>
        <p:txBody>
          <a:bodyPr wrap="square">
            <a:spAutoFit/>
          </a:bodyPr>
          <a:lstStyle/>
          <a:p>
            <a:pPr algn="ctr"/>
            <a:r>
              <a:rPr sz="2200" b="1" i="0">
                <a:solidFill>
                  <a:srgbClr val="0D1F3C"/>
                </a:solidFill>
                <a:latin typeface="Montserrat"/>
              </a:rPr>
              <a:t>3</a:t>
            </a:r>
          </a:p>
        </p:txBody>
      </p:sp>
      <p:sp>
        <p:nvSpPr>
          <p:cNvPr id="9" name="TextBox 8"/>
          <p:cNvSpPr txBox="1"/>
          <p:nvPr/>
        </p:nvSpPr>
        <p:spPr>
          <a:xfrm>
            <a:off x="2340864" y="1572768"/>
            <a:ext cx="1737360" cy="347472"/>
          </a:xfrm>
          <a:prstGeom prst="rect">
            <a:avLst/>
          </a:prstGeom>
          <a:noFill/>
        </p:spPr>
        <p:txBody>
          <a:bodyPr wrap="square">
            <a:spAutoFit/>
          </a:bodyPr>
          <a:lstStyle/>
          <a:p>
            <a:pPr algn="ctr"/>
            <a:r>
              <a:rPr sz="750" b="0" i="0">
                <a:solidFill>
                  <a:srgbClr val="1A2844"/>
                </a:solidFill>
                <a:latin typeface="Montserrat"/>
              </a:rPr>
              <a:t>En pausa</a:t>
            </a:r>
          </a:p>
        </p:txBody>
      </p:sp>
      <p:sp>
        <p:nvSpPr>
          <p:cNvPr id="10" name="TextBox 9"/>
          <p:cNvSpPr txBox="1"/>
          <p:nvPr/>
        </p:nvSpPr>
        <p:spPr>
          <a:xfrm>
            <a:off x="4224528" y="1170432"/>
            <a:ext cx="1737360" cy="411480"/>
          </a:xfrm>
          <a:prstGeom prst="rect">
            <a:avLst/>
          </a:prstGeom>
          <a:noFill/>
        </p:spPr>
        <p:txBody>
          <a:bodyPr wrap="square">
            <a:spAutoFit/>
          </a:bodyPr>
          <a:lstStyle/>
          <a:p>
            <a:pPr algn="ctr"/>
            <a:r>
              <a:rPr sz="2200" b="1" i="0">
                <a:solidFill>
                  <a:srgbClr val="00B38A"/>
                </a:solidFill>
                <a:latin typeface="Montserrat"/>
              </a:rPr>
              <a:t>23</a:t>
            </a:r>
          </a:p>
        </p:txBody>
      </p:sp>
      <p:sp>
        <p:nvSpPr>
          <p:cNvPr id="11" name="TextBox 10"/>
          <p:cNvSpPr txBox="1"/>
          <p:nvPr/>
        </p:nvSpPr>
        <p:spPr>
          <a:xfrm>
            <a:off x="4224528" y="1572768"/>
            <a:ext cx="1737360" cy="347472"/>
          </a:xfrm>
          <a:prstGeom prst="rect">
            <a:avLst/>
          </a:prstGeom>
          <a:noFill/>
        </p:spPr>
        <p:txBody>
          <a:bodyPr wrap="square">
            <a:spAutoFit/>
          </a:bodyPr>
          <a:lstStyle/>
          <a:p>
            <a:pPr algn="ctr"/>
            <a:r>
              <a:rPr sz="750" b="0" i="0">
                <a:solidFill>
                  <a:srgbClr val="1A2844"/>
                </a:solidFill>
                <a:latin typeface="Montserrat"/>
              </a:rPr>
              <a:t>Activas (20.7%)</a:t>
            </a:r>
          </a:p>
        </p:txBody>
      </p:sp>
      <p:sp>
        <p:nvSpPr>
          <p:cNvPr id="12" name="TextBox 11"/>
          <p:cNvSpPr txBox="1"/>
          <p:nvPr/>
        </p:nvSpPr>
        <p:spPr>
          <a:xfrm>
            <a:off x="6108192" y="1170432"/>
            <a:ext cx="1737360" cy="411480"/>
          </a:xfrm>
          <a:prstGeom prst="rect">
            <a:avLst/>
          </a:prstGeom>
          <a:noFill/>
        </p:spPr>
        <p:txBody>
          <a:bodyPr wrap="square">
            <a:spAutoFit/>
          </a:bodyPr>
          <a:lstStyle/>
          <a:p>
            <a:pPr algn="ctr"/>
            <a:r>
              <a:rPr sz="2200" b="1" i="0">
                <a:solidFill>
                  <a:srgbClr val="E54B4B"/>
                </a:solidFill>
                <a:latin typeface="Montserrat"/>
              </a:rPr>
              <a:t>76%</a:t>
            </a:r>
          </a:p>
        </p:txBody>
      </p:sp>
      <p:sp>
        <p:nvSpPr>
          <p:cNvPr id="13" name="TextBox 12"/>
          <p:cNvSpPr txBox="1"/>
          <p:nvPr/>
        </p:nvSpPr>
        <p:spPr>
          <a:xfrm>
            <a:off x="6108192" y="1572768"/>
            <a:ext cx="1737360" cy="347472"/>
          </a:xfrm>
          <a:prstGeom prst="rect">
            <a:avLst/>
          </a:prstGeom>
          <a:noFill/>
        </p:spPr>
        <p:txBody>
          <a:bodyPr wrap="square">
            <a:spAutoFit/>
          </a:bodyPr>
          <a:lstStyle/>
          <a:p>
            <a:pPr algn="ctr"/>
            <a:r>
              <a:rPr sz="750" b="0" i="0">
                <a:solidFill>
                  <a:srgbClr val="1A2844"/>
                </a:solidFill>
                <a:latin typeface="Montserrat"/>
              </a:rPr>
              <a:t>Tasa de cierre
vs. 52% H1 2025</a:t>
            </a:r>
          </a:p>
        </p:txBody>
      </p:sp>
      <p:sp>
        <p:nvSpPr>
          <p:cNvPr id="14" name="TextBox 13"/>
          <p:cNvSpPr txBox="1"/>
          <p:nvPr/>
        </p:nvSpPr>
        <p:spPr>
          <a:xfrm>
            <a:off x="7991856" y="1170432"/>
            <a:ext cx="1737360" cy="411480"/>
          </a:xfrm>
          <a:prstGeom prst="rect">
            <a:avLst/>
          </a:prstGeom>
          <a:noFill/>
        </p:spPr>
        <p:txBody>
          <a:bodyPr wrap="square">
            <a:spAutoFit/>
          </a:bodyPr>
          <a:lstStyle/>
          <a:p>
            <a:pPr algn="ctr"/>
            <a:r>
              <a:rPr sz="2200" b="1" i="0">
                <a:solidFill>
                  <a:srgbClr val="0D1F3C"/>
                </a:solidFill>
                <a:latin typeface="Montserrat"/>
              </a:rPr>
              <a:t>1:10</a:t>
            </a:r>
          </a:p>
        </p:txBody>
      </p:sp>
      <p:sp>
        <p:nvSpPr>
          <p:cNvPr id="15" name="TextBox 14"/>
          <p:cNvSpPr txBox="1"/>
          <p:nvPr/>
        </p:nvSpPr>
        <p:spPr>
          <a:xfrm>
            <a:off x="7991856" y="1572768"/>
            <a:ext cx="1737360" cy="347472"/>
          </a:xfrm>
          <a:prstGeom prst="rect">
            <a:avLst/>
          </a:prstGeom>
          <a:noFill/>
        </p:spPr>
        <p:txBody>
          <a:bodyPr wrap="square">
            <a:spAutoFit/>
          </a:bodyPr>
          <a:lstStyle/>
          <a:p>
            <a:pPr algn="ctr"/>
            <a:r>
              <a:rPr sz="750" b="0" i="0">
                <a:solidFill>
                  <a:srgbClr val="1A2844"/>
                </a:solidFill>
                <a:latin typeface="Montserrat"/>
              </a:rPr>
              <a:t>Seed → Serie A
(Colombia promedio)</a:t>
            </a:r>
          </a:p>
        </p:txBody>
      </p:sp>
      <p:sp>
        <p:nvSpPr>
          <p:cNvPr id="16" name="TextBox 15"/>
          <p:cNvSpPr txBox="1"/>
          <p:nvPr/>
        </p:nvSpPr>
        <p:spPr>
          <a:xfrm>
            <a:off x="9875520" y="1170432"/>
            <a:ext cx="1737360" cy="411480"/>
          </a:xfrm>
          <a:prstGeom prst="rect">
            <a:avLst/>
          </a:prstGeom>
          <a:noFill/>
        </p:spPr>
        <p:txBody>
          <a:bodyPr wrap="square">
            <a:spAutoFit/>
          </a:bodyPr>
          <a:lstStyle/>
          <a:p>
            <a:pPr algn="ctr"/>
            <a:r>
              <a:rPr sz="2200" b="1" i="0">
                <a:solidFill>
                  <a:srgbClr val="0D1F3C"/>
                </a:solidFill>
                <a:latin typeface="Montserrat"/>
              </a:rPr>
              <a:t>26m</a:t>
            </a:r>
          </a:p>
        </p:txBody>
      </p:sp>
      <p:sp>
        <p:nvSpPr>
          <p:cNvPr id="17" name="TextBox 16"/>
          <p:cNvSpPr txBox="1"/>
          <p:nvPr/>
        </p:nvSpPr>
        <p:spPr>
          <a:xfrm>
            <a:off x="9875520" y="1572768"/>
            <a:ext cx="1737360" cy="347472"/>
          </a:xfrm>
          <a:prstGeom prst="rect">
            <a:avLst/>
          </a:prstGeom>
          <a:noFill/>
        </p:spPr>
        <p:txBody>
          <a:bodyPr wrap="square">
            <a:spAutoFit/>
          </a:bodyPr>
          <a:lstStyle/>
          <a:p>
            <a:pPr algn="ctr"/>
            <a:r>
              <a:rPr sz="750" b="0" i="0">
                <a:solidFill>
                  <a:srgbClr val="1A2844"/>
                </a:solidFill>
                <a:latin typeface="Montserrat"/>
              </a:rPr>
              <a:t>Mediana entre
rondas Colombia</a:t>
            </a:r>
          </a:p>
        </p:txBody>
      </p:sp>
      <p:sp>
        <p:nvSpPr>
          <p:cNvPr id="18" name="TextBox 17"/>
          <p:cNvSpPr txBox="1"/>
          <p:nvPr/>
        </p:nvSpPr>
        <p:spPr>
          <a:xfrm>
            <a:off x="457200" y="2103120"/>
            <a:ext cx="6400800" cy="320040"/>
          </a:xfrm>
          <a:prstGeom prst="rect">
            <a:avLst/>
          </a:prstGeom>
          <a:noFill/>
        </p:spPr>
        <p:txBody>
          <a:bodyPr wrap="square">
            <a:spAutoFit/>
          </a:bodyPr>
          <a:lstStyle/>
          <a:p>
            <a:pPr algn="l"/>
            <a:r>
              <a:rPr sz="1100" b="1" i="0">
                <a:solidFill>
                  <a:srgbClr val="1A2844"/>
                </a:solidFill>
                <a:latin typeface="Montserrat"/>
              </a:rPr>
              <a:t>FACTORES CLAVE DE CIERRE</a:t>
            </a:r>
          </a:p>
        </p:txBody>
      </p:sp>
      <p:sp>
        <p:nvSpPr>
          <p:cNvPr id="19" name="Rectangle 18"/>
          <p:cNvSpPr/>
          <p:nvPr/>
        </p:nvSpPr>
        <p:spPr>
          <a:xfrm>
            <a:off x="320040" y="2514600"/>
            <a:ext cx="7772400" cy="12344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2514600"/>
            <a:ext cx="411480" cy="1234440"/>
          </a:xfrm>
          <a:prstGeom prst="rect">
            <a:avLst/>
          </a:prstGeom>
          <a:solidFill>
            <a:srgbClr val="E5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2862072"/>
            <a:ext cx="411480" cy="457200"/>
          </a:xfrm>
          <a:prstGeom prst="rect">
            <a:avLst/>
          </a:prstGeom>
          <a:noFill/>
        </p:spPr>
        <p:txBody>
          <a:bodyPr wrap="square">
            <a:spAutoFit/>
          </a:bodyPr>
          <a:lstStyle/>
          <a:p>
            <a:pPr algn="ctr"/>
            <a:r>
              <a:rPr sz="1800" b="1" i="0">
                <a:solidFill>
                  <a:srgbClr val="FFFFFF"/>
                </a:solidFill>
                <a:latin typeface="Montserrat"/>
              </a:rPr>
              <a:t>1</a:t>
            </a:r>
          </a:p>
        </p:txBody>
      </p:sp>
      <p:sp>
        <p:nvSpPr>
          <p:cNvPr id="22" name="TextBox 21"/>
          <p:cNvSpPr txBox="1"/>
          <p:nvPr/>
        </p:nvSpPr>
        <p:spPr>
          <a:xfrm>
            <a:off x="822960" y="2606040"/>
            <a:ext cx="3200400" cy="365760"/>
          </a:xfrm>
          <a:prstGeom prst="rect">
            <a:avLst/>
          </a:prstGeom>
          <a:noFill/>
        </p:spPr>
        <p:txBody>
          <a:bodyPr wrap="square">
            <a:spAutoFit/>
          </a:bodyPr>
          <a:lstStyle/>
          <a:p>
            <a:pPr algn="l"/>
            <a:r>
              <a:rPr sz="1050" b="1" i="0">
                <a:solidFill>
                  <a:srgbClr val="E54B4B"/>
                </a:solidFill>
                <a:latin typeface="Montserrat"/>
              </a:rPr>
              <a:t>Modelos poco sostenibles</a:t>
            </a:r>
          </a:p>
        </p:txBody>
      </p:sp>
      <p:sp>
        <p:nvSpPr>
          <p:cNvPr id="23" name="TextBox 22"/>
          <p:cNvSpPr txBox="1"/>
          <p:nvPr/>
        </p:nvSpPr>
        <p:spPr>
          <a:xfrm>
            <a:off x="822960" y="2971800"/>
            <a:ext cx="7132320" cy="713232"/>
          </a:xfrm>
          <a:prstGeom prst="rect">
            <a:avLst/>
          </a:prstGeom>
          <a:noFill/>
        </p:spPr>
        <p:txBody>
          <a:bodyPr wrap="square">
            <a:spAutoFit/>
          </a:bodyPr>
          <a:lstStyle/>
          <a:p>
            <a:pPr algn="l"/>
            <a:r>
              <a:rPr sz="850" b="0" i="0">
                <a:solidFill>
                  <a:srgbClr val="1A2844"/>
                </a:solidFill>
                <a:latin typeface="Montserrat"/>
              </a:rPr>
              <a:t>Propuestas de valor no adaptadas a demanda real. Inversores exigen unit economics sólidos y eficiencia de capital. Sin demostrar esto antes de agotar el runway → sin acceso a rondas de seguimiento.</a:t>
            </a:r>
          </a:p>
        </p:txBody>
      </p:sp>
      <p:sp>
        <p:nvSpPr>
          <p:cNvPr id="24" name="Rectangle 23"/>
          <p:cNvSpPr/>
          <p:nvPr/>
        </p:nvSpPr>
        <p:spPr>
          <a:xfrm>
            <a:off x="320040" y="3840480"/>
            <a:ext cx="7772400" cy="12344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040" y="3840480"/>
            <a:ext cx="411480" cy="12344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 y="4187952"/>
            <a:ext cx="411480" cy="457200"/>
          </a:xfrm>
          <a:prstGeom prst="rect">
            <a:avLst/>
          </a:prstGeom>
          <a:noFill/>
        </p:spPr>
        <p:txBody>
          <a:bodyPr wrap="square">
            <a:spAutoFit/>
          </a:bodyPr>
          <a:lstStyle/>
          <a:p>
            <a:pPr algn="ctr"/>
            <a:r>
              <a:rPr sz="1800" b="1" i="0">
                <a:solidFill>
                  <a:srgbClr val="FFFFFF"/>
                </a:solidFill>
                <a:latin typeface="Montserrat"/>
              </a:rPr>
              <a:t>2</a:t>
            </a:r>
          </a:p>
        </p:txBody>
      </p:sp>
      <p:sp>
        <p:nvSpPr>
          <p:cNvPr id="27" name="TextBox 26"/>
          <p:cNvSpPr txBox="1"/>
          <p:nvPr/>
        </p:nvSpPr>
        <p:spPr>
          <a:xfrm>
            <a:off x="822960" y="3931920"/>
            <a:ext cx="3200400" cy="365760"/>
          </a:xfrm>
          <a:prstGeom prst="rect">
            <a:avLst/>
          </a:prstGeom>
          <a:noFill/>
        </p:spPr>
        <p:txBody>
          <a:bodyPr wrap="square">
            <a:spAutoFit/>
          </a:bodyPr>
          <a:lstStyle/>
          <a:p>
            <a:pPr algn="l"/>
            <a:r>
              <a:rPr sz="1050" b="1" i="0">
                <a:solidFill>
                  <a:srgbClr val="F5A623"/>
                </a:solidFill>
                <a:latin typeface="Montserrat"/>
              </a:rPr>
              <a:t>Equipo fundador</a:t>
            </a:r>
          </a:p>
        </p:txBody>
      </p:sp>
      <p:sp>
        <p:nvSpPr>
          <p:cNvPr id="28" name="TextBox 27"/>
          <p:cNvSpPr txBox="1"/>
          <p:nvPr/>
        </p:nvSpPr>
        <p:spPr>
          <a:xfrm>
            <a:off x="822960" y="4297680"/>
            <a:ext cx="7132320" cy="713232"/>
          </a:xfrm>
          <a:prstGeom prst="rect">
            <a:avLst/>
          </a:prstGeom>
          <a:noFill/>
        </p:spPr>
        <p:txBody>
          <a:bodyPr wrap="square">
            <a:spAutoFit/>
          </a:bodyPr>
          <a:lstStyle/>
          <a:p>
            <a:pPr algn="l"/>
            <a:r>
              <a:rPr sz="850" b="0" i="0">
                <a:solidFill>
                  <a:srgbClr val="1A2844"/>
                </a:solidFill>
                <a:latin typeface="Montserrat"/>
              </a:rPr>
              <a:t>Ausencia de ingresos para founders fue factor determinante en Tier 3. Presión del mercado llevó al cierre antes de explorar pivotes o reestructuración. Dependencia de levantamiento de capital sin revenue propio.</a:t>
            </a:r>
          </a:p>
        </p:txBody>
      </p:sp>
      <p:sp>
        <p:nvSpPr>
          <p:cNvPr id="29" name="Rectangle 28"/>
          <p:cNvSpPr/>
          <p:nvPr/>
        </p:nvSpPr>
        <p:spPr>
          <a:xfrm>
            <a:off x="320040" y="5166360"/>
            <a:ext cx="7772400" cy="12344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20040" y="5166360"/>
            <a:ext cx="411480" cy="12344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5513832"/>
            <a:ext cx="411480" cy="457200"/>
          </a:xfrm>
          <a:prstGeom prst="rect">
            <a:avLst/>
          </a:prstGeom>
          <a:noFill/>
        </p:spPr>
        <p:txBody>
          <a:bodyPr wrap="square">
            <a:spAutoFit/>
          </a:bodyPr>
          <a:lstStyle/>
          <a:p>
            <a:pPr algn="ctr"/>
            <a:r>
              <a:rPr sz="1800" b="1" i="0">
                <a:solidFill>
                  <a:srgbClr val="FFFFFF"/>
                </a:solidFill>
                <a:latin typeface="Montserrat"/>
              </a:rPr>
              <a:t>3</a:t>
            </a:r>
          </a:p>
        </p:txBody>
      </p:sp>
      <p:sp>
        <p:nvSpPr>
          <p:cNvPr id="32" name="TextBox 31"/>
          <p:cNvSpPr txBox="1"/>
          <p:nvPr/>
        </p:nvSpPr>
        <p:spPr>
          <a:xfrm>
            <a:off x="822960" y="5257800"/>
            <a:ext cx="3200400" cy="365760"/>
          </a:xfrm>
          <a:prstGeom prst="rect">
            <a:avLst/>
          </a:prstGeom>
          <a:noFill/>
        </p:spPr>
        <p:txBody>
          <a:bodyPr wrap="square">
            <a:spAutoFit/>
          </a:bodyPr>
          <a:lstStyle/>
          <a:p>
            <a:pPr algn="l"/>
            <a:r>
              <a:rPr sz="1050" b="1" i="0">
                <a:solidFill>
                  <a:srgbClr val="0D1F3C"/>
                </a:solidFill>
                <a:latin typeface="Montserrat"/>
              </a:rPr>
              <a:t>Intensificación competitiva por IA</a:t>
            </a:r>
          </a:p>
        </p:txBody>
      </p:sp>
      <p:sp>
        <p:nvSpPr>
          <p:cNvPr id="33" name="TextBox 32"/>
          <p:cNvSpPr txBox="1"/>
          <p:nvPr/>
        </p:nvSpPr>
        <p:spPr>
          <a:xfrm>
            <a:off x="822960" y="5623560"/>
            <a:ext cx="7132320" cy="713232"/>
          </a:xfrm>
          <a:prstGeom prst="rect">
            <a:avLst/>
          </a:prstGeom>
          <a:noFill/>
        </p:spPr>
        <p:txBody>
          <a:bodyPr wrap="square">
            <a:spAutoFit/>
          </a:bodyPr>
          <a:lstStyle/>
          <a:p>
            <a:pPr algn="l"/>
            <a:r>
              <a:rPr sz="850" b="0" i="0">
                <a:solidFill>
                  <a:srgbClr val="1A2844"/>
                </a:solidFill>
                <a:latin typeface="Montserrat"/>
              </a:rPr>
              <a:t>IA redefinió el estándar competitivo en Legaltech, Healthtech y Biztech. Captó 40-50% del capital en EE.UU. Startups sin IA adoptada perdieron diferenciación y viabilidad.</a:t>
            </a:r>
          </a:p>
        </p:txBody>
      </p:sp>
      <p:sp>
        <p:nvSpPr>
          <p:cNvPr id="34" name="Rectangle 33"/>
          <p:cNvSpPr/>
          <p:nvPr/>
        </p:nvSpPr>
        <p:spPr>
          <a:xfrm>
            <a:off x="8412480" y="2514600"/>
            <a:ext cx="3566160" cy="3977639"/>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49640" y="2606040"/>
            <a:ext cx="3291840" cy="347472"/>
          </a:xfrm>
          <a:prstGeom prst="rect">
            <a:avLst/>
          </a:prstGeom>
          <a:noFill/>
        </p:spPr>
        <p:txBody>
          <a:bodyPr wrap="square">
            <a:spAutoFit/>
          </a:bodyPr>
          <a:lstStyle/>
          <a:p>
            <a:pPr algn="l"/>
            <a:r>
              <a:rPr sz="1000" b="1" i="0">
                <a:solidFill>
                  <a:srgbClr val="00B38A"/>
                </a:solidFill>
                <a:latin typeface="Montserrat"/>
              </a:rPr>
              <a:t>LECTURA POSITIVA</a:t>
            </a:r>
          </a:p>
        </p:txBody>
      </p:sp>
      <p:sp>
        <p:nvSpPr>
          <p:cNvPr id="36" name="TextBox 35"/>
          <p:cNvSpPr txBox="1"/>
          <p:nvPr/>
        </p:nvSpPr>
        <p:spPr>
          <a:xfrm>
            <a:off x="8549640" y="3017520"/>
            <a:ext cx="3291840" cy="566928"/>
          </a:xfrm>
          <a:prstGeom prst="rect">
            <a:avLst/>
          </a:prstGeom>
          <a:noFill/>
        </p:spPr>
        <p:txBody>
          <a:bodyPr wrap="square">
            <a:spAutoFit/>
          </a:bodyPr>
          <a:lstStyle/>
          <a:p>
            <a:pPr algn="l"/>
            <a:r>
              <a:rPr sz="850" b="0" i="0">
                <a:solidFill>
                  <a:srgbClr val="FFFFFF"/>
                </a:solidFill>
                <a:latin typeface="Montserrat"/>
              </a:rPr>
              <a:t>→ Base activa de calidad superior: 23 startups con ingresos sostenidos y modelos validados</a:t>
            </a:r>
          </a:p>
        </p:txBody>
      </p:sp>
      <p:sp>
        <p:nvSpPr>
          <p:cNvPr id="37" name="TextBox 36"/>
          <p:cNvSpPr txBox="1"/>
          <p:nvPr/>
        </p:nvSpPr>
        <p:spPr>
          <a:xfrm>
            <a:off x="8549640" y="3657600"/>
            <a:ext cx="3291840" cy="566928"/>
          </a:xfrm>
          <a:prstGeom prst="rect">
            <a:avLst/>
          </a:prstGeom>
          <a:noFill/>
        </p:spPr>
        <p:txBody>
          <a:bodyPr wrap="square">
            <a:spAutoFit/>
          </a:bodyPr>
          <a:lstStyle/>
          <a:p>
            <a:pPr algn="l"/>
            <a:r>
              <a:rPr sz="850" b="0" i="0">
                <a:solidFill>
                  <a:srgbClr val="FFFFFF"/>
                </a:solidFill>
                <a:latin typeface="Montserrat"/>
              </a:rPr>
              <a:t>→ Portafolio más preciso: energía concentrada en compañías con real potencial de retorno</a:t>
            </a:r>
          </a:p>
        </p:txBody>
      </p:sp>
      <p:sp>
        <p:nvSpPr>
          <p:cNvPr id="38" name="TextBox 37"/>
          <p:cNvSpPr txBox="1"/>
          <p:nvPr/>
        </p:nvSpPr>
        <p:spPr>
          <a:xfrm>
            <a:off x="8549640" y="4297679"/>
            <a:ext cx="3291840" cy="566928"/>
          </a:xfrm>
          <a:prstGeom prst="rect">
            <a:avLst/>
          </a:prstGeom>
          <a:noFill/>
        </p:spPr>
        <p:txBody>
          <a:bodyPr wrap="square">
            <a:spAutoFit/>
          </a:bodyPr>
          <a:lstStyle/>
          <a:p>
            <a:pPr algn="l"/>
            <a:r>
              <a:rPr sz="850" b="0" i="0">
                <a:solidFill>
                  <a:srgbClr val="FFFFFF"/>
                </a:solidFill>
                <a:latin typeface="Montserrat"/>
              </a:rPr>
              <a:t>→ Tasa coherente con benchmarks: Colombia 1 de 10 seed→Serie A es la norma global</a:t>
            </a:r>
          </a:p>
        </p:txBody>
      </p:sp>
      <p:sp>
        <p:nvSpPr>
          <p:cNvPr id="39" name="TextBox 38"/>
          <p:cNvSpPr txBox="1"/>
          <p:nvPr/>
        </p:nvSpPr>
        <p:spPr>
          <a:xfrm>
            <a:off x="8549640" y="4937759"/>
            <a:ext cx="3291840" cy="566928"/>
          </a:xfrm>
          <a:prstGeom prst="rect">
            <a:avLst/>
          </a:prstGeom>
          <a:noFill/>
        </p:spPr>
        <p:txBody>
          <a:bodyPr wrap="square">
            <a:spAutoFit/>
          </a:bodyPr>
          <a:lstStyle/>
          <a:p>
            <a:pPr algn="l"/>
            <a:r>
              <a:rPr sz="850" b="0" i="0">
                <a:solidFill>
                  <a:srgbClr val="FFFFFF"/>
                </a:solidFill>
                <a:latin typeface="Montserrat"/>
              </a:rPr>
              <a:t>→ Tier 1 no se deterioró: núcleo de valor ($767K) sólido y en crecimiento</a:t>
            </a:r>
          </a:p>
        </p:txBody>
      </p:sp>
      <p:sp>
        <p:nvSpPr>
          <p:cNvPr id="40" name="TextBox 39"/>
          <p:cNvSpPr txBox="1"/>
          <p:nvPr/>
        </p:nvSpPr>
        <p:spPr>
          <a:xfrm>
            <a:off x="8549640" y="5577840"/>
            <a:ext cx="3291840" cy="566928"/>
          </a:xfrm>
          <a:prstGeom prst="rect">
            <a:avLst/>
          </a:prstGeom>
          <a:noFill/>
        </p:spPr>
        <p:txBody>
          <a:bodyPr wrap="square">
            <a:spAutoFit/>
          </a:bodyPr>
          <a:lstStyle/>
          <a:p>
            <a:pPr algn="l"/>
            <a:r>
              <a:rPr sz="850" b="0" i="0">
                <a:solidFill>
                  <a:srgbClr val="FFFFFF"/>
                </a:solidFill>
                <a:latin typeface="Montserrat"/>
              </a:rPr>
              <a:t>→ Aprendizaje acumulado: criterios de selección y acompañamiento continúan mejorando</a:t>
            </a:r>
          </a:p>
        </p:txBody>
      </p:sp>
      <p:sp>
        <p:nvSpPr>
          <p:cNvPr id="41" name="TextBox 40"/>
          <p:cNvSpPr txBox="1"/>
          <p:nvPr/>
        </p:nvSpPr>
        <p:spPr>
          <a:xfrm>
            <a:off x="365760" y="6583680"/>
            <a:ext cx="11430000" cy="228600"/>
          </a:xfrm>
          <a:prstGeom prst="rect">
            <a:avLst/>
          </a:prstGeom>
          <a:noFill/>
        </p:spPr>
        <p:txBody>
          <a:bodyPr wrap="square">
            <a:spAutoFit/>
          </a:bodyPr>
          <a:lstStyle/>
          <a:p>
            <a:pPr algn="l"/>
            <a:r>
              <a:rPr sz="700" b="0" i="0">
                <a:solidFill>
                  <a:srgbClr val="A0AABB"/>
                </a:solidFill>
                <a:latin typeface="Montserrat"/>
              </a:rPr>
              <a:t>Colombia Tech Report 2025-2026 · Latin America VC Report 2026 · Crunchbase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502920"/>
          </a:xfrm>
          <a:prstGeom prst="rect">
            <a:avLst/>
          </a:prstGeom>
          <a:noFill/>
        </p:spPr>
        <p:txBody>
          <a:bodyPr wrap="square">
            <a:spAutoFit/>
          </a:bodyPr>
          <a:lstStyle/>
          <a:p>
            <a:pPr algn="l"/>
            <a:r>
              <a:rPr sz="2200" b="1" i="0">
                <a:solidFill>
                  <a:srgbClr val="FFFFFF"/>
                </a:solidFill>
                <a:latin typeface="Montserrat"/>
              </a:rPr>
              <a:t>Cube Ventures: Evolución hacia Plataforma de Creación de Valor</a:t>
            </a:r>
          </a:p>
        </p:txBody>
      </p:sp>
      <p:sp>
        <p:nvSpPr>
          <p:cNvPr id="4" name="TextBox 3"/>
          <p:cNvSpPr txBox="1"/>
          <p:nvPr/>
        </p:nvSpPr>
        <p:spPr>
          <a:xfrm>
            <a:off x="457200" y="566928"/>
            <a:ext cx="10058400" cy="384048"/>
          </a:xfrm>
          <a:prstGeom prst="rect">
            <a:avLst/>
          </a:prstGeom>
          <a:noFill/>
        </p:spPr>
        <p:txBody>
          <a:bodyPr wrap="square">
            <a:spAutoFit/>
          </a:bodyPr>
          <a:lstStyle/>
          <a:p>
            <a:pPr algn="l"/>
            <a:r>
              <a:rPr sz="1100" b="0" i="0">
                <a:solidFill>
                  <a:srgbClr val="00B38A"/>
                </a:solidFill>
                <a:latin typeface="Montserrat"/>
              </a:rPr>
              <a:t>Más que una aceleradora · 4 líneas complementarias · Sinergias para el portafolio</a:t>
            </a:r>
          </a:p>
        </p:txBody>
      </p:sp>
      <p:sp>
        <p:nvSpPr>
          <p:cNvPr id="5" name="TextBox 4"/>
          <p:cNvSpPr txBox="1"/>
          <p:nvPr/>
        </p:nvSpPr>
        <p:spPr>
          <a:xfrm>
            <a:off x="457200" y="1097280"/>
            <a:ext cx="11430000" cy="594360"/>
          </a:xfrm>
          <a:prstGeom prst="rect">
            <a:avLst/>
          </a:prstGeom>
          <a:noFill/>
        </p:spPr>
        <p:txBody>
          <a:bodyPr wrap="square">
            <a:spAutoFit/>
          </a:bodyPr>
          <a:lstStyle/>
          <a:p>
            <a:pPr algn="l"/>
            <a:r>
              <a:rPr sz="1050" b="0" i="0">
                <a:solidFill>
                  <a:srgbClr val="1A2844"/>
                </a:solidFill>
                <a:latin typeface="Montserrat"/>
              </a:rPr>
              <a:t>Cube Ventures evoluciona de aceleradora tradicional a plataforma integral. Las 4 líneas son complementarias y crean un ciclo virtuoso: la aceleradora genera portafolio, Meridian 75 lo capitaliza, Exit Accelerator lo liquida, Cube Academy atrae capital inteligente.</a:t>
            </a:r>
          </a:p>
        </p:txBody>
      </p:sp>
      <p:sp>
        <p:nvSpPr>
          <p:cNvPr id="6" name="Rectangle 5"/>
          <p:cNvSpPr/>
          <p:nvPr/>
        </p:nvSpPr>
        <p:spPr>
          <a:xfrm>
            <a:off x="320040" y="1828800"/>
            <a:ext cx="2743200" cy="438912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9768" y="1920240"/>
            <a:ext cx="2523744" cy="411480"/>
          </a:xfrm>
          <a:prstGeom prst="rect">
            <a:avLst/>
          </a:prstGeom>
          <a:noFill/>
        </p:spPr>
        <p:txBody>
          <a:bodyPr wrap="square">
            <a:spAutoFit/>
          </a:bodyPr>
          <a:lstStyle/>
          <a:p>
            <a:pPr algn="l"/>
            <a:r>
              <a:rPr sz="1100" b="1" i="0">
                <a:solidFill>
                  <a:srgbClr val="FFFFFF"/>
                </a:solidFill>
                <a:latin typeface="Montserrat"/>
              </a:rPr>
              <a:t>ACELERADORA</a:t>
            </a:r>
          </a:p>
        </p:txBody>
      </p:sp>
      <p:sp>
        <p:nvSpPr>
          <p:cNvPr id="8" name="TextBox 7"/>
          <p:cNvSpPr txBox="1"/>
          <p:nvPr/>
        </p:nvSpPr>
        <p:spPr>
          <a:xfrm>
            <a:off x="429768" y="2331720"/>
            <a:ext cx="2523744" cy="320040"/>
          </a:xfrm>
          <a:prstGeom prst="rect">
            <a:avLst/>
          </a:prstGeom>
          <a:noFill/>
        </p:spPr>
        <p:txBody>
          <a:bodyPr wrap="square">
            <a:spAutoFit/>
          </a:bodyPr>
          <a:lstStyle/>
          <a:p>
            <a:pPr algn="l"/>
            <a:r>
              <a:rPr sz="850" b="0" i="1">
                <a:solidFill>
                  <a:srgbClr val="FFFFFF"/>
                </a:solidFill>
                <a:latin typeface="Montserrat"/>
              </a:rPr>
              <a:t>Origen del portafolio</a:t>
            </a:r>
          </a:p>
        </p:txBody>
      </p:sp>
      <p:cxnSp>
        <p:nvCxnSpPr>
          <p:cNvPr id="9" name="Connector 8"/>
          <p:cNvCxnSpPr/>
          <p:nvPr/>
        </p:nvCxnSpPr>
        <p:spPr>
          <a:xfrm>
            <a:off x="411479" y="2743200"/>
            <a:ext cx="2560321"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29768" y="2834640"/>
            <a:ext cx="2523744" cy="3017520"/>
          </a:xfrm>
          <a:prstGeom prst="rect">
            <a:avLst/>
          </a:prstGeom>
          <a:noFill/>
        </p:spPr>
        <p:txBody>
          <a:bodyPr wrap="square">
            <a:spAutoFit/>
          </a:bodyPr>
          <a:lstStyle/>
          <a:p>
            <a:pPr algn="l"/>
            <a:r>
              <a:rPr sz="900" b="0" i="0">
                <a:solidFill>
                  <a:srgbClr val="FFFFFF"/>
                </a:solidFill>
                <a:latin typeface="Montserrat"/>
              </a:rPr>
              <a:t>• 111 compañías históricas
• 5 cohortes (2020–2024)
• Community emprendedora
• Pipeline para Meridian 75</a:t>
            </a:r>
          </a:p>
        </p:txBody>
      </p:sp>
      <p:sp>
        <p:nvSpPr>
          <p:cNvPr id="11" name="Rectangle 10"/>
          <p:cNvSpPr/>
          <p:nvPr/>
        </p:nvSpPr>
        <p:spPr>
          <a:xfrm>
            <a:off x="868680" y="5897880"/>
            <a:ext cx="16459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5916168"/>
            <a:ext cx="1609344" cy="237744"/>
          </a:xfrm>
          <a:prstGeom prst="rect">
            <a:avLst/>
          </a:prstGeom>
          <a:noFill/>
        </p:spPr>
        <p:txBody>
          <a:bodyPr wrap="square">
            <a:spAutoFit/>
          </a:bodyPr>
          <a:lstStyle/>
          <a:p>
            <a:pPr algn="ctr"/>
            <a:r>
              <a:rPr sz="800" b="1" i="0">
                <a:solidFill>
                  <a:srgbClr val="0D1F3C"/>
                </a:solidFill>
                <a:latin typeface="Montserrat"/>
              </a:rPr>
              <a:t>FUNDAMENTO</a:t>
            </a:r>
          </a:p>
        </p:txBody>
      </p:sp>
      <p:sp>
        <p:nvSpPr>
          <p:cNvPr id="13" name="Rectangle 12"/>
          <p:cNvSpPr/>
          <p:nvPr/>
        </p:nvSpPr>
        <p:spPr>
          <a:xfrm>
            <a:off x="3264408" y="1828800"/>
            <a:ext cx="2743200" cy="438912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74136" y="1920240"/>
            <a:ext cx="2523744" cy="411480"/>
          </a:xfrm>
          <a:prstGeom prst="rect">
            <a:avLst/>
          </a:prstGeom>
          <a:noFill/>
        </p:spPr>
        <p:txBody>
          <a:bodyPr wrap="square">
            <a:spAutoFit/>
          </a:bodyPr>
          <a:lstStyle/>
          <a:p>
            <a:pPr algn="l"/>
            <a:r>
              <a:rPr sz="1100" b="1" i="0">
                <a:solidFill>
                  <a:srgbClr val="FFFFFF"/>
                </a:solidFill>
                <a:latin typeface="Montserrat"/>
              </a:rPr>
              <a:t>MERIDIAN 75</a:t>
            </a:r>
          </a:p>
        </p:txBody>
      </p:sp>
      <p:sp>
        <p:nvSpPr>
          <p:cNvPr id="15" name="TextBox 14"/>
          <p:cNvSpPr txBox="1"/>
          <p:nvPr/>
        </p:nvSpPr>
        <p:spPr>
          <a:xfrm>
            <a:off x="3374136" y="2331720"/>
            <a:ext cx="2523744" cy="320040"/>
          </a:xfrm>
          <a:prstGeom prst="rect">
            <a:avLst/>
          </a:prstGeom>
          <a:noFill/>
        </p:spPr>
        <p:txBody>
          <a:bodyPr wrap="square">
            <a:spAutoFit/>
          </a:bodyPr>
          <a:lstStyle/>
          <a:p>
            <a:pPr algn="l"/>
            <a:r>
              <a:rPr sz="850" b="0" i="1">
                <a:solidFill>
                  <a:srgbClr val="FFFFFF"/>
                </a:solidFill>
                <a:latin typeface="Montserrat"/>
              </a:rPr>
              <a:t>Brazo de Venture Capital</a:t>
            </a:r>
          </a:p>
        </p:txBody>
      </p:sp>
      <p:cxnSp>
        <p:nvCxnSpPr>
          <p:cNvPr id="16" name="Connector 15"/>
          <p:cNvCxnSpPr/>
          <p:nvPr/>
        </p:nvCxnSpPr>
        <p:spPr>
          <a:xfrm>
            <a:off x="3355848" y="2743200"/>
            <a:ext cx="2560320"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374136" y="2834640"/>
            <a:ext cx="2523744" cy="3017520"/>
          </a:xfrm>
          <a:prstGeom prst="rect">
            <a:avLst/>
          </a:prstGeom>
          <a:noFill/>
        </p:spPr>
        <p:txBody>
          <a:bodyPr wrap="square">
            <a:spAutoFit/>
          </a:bodyPr>
          <a:lstStyle/>
          <a:p>
            <a:pPr algn="l"/>
            <a:r>
              <a:rPr sz="900" b="0" i="0">
                <a:solidFill>
                  <a:srgbClr val="FFFFFF"/>
                </a:solidFill>
                <a:latin typeface="Montserrat"/>
              </a:rPr>
              <a:t>• Inversión con mayor capacidad
• Rondas activas del portafolio
• Alternativas para LPs en follow-ons
• Expansión del deal flow</a:t>
            </a:r>
          </a:p>
        </p:txBody>
      </p:sp>
      <p:sp>
        <p:nvSpPr>
          <p:cNvPr id="18" name="Rectangle 17"/>
          <p:cNvSpPr/>
          <p:nvPr/>
        </p:nvSpPr>
        <p:spPr>
          <a:xfrm>
            <a:off x="3813048" y="5897880"/>
            <a:ext cx="16459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31336" y="5916168"/>
            <a:ext cx="1609344" cy="237744"/>
          </a:xfrm>
          <a:prstGeom prst="rect">
            <a:avLst/>
          </a:prstGeom>
          <a:noFill/>
        </p:spPr>
        <p:txBody>
          <a:bodyPr wrap="square">
            <a:spAutoFit/>
          </a:bodyPr>
          <a:lstStyle/>
          <a:p>
            <a:pPr algn="ctr"/>
            <a:r>
              <a:rPr sz="800" b="1" i="0">
                <a:solidFill>
                  <a:srgbClr val="00B38A"/>
                </a:solidFill>
                <a:latin typeface="Montserrat"/>
              </a:rPr>
              <a:t>CAPITAL</a:t>
            </a:r>
          </a:p>
        </p:txBody>
      </p:sp>
      <p:sp>
        <p:nvSpPr>
          <p:cNvPr id="20" name="Rectangle 19"/>
          <p:cNvSpPr/>
          <p:nvPr/>
        </p:nvSpPr>
        <p:spPr>
          <a:xfrm>
            <a:off x="6208776" y="1828800"/>
            <a:ext cx="2743200" cy="43891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18504" y="1920240"/>
            <a:ext cx="2523744" cy="411480"/>
          </a:xfrm>
          <a:prstGeom prst="rect">
            <a:avLst/>
          </a:prstGeom>
          <a:noFill/>
        </p:spPr>
        <p:txBody>
          <a:bodyPr wrap="square">
            <a:spAutoFit/>
          </a:bodyPr>
          <a:lstStyle/>
          <a:p>
            <a:pPr algn="l"/>
            <a:r>
              <a:rPr sz="1100" b="1" i="0">
                <a:solidFill>
                  <a:srgbClr val="FFFFFF"/>
                </a:solidFill>
                <a:latin typeface="Montserrat"/>
              </a:rPr>
              <a:t>EXIT ACCELERATOR</a:t>
            </a:r>
          </a:p>
        </p:txBody>
      </p:sp>
      <p:sp>
        <p:nvSpPr>
          <p:cNvPr id="22" name="TextBox 21"/>
          <p:cNvSpPr txBox="1"/>
          <p:nvPr/>
        </p:nvSpPr>
        <p:spPr>
          <a:xfrm>
            <a:off x="6318504" y="2331720"/>
            <a:ext cx="2523744" cy="320040"/>
          </a:xfrm>
          <a:prstGeom prst="rect">
            <a:avLst/>
          </a:prstGeom>
          <a:noFill/>
        </p:spPr>
        <p:txBody>
          <a:bodyPr wrap="square">
            <a:spAutoFit/>
          </a:bodyPr>
          <a:lstStyle/>
          <a:p>
            <a:pPr algn="l"/>
            <a:r>
              <a:rPr sz="850" b="0" i="1">
                <a:solidFill>
                  <a:srgbClr val="FFFFFF"/>
                </a:solidFill>
                <a:latin typeface="Montserrat"/>
              </a:rPr>
              <a:t>Liquidez activa</a:t>
            </a:r>
          </a:p>
        </p:txBody>
      </p:sp>
      <p:cxnSp>
        <p:nvCxnSpPr>
          <p:cNvPr id="23" name="Connector 22"/>
          <p:cNvCxnSpPr/>
          <p:nvPr/>
        </p:nvCxnSpPr>
        <p:spPr>
          <a:xfrm>
            <a:off x="6300216" y="2743200"/>
            <a:ext cx="2560320"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18504" y="2834640"/>
            <a:ext cx="2523744" cy="3017520"/>
          </a:xfrm>
          <a:prstGeom prst="rect">
            <a:avLst/>
          </a:prstGeom>
          <a:noFill/>
        </p:spPr>
        <p:txBody>
          <a:bodyPr wrap="square">
            <a:spAutoFit/>
          </a:bodyPr>
          <a:lstStyle/>
          <a:p>
            <a:pPr algn="l"/>
            <a:r>
              <a:rPr sz="900" b="0" i="0">
                <a:solidFill>
                  <a:srgbClr val="FFFFFF"/>
                </a:solidFill>
                <a:latin typeface="Montserrat"/>
              </a:rPr>
              <a:t>• +1,068 potenciales compradores
• Pipeline M&amp;A estructurado
• SPVs / Continuation vehicles
• Exits priorizados en 5 activos</a:t>
            </a:r>
          </a:p>
        </p:txBody>
      </p:sp>
      <p:sp>
        <p:nvSpPr>
          <p:cNvPr id="25" name="Rectangle 24"/>
          <p:cNvSpPr/>
          <p:nvPr/>
        </p:nvSpPr>
        <p:spPr>
          <a:xfrm>
            <a:off x="6757416" y="5897880"/>
            <a:ext cx="16459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75704" y="5916168"/>
            <a:ext cx="1609344" cy="237744"/>
          </a:xfrm>
          <a:prstGeom prst="rect">
            <a:avLst/>
          </a:prstGeom>
          <a:noFill/>
        </p:spPr>
        <p:txBody>
          <a:bodyPr wrap="square">
            <a:spAutoFit/>
          </a:bodyPr>
          <a:lstStyle/>
          <a:p>
            <a:pPr algn="ctr"/>
            <a:r>
              <a:rPr sz="800" b="1" i="0">
                <a:solidFill>
                  <a:srgbClr val="F5A623"/>
                </a:solidFill>
                <a:latin typeface="Montserrat"/>
              </a:rPr>
              <a:t>LIQUIDEZ</a:t>
            </a:r>
          </a:p>
        </p:txBody>
      </p:sp>
      <p:sp>
        <p:nvSpPr>
          <p:cNvPr id="27" name="Rectangle 26"/>
          <p:cNvSpPr/>
          <p:nvPr/>
        </p:nvSpPr>
        <p:spPr>
          <a:xfrm>
            <a:off x="9153144" y="1828800"/>
            <a:ext cx="2743200" cy="4389120"/>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62872" y="1920240"/>
            <a:ext cx="2523744" cy="411480"/>
          </a:xfrm>
          <a:prstGeom prst="rect">
            <a:avLst/>
          </a:prstGeom>
          <a:noFill/>
        </p:spPr>
        <p:txBody>
          <a:bodyPr wrap="square">
            <a:spAutoFit/>
          </a:bodyPr>
          <a:lstStyle/>
          <a:p>
            <a:pPr algn="l"/>
            <a:r>
              <a:rPr sz="1100" b="1" i="0">
                <a:solidFill>
                  <a:srgbClr val="FFFFFF"/>
                </a:solidFill>
                <a:latin typeface="Montserrat"/>
              </a:rPr>
              <a:t>CUBE ACADEMY</a:t>
            </a:r>
          </a:p>
        </p:txBody>
      </p:sp>
      <p:sp>
        <p:nvSpPr>
          <p:cNvPr id="29" name="TextBox 28"/>
          <p:cNvSpPr txBox="1"/>
          <p:nvPr/>
        </p:nvSpPr>
        <p:spPr>
          <a:xfrm>
            <a:off x="9262872" y="2331720"/>
            <a:ext cx="2523744" cy="320040"/>
          </a:xfrm>
          <a:prstGeom prst="rect">
            <a:avLst/>
          </a:prstGeom>
          <a:noFill/>
        </p:spPr>
        <p:txBody>
          <a:bodyPr wrap="square">
            <a:spAutoFit/>
          </a:bodyPr>
          <a:lstStyle/>
          <a:p>
            <a:pPr algn="l"/>
            <a:r>
              <a:rPr sz="850" b="0" i="1">
                <a:solidFill>
                  <a:srgbClr val="FFFFFF"/>
                </a:solidFill>
                <a:latin typeface="Montserrat"/>
              </a:rPr>
              <a:t>Capital inteligente</a:t>
            </a:r>
          </a:p>
        </p:txBody>
      </p:sp>
      <p:cxnSp>
        <p:nvCxnSpPr>
          <p:cNvPr id="30" name="Connector 29"/>
          <p:cNvCxnSpPr/>
          <p:nvPr/>
        </p:nvCxnSpPr>
        <p:spPr>
          <a:xfrm>
            <a:off x="9244584" y="2743200"/>
            <a:ext cx="2560320"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262872" y="2834640"/>
            <a:ext cx="2523744" cy="3017520"/>
          </a:xfrm>
          <a:prstGeom prst="rect">
            <a:avLst/>
          </a:prstGeom>
          <a:noFill/>
        </p:spPr>
        <p:txBody>
          <a:bodyPr wrap="square">
            <a:spAutoFit/>
          </a:bodyPr>
          <a:lstStyle/>
          <a:p>
            <a:pPr algn="l"/>
            <a:r>
              <a:rPr sz="900" b="0" i="0">
                <a:solidFill>
                  <a:srgbClr val="FFFFFF"/>
                </a:solidFill>
                <a:latin typeface="Montserrat"/>
              </a:rPr>
              <a:t>• Alianza Babson College + Cornell
• Formación de family offices
• Educación de nuevos LPs
• Red de capital institucional</a:t>
            </a:r>
          </a:p>
        </p:txBody>
      </p:sp>
      <p:sp>
        <p:nvSpPr>
          <p:cNvPr id="32" name="Rectangle 31"/>
          <p:cNvSpPr/>
          <p:nvPr/>
        </p:nvSpPr>
        <p:spPr>
          <a:xfrm>
            <a:off x="9701784" y="5897880"/>
            <a:ext cx="16459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20072" y="5916168"/>
            <a:ext cx="1609344" cy="237744"/>
          </a:xfrm>
          <a:prstGeom prst="rect">
            <a:avLst/>
          </a:prstGeom>
          <a:noFill/>
        </p:spPr>
        <p:txBody>
          <a:bodyPr wrap="square">
            <a:spAutoFit/>
          </a:bodyPr>
          <a:lstStyle/>
          <a:p>
            <a:pPr algn="ctr"/>
            <a:r>
              <a:rPr sz="800" b="1" i="0">
                <a:solidFill>
                  <a:srgbClr val="6C63FF"/>
                </a:solidFill>
                <a:latin typeface="Montserrat"/>
              </a:rPr>
              <a:t>COMUNIDAD</a:t>
            </a:r>
          </a:p>
        </p:txBody>
      </p:sp>
      <p:sp>
        <p:nvSpPr>
          <p:cNvPr id="34" name="TextBox 33"/>
          <p:cNvSpPr txBox="1"/>
          <p:nvPr/>
        </p:nvSpPr>
        <p:spPr>
          <a:xfrm>
            <a:off x="365760" y="6583680"/>
            <a:ext cx="11430000" cy="228600"/>
          </a:xfrm>
          <a:prstGeom prst="rect">
            <a:avLst/>
          </a:prstGeom>
          <a:noFill/>
        </p:spPr>
        <p:txBody>
          <a:bodyPr wrap="square">
            <a:spAutoFit/>
          </a:bodyPr>
          <a:lstStyle/>
          <a:p>
            <a:pPr algn="l"/>
            <a:r>
              <a:rPr sz="700" b="0" i="0">
                <a:solidFill>
                  <a:srgbClr val="A0AABB"/>
                </a:solidFill>
                <a:latin typeface="Montserrat"/>
              </a:rPr>
              <a:t>Cube Ventures · Reporte de Inversionistas H2 2025 · Confidencial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502920"/>
          </a:xfrm>
          <a:prstGeom prst="rect">
            <a:avLst/>
          </a:prstGeom>
          <a:noFill/>
        </p:spPr>
        <p:txBody>
          <a:bodyPr wrap="square">
            <a:spAutoFit/>
          </a:bodyPr>
          <a:lstStyle/>
          <a:p>
            <a:pPr algn="l"/>
            <a:r>
              <a:rPr sz="2200" b="1" i="0">
                <a:solidFill>
                  <a:srgbClr val="FFFFFF"/>
                </a:solidFill>
                <a:latin typeface="Montserrat"/>
              </a:rPr>
              <a:t>Perspectivas y Compromisos 2026</a:t>
            </a:r>
          </a:p>
        </p:txBody>
      </p:sp>
      <p:sp>
        <p:nvSpPr>
          <p:cNvPr id="4" name="TextBox 3"/>
          <p:cNvSpPr txBox="1"/>
          <p:nvPr/>
        </p:nvSpPr>
        <p:spPr>
          <a:xfrm>
            <a:off x="457200" y="566928"/>
            <a:ext cx="10058400" cy="384048"/>
          </a:xfrm>
          <a:prstGeom prst="rect">
            <a:avLst/>
          </a:prstGeom>
          <a:noFill/>
        </p:spPr>
        <p:txBody>
          <a:bodyPr wrap="square">
            <a:spAutoFit/>
          </a:bodyPr>
          <a:lstStyle/>
          <a:p>
            <a:pPr algn="l"/>
            <a:r>
              <a:rPr sz="1100" b="0" i="0">
                <a:solidFill>
                  <a:srgbClr val="00B38A"/>
                </a:solidFill>
                <a:latin typeface="Montserrat"/>
              </a:rPr>
              <a:t>5 prioridades estratégicas · Norte definido · 18 meses decisivos</a:t>
            </a:r>
          </a:p>
        </p:txBody>
      </p:sp>
      <p:sp>
        <p:nvSpPr>
          <p:cNvPr id="5" name="TextBox 4"/>
          <p:cNvSpPr txBox="1"/>
          <p:nvPr/>
        </p:nvSpPr>
        <p:spPr>
          <a:xfrm>
            <a:off x="457200" y="1097280"/>
            <a:ext cx="11430000" cy="548640"/>
          </a:xfrm>
          <a:prstGeom prst="rect">
            <a:avLst/>
          </a:prstGeom>
          <a:noFill/>
        </p:spPr>
        <p:txBody>
          <a:bodyPr wrap="square">
            <a:spAutoFit/>
          </a:bodyPr>
          <a:lstStyle/>
          <a:p>
            <a:pPr algn="l"/>
            <a:r>
              <a:rPr sz="1050" b="0" i="0">
                <a:solidFill>
                  <a:srgbClr val="1A2844"/>
                </a:solidFill>
                <a:latin typeface="Montserrat"/>
              </a:rPr>
              <a:t>2026 tiene un norte definido: acompañar a las compañías de mayor representación hacia eventos de liquidez, sostener el valor del portafolio mientras ese proceso madura y construir capacidad operativa para actuar con mayor escala y precisión.</a:t>
            </a:r>
          </a:p>
        </p:txBody>
      </p:sp>
      <p:sp>
        <p:nvSpPr>
          <p:cNvPr id="6" name="Rectangle 5"/>
          <p:cNvSpPr/>
          <p:nvPr/>
        </p:nvSpPr>
        <p:spPr>
          <a:xfrm>
            <a:off x="320040" y="1828800"/>
            <a:ext cx="3657600" cy="19202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828800"/>
            <a:ext cx="3657600" cy="347472"/>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1883664"/>
            <a:ext cx="3474720" cy="274320"/>
          </a:xfrm>
          <a:prstGeom prst="rect">
            <a:avLst/>
          </a:prstGeom>
          <a:noFill/>
        </p:spPr>
        <p:txBody>
          <a:bodyPr wrap="square">
            <a:spAutoFit/>
          </a:bodyPr>
          <a:lstStyle/>
          <a:p>
            <a:pPr algn="l"/>
            <a:r>
              <a:rPr sz="950" b="1" i="0">
                <a:solidFill>
                  <a:srgbClr val="FFFFFF"/>
                </a:solidFill>
                <a:latin typeface="Montserrat"/>
              </a:rPr>
              <a:t>01  EXITS Y LIQUIDEZ</a:t>
            </a:r>
          </a:p>
        </p:txBody>
      </p:sp>
      <p:sp>
        <p:nvSpPr>
          <p:cNvPr id="9" name="TextBox 8"/>
          <p:cNvSpPr txBox="1"/>
          <p:nvPr/>
        </p:nvSpPr>
        <p:spPr>
          <a:xfrm>
            <a:off x="411479" y="2267712"/>
            <a:ext cx="3474720" cy="1389888"/>
          </a:xfrm>
          <a:prstGeom prst="rect">
            <a:avLst/>
          </a:prstGeom>
          <a:noFill/>
        </p:spPr>
        <p:txBody>
          <a:bodyPr wrap="square">
            <a:spAutoFit/>
          </a:bodyPr>
          <a:lstStyle/>
          <a:p>
            <a:pPr algn="l"/>
            <a:r>
              <a:rPr sz="900" b="0" i="0">
                <a:solidFill>
                  <a:srgbClr val="1A2844"/>
                </a:solidFill>
                <a:latin typeface="Montserrat"/>
              </a:rPr>
              <a:t>Ejecutar exits en Geacco (M&amp;A regional) y Bmotik (Constellation, umbral US$800K-1M ARR). Opcionalidad en Trii. Recompra Asisvisa. Exit Accelerator como motor.</a:t>
            </a:r>
          </a:p>
        </p:txBody>
      </p:sp>
      <p:sp>
        <p:nvSpPr>
          <p:cNvPr id="10" name="Rectangle 9"/>
          <p:cNvSpPr/>
          <p:nvPr/>
        </p:nvSpPr>
        <p:spPr>
          <a:xfrm>
            <a:off x="2971799" y="3401568"/>
            <a:ext cx="868680" cy="22860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90087" y="3419856"/>
            <a:ext cx="832104" cy="192024"/>
          </a:xfrm>
          <a:prstGeom prst="rect">
            <a:avLst/>
          </a:prstGeom>
          <a:noFill/>
        </p:spPr>
        <p:txBody>
          <a:bodyPr wrap="square">
            <a:spAutoFit/>
          </a:bodyPr>
          <a:lstStyle/>
          <a:p>
            <a:pPr algn="ctr"/>
            <a:r>
              <a:rPr sz="650" b="1" i="0">
                <a:solidFill>
                  <a:srgbClr val="FFFFFF"/>
                </a:solidFill>
                <a:latin typeface="Montserrat"/>
              </a:rPr>
              <a:t>PRIORITARIO</a:t>
            </a:r>
          </a:p>
        </p:txBody>
      </p:sp>
      <p:sp>
        <p:nvSpPr>
          <p:cNvPr id="12" name="Rectangle 11"/>
          <p:cNvSpPr/>
          <p:nvPr/>
        </p:nvSpPr>
        <p:spPr>
          <a:xfrm>
            <a:off x="4270248" y="1828800"/>
            <a:ext cx="3657600" cy="19202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70248" y="1828800"/>
            <a:ext cx="3657600" cy="34747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1688" y="1883664"/>
            <a:ext cx="3474720" cy="274320"/>
          </a:xfrm>
          <a:prstGeom prst="rect">
            <a:avLst/>
          </a:prstGeom>
          <a:noFill/>
        </p:spPr>
        <p:txBody>
          <a:bodyPr wrap="square">
            <a:spAutoFit/>
          </a:bodyPr>
          <a:lstStyle/>
          <a:p>
            <a:pPr algn="l"/>
            <a:r>
              <a:rPr sz="950" b="1" i="0">
                <a:solidFill>
                  <a:srgbClr val="FFFFFF"/>
                </a:solidFill>
                <a:latin typeface="Montserrat"/>
              </a:rPr>
              <a:t>02  VALORIZACIÓN DEL NÚCLEO</a:t>
            </a:r>
          </a:p>
        </p:txBody>
      </p:sp>
      <p:sp>
        <p:nvSpPr>
          <p:cNvPr id="15" name="TextBox 14"/>
          <p:cNvSpPr txBox="1"/>
          <p:nvPr/>
        </p:nvSpPr>
        <p:spPr>
          <a:xfrm>
            <a:off x="4361688" y="2267712"/>
            <a:ext cx="3474720" cy="1389888"/>
          </a:xfrm>
          <a:prstGeom prst="rect">
            <a:avLst/>
          </a:prstGeom>
          <a:noFill/>
        </p:spPr>
        <p:txBody>
          <a:bodyPr wrap="square">
            <a:spAutoFit/>
          </a:bodyPr>
          <a:lstStyle/>
          <a:p>
            <a:pPr algn="l"/>
            <a:r>
              <a:rPr sz="900" b="0" i="0">
                <a:solidFill>
                  <a:srgbClr val="1A2844"/>
                </a:solidFill>
                <a:latin typeface="Montserrat"/>
              </a:rPr>
              <a:t>Sostener la trayectoria de Geacco hacia US$2.5M+ revenue 2026. Apoyar Bmotik en capital de crecimiento. Maximizar valor antes de salida.</a:t>
            </a:r>
          </a:p>
        </p:txBody>
      </p:sp>
      <p:sp>
        <p:nvSpPr>
          <p:cNvPr id="16" name="Rectangle 15"/>
          <p:cNvSpPr/>
          <p:nvPr/>
        </p:nvSpPr>
        <p:spPr>
          <a:xfrm>
            <a:off x="6922008" y="3401568"/>
            <a:ext cx="868680" cy="22860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0296" y="3419856"/>
            <a:ext cx="832104" cy="192024"/>
          </a:xfrm>
          <a:prstGeom prst="rect">
            <a:avLst/>
          </a:prstGeom>
          <a:noFill/>
        </p:spPr>
        <p:txBody>
          <a:bodyPr wrap="square">
            <a:spAutoFit/>
          </a:bodyPr>
          <a:lstStyle/>
          <a:p>
            <a:pPr algn="ctr"/>
            <a:r>
              <a:rPr sz="650" b="1" i="0">
                <a:solidFill>
                  <a:srgbClr val="FFFFFF"/>
                </a:solidFill>
                <a:latin typeface="Montserrat"/>
              </a:rPr>
              <a:t>PRIORITARIO</a:t>
            </a:r>
          </a:p>
        </p:txBody>
      </p:sp>
      <p:sp>
        <p:nvSpPr>
          <p:cNvPr id="18" name="Rectangle 17"/>
          <p:cNvSpPr/>
          <p:nvPr/>
        </p:nvSpPr>
        <p:spPr>
          <a:xfrm>
            <a:off x="8220456" y="1828800"/>
            <a:ext cx="3657600" cy="19202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0456" y="1828800"/>
            <a:ext cx="3657600"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1896" y="1883664"/>
            <a:ext cx="3474720" cy="274320"/>
          </a:xfrm>
          <a:prstGeom prst="rect">
            <a:avLst/>
          </a:prstGeom>
          <a:noFill/>
        </p:spPr>
        <p:txBody>
          <a:bodyPr wrap="square">
            <a:spAutoFit/>
          </a:bodyPr>
          <a:lstStyle/>
          <a:p>
            <a:pPr algn="l"/>
            <a:r>
              <a:rPr sz="950" b="1" i="0">
                <a:solidFill>
                  <a:srgbClr val="FFFFFF"/>
                </a:solidFill>
                <a:latin typeface="Montserrat"/>
              </a:rPr>
              <a:t>03  COMANAGER: RONDA Y PIVOTE</a:t>
            </a:r>
          </a:p>
        </p:txBody>
      </p:sp>
      <p:sp>
        <p:nvSpPr>
          <p:cNvPr id="21" name="TextBox 20"/>
          <p:cNvSpPr txBox="1"/>
          <p:nvPr/>
        </p:nvSpPr>
        <p:spPr>
          <a:xfrm>
            <a:off x="8311896" y="2267712"/>
            <a:ext cx="3474720" cy="1389888"/>
          </a:xfrm>
          <a:prstGeom prst="rect">
            <a:avLst/>
          </a:prstGeom>
          <a:noFill/>
        </p:spPr>
        <p:txBody>
          <a:bodyPr wrap="square">
            <a:spAutoFit/>
          </a:bodyPr>
          <a:lstStyle/>
          <a:p>
            <a:pPr algn="l"/>
            <a:r>
              <a:rPr sz="900" b="0" i="0">
                <a:solidFill>
                  <a:srgbClr val="1A2844"/>
                </a:solidFill>
                <a:latin typeface="Montserrat"/>
              </a:rPr>
              <a:t>Acompañar cierre de ronda US$400K (SAFE/nota convertible, US$5M cap). Validar Entity Connect como plataforma antifraude. Evaluar secundario post-ronda.</a:t>
            </a:r>
          </a:p>
        </p:txBody>
      </p:sp>
      <p:sp>
        <p:nvSpPr>
          <p:cNvPr id="22" name="Rectangle 21"/>
          <p:cNvSpPr/>
          <p:nvPr/>
        </p:nvSpPr>
        <p:spPr>
          <a:xfrm>
            <a:off x="320040" y="3931920"/>
            <a:ext cx="5669280" cy="19202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0040" y="3931920"/>
            <a:ext cx="5669280" cy="347472"/>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79" y="3986783"/>
            <a:ext cx="5486400" cy="274320"/>
          </a:xfrm>
          <a:prstGeom prst="rect">
            <a:avLst/>
          </a:prstGeom>
          <a:noFill/>
        </p:spPr>
        <p:txBody>
          <a:bodyPr wrap="square">
            <a:spAutoFit/>
          </a:bodyPr>
          <a:lstStyle/>
          <a:p>
            <a:pPr algn="l"/>
            <a:r>
              <a:rPr sz="950" b="1" i="0">
                <a:solidFill>
                  <a:srgbClr val="FFFFFF"/>
                </a:solidFill>
                <a:latin typeface="Montserrat"/>
              </a:rPr>
              <a:t>04  ADOPCIÓN DE IA EN PORTAFOLIO</a:t>
            </a:r>
          </a:p>
        </p:txBody>
      </p:sp>
      <p:sp>
        <p:nvSpPr>
          <p:cNvPr id="25" name="TextBox 24"/>
          <p:cNvSpPr txBox="1"/>
          <p:nvPr/>
        </p:nvSpPr>
        <p:spPr>
          <a:xfrm>
            <a:off x="411479" y="4370831"/>
            <a:ext cx="5486400" cy="1389888"/>
          </a:xfrm>
          <a:prstGeom prst="rect">
            <a:avLst/>
          </a:prstGeom>
          <a:noFill/>
        </p:spPr>
        <p:txBody>
          <a:bodyPr wrap="square">
            <a:spAutoFit/>
          </a:bodyPr>
          <a:lstStyle/>
          <a:p>
            <a:pPr algn="l"/>
            <a:r>
              <a:rPr sz="900" b="0" i="0">
                <a:solidFill>
                  <a:srgbClr val="1A2844"/>
                </a:solidFill>
                <a:latin typeface="Montserrat"/>
              </a:rPr>
              <a:t>Acelerar integración de IA en Legaltech y Biztech. Replicar el caso Geacco: IA como diferenciador de propuesta de valor, no como feature.</a:t>
            </a:r>
          </a:p>
        </p:txBody>
      </p:sp>
      <p:sp>
        <p:nvSpPr>
          <p:cNvPr id="26" name="Rectangle 25"/>
          <p:cNvSpPr/>
          <p:nvPr/>
        </p:nvSpPr>
        <p:spPr>
          <a:xfrm>
            <a:off x="6263640" y="3931920"/>
            <a:ext cx="5669280" cy="19202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3931920"/>
            <a:ext cx="5669280" cy="34747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79" y="3986783"/>
            <a:ext cx="5486400" cy="274320"/>
          </a:xfrm>
          <a:prstGeom prst="rect">
            <a:avLst/>
          </a:prstGeom>
          <a:noFill/>
        </p:spPr>
        <p:txBody>
          <a:bodyPr wrap="square">
            <a:spAutoFit/>
          </a:bodyPr>
          <a:lstStyle/>
          <a:p>
            <a:pPr algn="l"/>
            <a:r>
              <a:rPr sz="950" b="1" i="0">
                <a:solidFill>
                  <a:srgbClr val="FFFFFF"/>
                </a:solidFill>
                <a:latin typeface="Montserrat"/>
              </a:rPr>
              <a:t>05  MERIDIAN 75 Y NUEVOS LPs</a:t>
            </a:r>
          </a:p>
        </p:txBody>
      </p:sp>
      <p:sp>
        <p:nvSpPr>
          <p:cNvPr id="29" name="TextBox 28"/>
          <p:cNvSpPr txBox="1"/>
          <p:nvPr/>
        </p:nvSpPr>
        <p:spPr>
          <a:xfrm>
            <a:off x="6355079" y="4370831"/>
            <a:ext cx="5486400" cy="1389888"/>
          </a:xfrm>
          <a:prstGeom prst="rect">
            <a:avLst/>
          </a:prstGeom>
          <a:noFill/>
        </p:spPr>
        <p:txBody>
          <a:bodyPr wrap="square">
            <a:spAutoFit/>
          </a:bodyPr>
          <a:lstStyle/>
          <a:p>
            <a:pPr algn="l"/>
            <a:r>
              <a:rPr sz="900" b="0" i="0">
                <a:solidFill>
                  <a:srgbClr val="1A2844"/>
                </a:solidFill>
                <a:latin typeface="Montserrat"/>
              </a:rPr>
              <a:t>Fortalecer Meridian 75 para follow-ons en Tier 1. Cube Academy como canal de captación de capital inteligente. Alianzas Babson + Cornell.</a:t>
            </a:r>
          </a:p>
        </p:txBody>
      </p:sp>
      <p:sp>
        <p:nvSpPr>
          <p:cNvPr id="30" name="TextBox 29"/>
          <p:cNvSpPr txBox="1"/>
          <p:nvPr/>
        </p:nvSpPr>
        <p:spPr>
          <a:xfrm>
            <a:off x="365760" y="6583680"/>
            <a:ext cx="11430000" cy="228600"/>
          </a:xfrm>
          <a:prstGeom prst="rect">
            <a:avLst/>
          </a:prstGeom>
          <a:noFill/>
        </p:spPr>
        <p:txBody>
          <a:bodyPr wrap="square">
            <a:spAutoFit/>
          </a:bodyPr>
          <a:lstStyle/>
          <a:p>
            <a:pPr algn="l"/>
            <a:r>
              <a:rPr sz="700" b="0" i="0">
                <a:solidFill>
                  <a:srgbClr val="A0AABB"/>
                </a:solidFill>
                <a:latin typeface="Montserrat"/>
              </a:rPr>
              <a:t>Cube Ventures · Reporte de Inversionistas H2 2025 · Confidencial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F3C"/>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B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17920"/>
            <a:ext cx="12188952" cy="6400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9144000" cy="1828800"/>
          </a:xfrm>
          <a:prstGeom prst="rect">
            <a:avLst/>
          </a:prstGeom>
          <a:noFill/>
        </p:spPr>
        <p:txBody>
          <a:bodyPr wrap="square">
            <a:spAutoFit/>
          </a:bodyPr>
          <a:lstStyle/>
          <a:p>
            <a:pPr algn="l"/>
            <a:r>
              <a:rPr sz="4400" b="1" i="0">
                <a:solidFill>
                  <a:srgbClr val="FFFFFF"/>
                </a:solidFill>
                <a:latin typeface="Montserrat"/>
              </a:rPr>
              <a:t>Gracias por su
confianza y paciencia.</a:t>
            </a:r>
          </a:p>
        </p:txBody>
      </p:sp>
      <p:cxnSp>
        <p:nvCxnSpPr>
          <p:cNvPr id="5" name="Connector 4"/>
          <p:cNvCxnSpPr/>
          <p:nvPr/>
        </p:nvCxnSpPr>
        <p:spPr>
          <a:xfrm>
            <a:off x="914400" y="2834640"/>
            <a:ext cx="7315200" cy="0"/>
          </a:xfrm>
          <a:prstGeom prst="line">
            <a:avLst/>
          </a:prstGeom>
          <a:ln w="19050">
            <a:solidFill>
              <a:srgbClr val="00B38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14400" y="3017520"/>
            <a:ext cx="9601200" cy="1097280"/>
          </a:xfrm>
          <a:prstGeom prst="rect">
            <a:avLst/>
          </a:prstGeom>
          <a:noFill/>
        </p:spPr>
        <p:txBody>
          <a:bodyPr wrap="square">
            <a:spAutoFit/>
          </a:bodyPr>
          <a:lstStyle/>
          <a:p>
            <a:pPr algn="l"/>
            <a:r>
              <a:rPr sz="1100" b="0" i="1">
                <a:solidFill>
                  <a:srgbClr val="A0AABB"/>
                </a:solidFill>
                <a:latin typeface="Montserrat"/>
              </a:rPr>
              <a:t>Este ha sido un ciclo exigente para el Venture Capital. Creemos que los mejores retornos se construyen en períodos donde hay disciplina, foco y capacidad de adaptación. Seguimos trabajando con transparencia, rigor y ambición.</a:t>
            </a:r>
          </a:p>
        </p:txBody>
      </p:sp>
      <p:sp>
        <p:nvSpPr>
          <p:cNvPr id="7" name="TextBox 6"/>
          <p:cNvSpPr txBox="1"/>
          <p:nvPr/>
        </p:nvSpPr>
        <p:spPr>
          <a:xfrm>
            <a:off x="914400" y="4297680"/>
            <a:ext cx="7315200" cy="411480"/>
          </a:xfrm>
          <a:prstGeom prst="rect">
            <a:avLst/>
          </a:prstGeom>
          <a:noFill/>
        </p:spPr>
        <p:txBody>
          <a:bodyPr wrap="square">
            <a:spAutoFit/>
          </a:bodyPr>
          <a:lstStyle/>
          <a:p>
            <a:pPr algn="l"/>
            <a:r>
              <a:rPr sz="1600" b="1" i="0">
                <a:solidFill>
                  <a:srgbClr val="FFFFFF"/>
                </a:solidFill>
                <a:latin typeface="Montserrat"/>
              </a:rPr>
              <a:t>Santiago Rojas Montoya</a:t>
            </a:r>
          </a:p>
        </p:txBody>
      </p:sp>
      <p:sp>
        <p:nvSpPr>
          <p:cNvPr id="8" name="TextBox 7"/>
          <p:cNvSpPr txBox="1"/>
          <p:nvPr/>
        </p:nvSpPr>
        <p:spPr>
          <a:xfrm>
            <a:off x="914400" y="4709160"/>
            <a:ext cx="7315200" cy="320040"/>
          </a:xfrm>
          <a:prstGeom prst="rect">
            <a:avLst/>
          </a:prstGeom>
          <a:noFill/>
        </p:spPr>
        <p:txBody>
          <a:bodyPr wrap="square">
            <a:spAutoFit/>
          </a:bodyPr>
          <a:lstStyle/>
          <a:p>
            <a:pPr algn="l"/>
            <a:r>
              <a:rPr sz="1000" b="0" i="0">
                <a:solidFill>
                  <a:srgbClr val="00B38A"/>
                </a:solidFill>
                <a:latin typeface="Montserrat"/>
              </a:rPr>
              <a:t>Managing Director &amp; Cofundador · Cube Ventures</a:t>
            </a:r>
          </a:p>
        </p:txBody>
      </p:sp>
      <p:sp>
        <p:nvSpPr>
          <p:cNvPr id="9" name="TextBox 8"/>
          <p:cNvSpPr txBox="1"/>
          <p:nvPr/>
        </p:nvSpPr>
        <p:spPr>
          <a:xfrm>
            <a:off x="914400" y="5212080"/>
            <a:ext cx="4572000" cy="320040"/>
          </a:xfrm>
          <a:prstGeom prst="rect">
            <a:avLst/>
          </a:prstGeom>
          <a:noFill/>
        </p:spPr>
        <p:txBody>
          <a:bodyPr wrap="square">
            <a:spAutoFit/>
          </a:bodyPr>
          <a:lstStyle/>
          <a:p>
            <a:pPr algn="l"/>
            <a:r>
              <a:rPr sz="1000" b="0" i="0">
                <a:solidFill>
                  <a:srgbClr val="F5A623"/>
                </a:solidFill>
                <a:latin typeface="Montserrat"/>
              </a:rPr>
              <a:t>sr@cube.ventures</a:t>
            </a:r>
          </a:p>
        </p:txBody>
      </p:sp>
      <p:sp>
        <p:nvSpPr>
          <p:cNvPr id="10" name="TextBox 9"/>
          <p:cNvSpPr txBox="1"/>
          <p:nvPr/>
        </p:nvSpPr>
        <p:spPr>
          <a:xfrm>
            <a:off x="457200" y="6291072"/>
            <a:ext cx="11274552" cy="365760"/>
          </a:xfrm>
          <a:prstGeom prst="rect">
            <a:avLst/>
          </a:prstGeom>
          <a:noFill/>
        </p:spPr>
        <p:txBody>
          <a:bodyPr wrap="square">
            <a:spAutoFit/>
          </a:bodyPr>
          <a:lstStyle/>
          <a:p>
            <a:pPr algn="ctr"/>
            <a:r>
              <a:rPr sz="900" b="0" i="0">
                <a:solidFill>
                  <a:srgbClr val="0D1F3C"/>
                </a:solidFill>
                <a:latin typeface="Montserrat"/>
              </a:rPr>
              <a:t>Meridian 75  ·  Exit Accelerator  ·  Cube Academy  ·  Aceleradora</a:t>
            </a:r>
          </a:p>
        </p:txBody>
      </p:sp>
      <p:sp>
        <p:nvSpPr>
          <p:cNvPr id="11" name="TextBox 10"/>
          <p:cNvSpPr txBox="1"/>
          <p:nvPr/>
        </p:nvSpPr>
        <p:spPr>
          <a:xfrm>
            <a:off x="8686800" y="228600"/>
            <a:ext cx="3200400" cy="411480"/>
          </a:xfrm>
          <a:prstGeom prst="rect">
            <a:avLst/>
          </a:prstGeom>
          <a:noFill/>
        </p:spPr>
        <p:txBody>
          <a:bodyPr wrap="square">
            <a:spAutoFit/>
          </a:bodyPr>
          <a:lstStyle/>
          <a:p>
            <a:pPr algn="r"/>
            <a:r>
              <a:rPr sz="1600" b="1" i="0">
                <a:solidFill>
                  <a:srgbClr val="FFFFFF"/>
                </a:solidFill>
                <a:latin typeface="Montserrat"/>
              </a:rPr>
              <a:t>CUBE VENTURES</a:t>
            </a:r>
          </a:p>
        </p:txBody>
      </p:sp>
      <p:sp>
        <p:nvSpPr>
          <p:cNvPr id="12" name="TextBox 11"/>
          <p:cNvSpPr txBox="1"/>
          <p:nvPr/>
        </p:nvSpPr>
        <p:spPr>
          <a:xfrm>
            <a:off x="8686800" y="640080"/>
            <a:ext cx="3200400" cy="274320"/>
          </a:xfrm>
          <a:prstGeom prst="rect">
            <a:avLst/>
          </a:prstGeom>
          <a:noFill/>
        </p:spPr>
        <p:txBody>
          <a:bodyPr wrap="square">
            <a:spAutoFit/>
          </a:bodyPr>
          <a:lstStyle/>
          <a:p>
            <a:pPr algn="r"/>
            <a:r>
              <a:rPr sz="750" b="0" i="0">
                <a:solidFill>
                  <a:srgbClr val="A0AABB"/>
                </a:solidFill>
                <a:latin typeface="Montserrat"/>
              </a:rPr>
              <a:t>REPORTE H2 2025 · CONFIDENCIAL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